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72" r:id="rId23"/>
    <p:sldId id="273" r:id="rId24"/>
    <p:sldId id="274" r:id="rId25"/>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Relationships xmlns="http://schemas.openxmlformats.org/package/2006/relationships"><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s>
</file>

<file path=ppt/slides/_rels/slide18.xml.rels><?xml version="1.0" encoding="UTF-8"?><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s>
</file>

<file path=ppt/slides/_rels/slide19.xml.rels><?xml version="1.0" encoding="UTF-8"?><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A896"/>
          </a:solidFill>
          <a:ln/>
        </p:spPr>
      </p:sp>
      <p:sp>
        <p:nvSpPr>
          <p:cNvPr id="3" name="Shape 1"/>
          <p:cNvSpPr/>
          <p:nvPr/>
        </p:nvSpPr>
        <p:spPr>
          <a:xfrm>
            <a:off x="5943600" y="914400"/>
            <a:ext cx="2926080" cy="2926080"/>
          </a:xfrm>
          <a:prstGeom prst="rect">
            <a:avLst/>
          </a:prstGeom>
          <a:solidFill>
            <a:srgbClr val="065A82"/>
          </a:solidFill>
          <a:ln/>
          <a:effectLst>
            <a:outerShdw sx="100000" sy="100000" kx="0" ky="0" algn="bl" rotWithShape="0" blurRad="76200" dist="25400" dir="8100000">
              <a:srgbClr val="000000">
                <a:alpha val="12000"/>
              </a:srgbClr>
            </a:outerShdw>
          </a:effectLst>
        </p:spPr>
      </p:sp>
      <p:pic>
        <p:nvPicPr>
          <p:cNvPr id="4" name="Image 0" descr="preencoded.png"/>
          <p:cNvPicPr>
            <a:picLocks noChangeAspect="1"/>
          </p:cNvPicPr>
          <p:nvPr/>
        </p:nvPicPr>
        <p:blipFill>
          <a:blip r:embed="rId1"/>
          <a:stretch>
            <a:fillRect/>
          </a:stretch>
        </p:blipFill>
        <p:spPr>
          <a:xfrm>
            <a:off x="6537960" y="1508760"/>
            <a:ext cx="1737360" cy="1737360"/>
          </a:xfrm>
          <a:prstGeom prst="rect">
            <a:avLst/>
          </a:prstGeom>
        </p:spPr>
      </p:pic>
      <p:sp>
        <p:nvSpPr>
          <p:cNvPr id="5" name="Text 2"/>
          <p:cNvSpPr/>
          <p:nvPr/>
        </p:nvSpPr>
        <p:spPr>
          <a:xfrm>
            <a:off x="640080" y="1097280"/>
            <a:ext cx="5029200" cy="2194560"/>
          </a:xfrm>
          <a:prstGeom prst="rect">
            <a:avLst/>
          </a:prstGeom>
          <a:noFill/>
          <a:ln/>
        </p:spPr>
        <p:txBody>
          <a:bodyPr wrap="square" lIns="0" tIns="0" rIns="0" bIns="0" rtlCol="0" anchor="ctr"/>
          <a:lstStyle/>
          <a:p>
            <a:pPr indent="0" marL="0">
              <a:lnSpc>
                <a:spcPct val="115000"/>
              </a:lnSpc>
              <a:buNone/>
            </a:pPr>
            <a:r>
              <a:rPr lang="en-US" sz="3800" b="1" dirty="0">
                <a:solidFill>
                  <a:srgbClr val="FFFFFF"/>
                </a:solidFill>
                <a:latin typeface="Georgia" pitchFamily="34" charset="0"/>
                <a:ea typeface="Georgia" pitchFamily="34" charset="-122"/>
                <a:cs typeface="Georgia" pitchFamily="34" charset="-120"/>
              </a:rPr>
              <a:t>A2Aプロトコル</a:t>
            </a:r>
            <a:endParaRPr lang="en-US" sz="3800" dirty="0"/>
          </a:p>
          <a:p>
            <a:pPr indent="0" marL="0">
              <a:lnSpc>
                <a:spcPct val="115000"/>
              </a:lnSpc>
              <a:buNone/>
            </a:pPr>
            <a:r>
              <a:rPr lang="en-US" sz="3800" b="1" dirty="0">
                <a:solidFill>
                  <a:srgbClr val="FFFFFF"/>
                </a:solidFill>
                <a:latin typeface="Georgia" pitchFamily="34" charset="0"/>
                <a:ea typeface="Georgia" pitchFamily="34" charset="-122"/>
                <a:cs typeface="Georgia" pitchFamily="34" charset="-120"/>
              </a:rPr>
              <a:t>最新動向 2025-2026</a:t>
            </a:r>
            <a:endParaRPr lang="en-US" sz="3800" dirty="0"/>
          </a:p>
        </p:txBody>
      </p:sp>
      <p:sp>
        <p:nvSpPr>
          <p:cNvPr id="6" name="Text 3"/>
          <p:cNvSpPr/>
          <p:nvPr/>
        </p:nvSpPr>
        <p:spPr>
          <a:xfrm>
            <a:off x="640080" y="3383280"/>
            <a:ext cx="5029200" cy="54864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Agent-to-Agent Protocol の技術進化・エコシステム・市場展望</a:t>
            </a:r>
            <a:endParaRPr lang="en-US" sz="1400" dirty="0"/>
          </a:p>
        </p:txBody>
      </p:sp>
      <p:sp>
        <p:nvSpPr>
          <p:cNvPr id="7" name="Shape 4"/>
          <p:cNvSpPr/>
          <p:nvPr/>
        </p:nvSpPr>
        <p:spPr>
          <a:xfrm>
            <a:off x="640080" y="4114800"/>
            <a:ext cx="1828800" cy="36576"/>
          </a:xfrm>
          <a:prstGeom prst="rect">
            <a:avLst/>
          </a:prstGeom>
          <a:solidFill>
            <a:srgbClr val="00A896"/>
          </a:solidFill>
          <a:ln/>
        </p:spPr>
      </p:sp>
      <p:sp>
        <p:nvSpPr>
          <p:cNvPr id="8" name="Text 5"/>
          <p:cNvSpPr/>
          <p:nvPr/>
        </p:nvSpPr>
        <p:spPr>
          <a:xfrm>
            <a:off x="640080" y="4297680"/>
            <a:ext cx="2743200" cy="36576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2026年2月</a:t>
            </a:r>
            <a:endParaRPr lang="en-US" sz="1200" dirty="0"/>
          </a:p>
        </p:txBody>
      </p:sp>
      <p:sp>
        <p:nvSpPr>
          <p:cNvPr id="9" name="Shape 6"/>
          <p:cNvSpPr/>
          <p:nvPr/>
        </p:nvSpPr>
        <p:spPr>
          <a:xfrm>
            <a:off x="0" y="5070348"/>
            <a:ext cx="9144000" cy="73152"/>
          </a:xfrm>
          <a:prstGeom prst="rect">
            <a:avLst/>
          </a:prstGeom>
          <a:solidFill>
            <a:srgbClr val="00A896"/>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96"/>
          </a:solidFill>
          <a:ln/>
        </p:spPr>
      </p:sp>
      <p:sp>
        <p:nvSpPr>
          <p:cNvPr id="3" name="Text 1"/>
          <p:cNvSpPr/>
          <p:nvPr/>
        </p:nvSpPr>
        <p:spPr>
          <a:xfrm>
            <a:off x="640080" y="274320"/>
            <a:ext cx="7315200" cy="640080"/>
          </a:xfrm>
          <a:prstGeom prst="rect">
            <a:avLst/>
          </a:prstGeom>
          <a:noFill/>
          <a:ln/>
        </p:spPr>
        <p:txBody>
          <a:bodyPr wrap="square" lIns="0" tIns="0" rIns="0" bIns="0"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A2Aプロトコルとは</a:t>
            </a:r>
            <a:endParaRPr lang="en-US" sz="3000" dirty="0"/>
          </a:p>
        </p:txBody>
      </p:sp>
      <p:sp>
        <p:nvSpPr>
          <p:cNvPr id="4" name="Shape 2"/>
          <p:cNvSpPr/>
          <p:nvPr/>
        </p:nvSpPr>
        <p:spPr>
          <a:xfrm>
            <a:off x="640080" y="1188720"/>
            <a:ext cx="4754880" cy="32918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5" name="Text 3"/>
          <p:cNvSpPr/>
          <p:nvPr/>
        </p:nvSpPr>
        <p:spPr>
          <a:xfrm>
            <a:off x="914400" y="1371600"/>
            <a:ext cx="4206240" cy="2926080"/>
          </a:xfrm>
          <a:prstGeom prst="rect">
            <a:avLst/>
          </a:prstGeom>
          <a:noFill/>
          <a:ln/>
        </p:spPr>
        <p:txBody>
          <a:bodyPr wrap="square" lIns="0" tIns="0" rIns="0" bIns="0" rtlCol="0" anchor="t"/>
          <a:lstStyle/>
          <a:p>
            <a:pPr indent="0" marL="0">
              <a:buNone/>
            </a:pPr>
            <a:r>
              <a:rPr lang="en-US" sz="1600" b="1" dirty="0">
                <a:solidFill>
                  <a:srgbClr val="065A82"/>
                </a:solidFill>
              </a:rPr>
              <a:t>Google発のオープンプロトコル</a:t>
            </a:r>
            <a:endParaRPr lang="en-US" sz="1600" dirty="0"/>
          </a:p>
          <a:p>
            <a:pPr indent="0" marL="0">
              <a:buNone/>
            </a:pPr>
            <a:endParaRPr lang="en-US" sz="1600" dirty="0"/>
          </a:p>
          <a:p>
            <a:pPr indent="0" marL="0">
              <a:buNone/>
            </a:pPr>
            <a:r>
              <a:rPr lang="en-US" sz="1300" dirty="0">
                <a:solidFill>
                  <a:srgbClr val="1E293B"/>
                </a:solidFill>
              </a:rPr>
              <a:t>AIエージェント同士がHTTP/JSON-RPCで直接対話し、タスクを委譲・連携するための標準仕様。MCPが「AI↔ツール」接続なら、A2Aは「AI↔AI」接続を担う。</a:t>
            </a:r>
            <a:endParaRPr lang="en-US" sz="1600" dirty="0"/>
          </a:p>
          <a:p>
            <a:pPr indent="0" marL="0">
              <a:buNone/>
            </a:pPr>
            <a:endParaRPr lang="en-US" sz="1600" dirty="0"/>
          </a:p>
          <a:p>
            <a:pPr indent="0" marL="0">
              <a:buNone/>
            </a:pPr>
            <a:r>
              <a:rPr lang="en-US" sz="1400" b="1" dirty="0">
                <a:solidFill>
                  <a:srgbClr val="065A82"/>
                </a:solidFill>
              </a:rPr>
              <a:t>主要機能:</a:t>
            </a:r>
            <a:endParaRPr lang="en-US" sz="1600" dirty="0"/>
          </a:p>
          <a:p>
            <a:pPr marL="342900" indent="-342900">
              <a:buSzPct val="100000"/>
              <a:buChar char="•"/>
            </a:pPr>
            <a:r>
              <a:rPr lang="en-US" sz="1200" dirty="0">
                <a:solidFill>
                  <a:srgbClr val="1E293B"/>
                </a:solidFill>
              </a:rPr>
              <a:t>Agent Card（能力宣言）</a:t>
            </a:r>
            <a:endParaRPr lang="en-US" sz="1600" dirty="0"/>
          </a:p>
          <a:p>
            <a:pPr marL="342900" indent="-342900">
              <a:buSzPct val="100000"/>
              <a:buChar char="•"/>
            </a:pPr>
            <a:r>
              <a:rPr lang="en-US" sz="1200" dirty="0">
                <a:solidFill>
                  <a:srgbClr val="1E293B"/>
                </a:solidFill>
              </a:rPr>
              <a:t>Task管理（ライフサイクル制御）</a:t>
            </a:r>
            <a:endParaRPr lang="en-US" sz="1600" dirty="0"/>
          </a:p>
          <a:p>
            <a:pPr marL="342900" indent="-342900">
              <a:buSzPct val="100000"/>
              <a:buChar char="•"/>
            </a:pPr>
            <a:r>
              <a:rPr lang="en-US" sz="1200" dirty="0">
                <a:solidFill>
                  <a:srgbClr val="1E293B"/>
                </a:solidFill>
              </a:rPr>
              <a:t>Artifact交換（ファイル・データ共有）</a:t>
            </a:r>
            <a:endParaRPr lang="en-US" sz="1600" dirty="0"/>
          </a:p>
          <a:p>
            <a:pPr marL="342900" indent="-342900">
              <a:buSzPct val="100000"/>
              <a:buChar char="•"/>
            </a:pPr>
            <a:r>
              <a:rPr lang="en-US" sz="1200" dirty="0">
                <a:solidFill>
                  <a:srgbClr val="1E293B"/>
                </a:solidFill>
              </a:rPr>
              <a:t>Push通知（SSE/Webhook）</a:t>
            </a:r>
            <a:endParaRPr lang="en-US" sz="1600" dirty="0"/>
          </a:p>
        </p:txBody>
      </p:sp>
      <p:sp>
        <p:nvSpPr>
          <p:cNvPr id="6" name="Shape 4"/>
          <p:cNvSpPr/>
          <p:nvPr/>
        </p:nvSpPr>
        <p:spPr>
          <a:xfrm>
            <a:off x="5760720" y="1188720"/>
            <a:ext cx="2926080" cy="96012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7" name="Image 0" descr="preencoded.png"/>
          <p:cNvPicPr>
            <a:picLocks noChangeAspect="1"/>
          </p:cNvPicPr>
          <p:nvPr/>
        </p:nvPicPr>
        <p:blipFill>
          <a:blip r:embed="rId1"/>
          <a:stretch>
            <a:fillRect/>
          </a:stretch>
        </p:blipFill>
        <p:spPr>
          <a:xfrm>
            <a:off x="5989320" y="1371600"/>
            <a:ext cx="502920" cy="502920"/>
          </a:xfrm>
          <a:prstGeom prst="rect">
            <a:avLst/>
          </a:prstGeom>
        </p:spPr>
      </p:pic>
      <p:sp>
        <p:nvSpPr>
          <p:cNvPr id="8" name="Text 5"/>
          <p:cNvSpPr/>
          <p:nvPr/>
        </p:nvSpPr>
        <p:spPr>
          <a:xfrm>
            <a:off x="6675120" y="1188720"/>
            <a:ext cx="1828800" cy="96012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AI ↔ AI 通信</a:t>
            </a:r>
            <a:endParaRPr lang="en-US" sz="1300" dirty="0"/>
          </a:p>
        </p:txBody>
      </p:sp>
      <p:sp>
        <p:nvSpPr>
          <p:cNvPr id="9" name="Shape 6"/>
          <p:cNvSpPr/>
          <p:nvPr/>
        </p:nvSpPr>
        <p:spPr>
          <a:xfrm>
            <a:off x="5760720" y="2331720"/>
            <a:ext cx="2926080" cy="96012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10" name="Image 1" descr="preencoded.png"/>
          <p:cNvPicPr>
            <a:picLocks noChangeAspect="1"/>
          </p:cNvPicPr>
          <p:nvPr/>
        </p:nvPicPr>
        <p:blipFill>
          <a:blip r:embed="rId2"/>
          <a:stretch>
            <a:fillRect/>
          </a:stretch>
        </p:blipFill>
        <p:spPr>
          <a:xfrm>
            <a:off x="5989320" y="2514600"/>
            <a:ext cx="502920" cy="502920"/>
          </a:xfrm>
          <a:prstGeom prst="rect">
            <a:avLst/>
          </a:prstGeom>
        </p:spPr>
      </p:pic>
      <p:sp>
        <p:nvSpPr>
          <p:cNvPr id="11" name="Text 7"/>
          <p:cNvSpPr/>
          <p:nvPr/>
        </p:nvSpPr>
        <p:spPr>
          <a:xfrm>
            <a:off x="6675120" y="2331720"/>
            <a:ext cx="1828800" cy="96012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認証 &amp; 安全性</a:t>
            </a:r>
            <a:endParaRPr lang="en-US" sz="1300" dirty="0"/>
          </a:p>
        </p:txBody>
      </p:sp>
      <p:sp>
        <p:nvSpPr>
          <p:cNvPr id="12" name="Shape 8"/>
          <p:cNvSpPr/>
          <p:nvPr/>
        </p:nvSpPr>
        <p:spPr>
          <a:xfrm>
            <a:off x="5760720" y="3474720"/>
            <a:ext cx="2926080" cy="96012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13" name="Image 2" descr="preencoded.png"/>
          <p:cNvPicPr>
            <a:picLocks noChangeAspect="1"/>
          </p:cNvPicPr>
          <p:nvPr/>
        </p:nvPicPr>
        <p:blipFill>
          <a:blip r:embed="rId3"/>
          <a:stretch>
            <a:fillRect/>
          </a:stretch>
        </p:blipFill>
        <p:spPr>
          <a:xfrm>
            <a:off x="5989320" y="3657600"/>
            <a:ext cx="502920" cy="502920"/>
          </a:xfrm>
          <a:prstGeom prst="rect">
            <a:avLst/>
          </a:prstGeom>
        </p:spPr>
      </p:pic>
      <p:sp>
        <p:nvSpPr>
          <p:cNvPr id="14" name="Text 9"/>
          <p:cNvSpPr/>
          <p:nvPr/>
        </p:nvSpPr>
        <p:spPr>
          <a:xfrm>
            <a:off x="6675120" y="3474720"/>
            <a:ext cx="1828800" cy="96012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マルチモーダル</a:t>
            </a:r>
            <a:endParaRPr lang="en-US" sz="1300" dirty="0"/>
          </a:p>
        </p:txBody>
      </p:sp>
      <p:sp>
        <p:nvSpPr>
          <p:cNvPr id="15" name="Shape 10"/>
          <p:cNvSpPr/>
          <p:nvPr/>
        </p:nvSpPr>
        <p:spPr>
          <a:xfrm>
            <a:off x="0" y="4754880"/>
            <a:ext cx="9144000" cy="388620"/>
          </a:xfrm>
          <a:prstGeom prst="rect">
            <a:avLst/>
          </a:prstGeom>
          <a:solidFill>
            <a:srgbClr val="1E2761"/>
          </a:solidFill>
          <a:ln/>
        </p:spPr>
      </p:sp>
      <p:sp>
        <p:nvSpPr>
          <p:cNvPr id="16" name="Text 11"/>
          <p:cNvSpPr/>
          <p:nvPr/>
        </p:nvSpPr>
        <p:spPr>
          <a:xfrm>
            <a:off x="457200" y="4754880"/>
            <a:ext cx="8229600" cy="38862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出典: Google A2A公式仕様 / Linux Foundation Agentic AI Foundation</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96"/>
          </a:solidFill>
          <a:ln/>
        </p:spPr>
      </p:sp>
      <p:sp>
        <p:nvSpPr>
          <p:cNvPr id="3" name="Text 1"/>
          <p:cNvSpPr/>
          <p:nvPr/>
        </p:nvSpPr>
        <p:spPr>
          <a:xfrm>
            <a:off x="640080" y="274320"/>
            <a:ext cx="7315200" cy="640080"/>
          </a:xfrm>
          <a:prstGeom prst="rect">
            <a:avLst/>
          </a:prstGeom>
          <a:noFill/>
          <a:ln/>
        </p:spPr>
        <p:txBody>
          <a:bodyPr wrap="square" lIns="0" tIns="0" rIns="0" bIns="0"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技術進化タイムライン</a:t>
            </a:r>
            <a:endParaRPr lang="en-US" sz="3000" dirty="0"/>
          </a:p>
        </p:txBody>
      </p:sp>
      <p:sp>
        <p:nvSpPr>
          <p:cNvPr id="4" name="Shape 2"/>
          <p:cNvSpPr/>
          <p:nvPr/>
        </p:nvSpPr>
        <p:spPr>
          <a:xfrm>
            <a:off x="1097280" y="2286000"/>
            <a:ext cx="6949440" cy="0"/>
          </a:xfrm>
          <a:prstGeom prst="line">
            <a:avLst/>
          </a:prstGeom>
          <a:noFill/>
          <a:ln w="38100">
            <a:solidFill>
              <a:srgbClr val="1C7293"/>
            </a:solidFill>
            <a:prstDash val="solid"/>
          </a:ln>
        </p:spPr>
      </p:sp>
      <p:sp>
        <p:nvSpPr>
          <p:cNvPr id="5" name="Shape 3"/>
          <p:cNvSpPr/>
          <p:nvPr/>
        </p:nvSpPr>
        <p:spPr>
          <a:xfrm>
            <a:off x="1143000" y="2057400"/>
            <a:ext cx="457200" cy="457200"/>
          </a:xfrm>
          <a:prstGeom prst="ellipse">
            <a:avLst/>
          </a:prstGeom>
          <a:solidFill>
            <a:srgbClr val="00A896"/>
          </a:solidFill>
          <a:ln/>
        </p:spPr>
      </p:sp>
      <p:sp>
        <p:nvSpPr>
          <p:cNvPr id="6" name="Text 4"/>
          <p:cNvSpPr/>
          <p:nvPr/>
        </p:nvSpPr>
        <p:spPr>
          <a:xfrm>
            <a:off x="640080" y="1371600"/>
            <a:ext cx="1554480" cy="548640"/>
          </a:xfrm>
          <a:prstGeom prst="rect">
            <a:avLst/>
          </a:prstGeom>
          <a:noFill/>
          <a:ln/>
        </p:spPr>
        <p:txBody>
          <a:bodyPr wrap="square" lIns="0" tIns="0" rIns="0" bIns="0" rtlCol="0" anchor="b"/>
          <a:lstStyle/>
          <a:p>
            <a:pPr algn="ctr" indent="0" marL="0">
              <a:buNone/>
            </a:pPr>
            <a:r>
              <a:rPr lang="en-US" sz="1000" b="1" dirty="0">
                <a:solidFill>
                  <a:srgbClr val="065A82"/>
                </a:solidFill>
                <a:latin typeface="Calibri" pitchFamily="34" charset="0"/>
                <a:ea typeface="Calibri" pitchFamily="34" charset="-122"/>
                <a:cs typeface="Calibri" pitchFamily="34" charset="-120"/>
              </a:rPr>
              <a:t>2025年4月</a:t>
            </a:r>
            <a:endParaRPr lang="en-US" sz="1000" dirty="0"/>
          </a:p>
        </p:txBody>
      </p:sp>
      <p:sp>
        <p:nvSpPr>
          <p:cNvPr id="7" name="Shape 5"/>
          <p:cNvSpPr/>
          <p:nvPr/>
        </p:nvSpPr>
        <p:spPr>
          <a:xfrm>
            <a:off x="640080" y="2697480"/>
            <a:ext cx="1554480" cy="17373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8" name="Text 6"/>
          <p:cNvSpPr/>
          <p:nvPr/>
        </p:nvSpPr>
        <p:spPr>
          <a:xfrm>
            <a:off x="731520" y="2788920"/>
            <a:ext cx="1371600" cy="1554480"/>
          </a:xfrm>
          <a:prstGeom prst="rect">
            <a:avLst/>
          </a:prstGeom>
          <a:noFill/>
          <a:ln/>
        </p:spPr>
        <p:txBody>
          <a:bodyPr wrap="square" lIns="0" tIns="0" rIns="0" bIns="0" rtlCol="0" anchor="t"/>
          <a:lstStyle/>
          <a:p>
            <a:pPr indent="0" marL="0">
              <a:buNone/>
            </a:pPr>
            <a:r>
              <a:rPr lang="en-US" sz="1100" b="1" dirty="0">
                <a:solidFill>
                  <a:srgbClr val="065A82"/>
                </a:solidFill>
              </a:rPr>
              <a:t>A2A v0.1 発表</a:t>
            </a:r>
            <a:endParaRPr lang="en-US" sz="1100" dirty="0"/>
          </a:p>
          <a:p>
            <a:pPr indent="0" marL="0">
              <a:buNone/>
            </a:pPr>
            <a:endParaRPr lang="en-US" sz="1100" dirty="0"/>
          </a:p>
          <a:p>
            <a:pPr indent="0" marL="0">
              <a:buNone/>
            </a:pPr>
            <a:r>
              <a:rPr lang="en-US" sz="900" dirty="0">
                <a:solidFill>
                  <a:srgbClr val="475569"/>
                </a:solidFill>
              </a:rPr>
              <a:t>Google I/O CloudでHTTP+JSON-RPC仕様を公開。50社以上が参加表明。</a:t>
            </a:r>
            <a:endParaRPr lang="en-US" sz="1100" dirty="0"/>
          </a:p>
        </p:txBody>
      </p:sp>
      <p:sp>
        <p:nvSpPr>
          <p:cNvPr id="9" name="Shape 7"/>
          <p:cNvSpPr/>
          <p:nvPr/>
        </p:nvSpPr>
        <p:spPr>
          <a:xfrm>
            <a:off x="2807208" y="2057400"/>
            <a:ext cx="457200" cy="457200"/>
          </a:xfrm>
          <a:prstGeom prst="ellipse">
            <a:avLst/>
          </a:prstGeom>
          <a:solidFill>
            <a:srgbClr val="00A896"/>
          </a:solidFill>
          <a:ln/>
        </p:spPr>
      </p:sp>
      <p:sp>
        <p:nvSpPr>
          <p:cNvPr id="10" name="Text 8"/>
          <p:cNvSpPr/>
          <p:nvPr/>
        </p:nvSpPr>
        <p:spPr>
          <a:xfrm>
            <a:off x="2304288" y="1371600"/>
            <a:ext cx="1554480" cy="548640"/>
          </a:xfrm>
          <a:prstGeom prst="rect">
            <a:avLst/>
          </a:prstGeom>
          <a:noFill/>
          <a:ln/>
        </p:spPr>
        <p:txBody>
          <a:bodyPr wrap="square" lIns="0" tIns="0" rIns="0" bIns="0" rtlCol="0" anchor="b"/>
          <a:lstStyle/>
          <a:p>
            <a:pPr algn="ctr" indent="0" marL="0">
              <a:buNone/>
            </a:pPr>
            <a:r>
              <a:rPr lang="en-US" sz="1000" b="1" dirty="0">
                <a:solidFill>
                  <a:srgbClr val="065A82"/>
                </a:solidFill>
                <a:latin typeface="Calibri" pitchFamily="34" charset="0"/>
                <a:ea typeface="Calibri" pitchFamily="34" charset="-122"/>
                <a:cs typeface="Calibri" pitchFamily="34" charset="-120"/>
              </a:rPr>
              <a:t>2025年6月</a:t>
            </a:r>
            <a:endParaRPr lang="en-US" sz="1000" dirty="0"/>
          </a:p>
        </p:txBody>
      </p:sp>
      <p:sp>
        <p:nvSpPr>
          <p:cNvPr id="11" name="Shape 9"/>
          <p:cNvSpPr/>
          <p:nvPr/>
        </p:nvSpPr>
        <p:spPr>
          <a:xfrm>
            <a:off x="2304288" y="2697480"/>
            <a:ext cx="1554480" cy="17373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2" name="Text 10"/>
          <p:cNvSpPr/>
          <p:nvPr/>
        </p:nvSpPr>
        <p:spPr>
          <a:xfrm>
            <a:off x="2395728" y="2788920"/>
            <a:ext cx="1371600" cy="1554480"/>
          </a:xfrm>
          <a:prstGeom prst="rect">
            <a:avLst/>
          </a:prstGeom>
          <a:noFill/>
          <a:ln/>
        </p:spPr>
        <p:txBody>
          <a:bodyPr wrap="square" lIns="0" tIns="0" rIns="0" bIns="0" rtlCol="0" anchor="t"/>
          <a:lstStyle/>
          <a:p>
            <a:pPr indent="0" marL="0">
              <a:buNone/>
            </a:pPr>
            <a:r>
              <a:rPr lang="en-US" sz="1100" b="1" dirty="0">
                <a:solidFill>
                  <a:srgbClr val="065A82"/>
                </a:solidFill>
              </a:rPr>
              <a:t>Linux Foundation 移管</a:t>
            </a:r>
            <a:endParaRPr lang="en-US" sz="1100" dirty="0"/>
          </a:p>
          <a:p>
            <a:pPr indent="0" marL="0">
              <a:buNone/>
            </a:pPr>
            <a:endParaRPr lang="en-US" sz="1100" dirty="0"/>
          </a:p>
          <a:p>
            <a:pPr indent="0" marL="0">
              <a:buNone/>
            </a:pPr>
            <a:r>
              <a:rPr lang="en-US" sz="900" dirty="0">
                <a:solidFill>
                  <a:srgbClr val="475569"/>
                </a:solidFill>
              </a:rPr>
              <a:t>A2A + MCPがAgentic AI Foundationへ移管。中立的ガバナンス体制に。</a:t>
            </a:r>
            <a:endParaRPr lang="en-US" sz="1100" dirty="0"/>
          </a:p>
        </p:txBody>
      </p:sp>
      <p:sp>
        <p:nvSpPr>
          <p:cNvPr id="13" name="Shape 11"/>
          <p:cNvSpPr/>
          <p:nvPr/>
        </p:nvSpPr>
        <p:spPr>
          <a:xfrm>
            <a:off x="4471416" y="2057400"/>
            <a:ext cx="457200" cy="457200"/>
          </a:xfrm>
          <a:prstGeom prst="ellipse">
            <a:avLst/>
          </a:prstGeom>
          <a:solidFill>
            <a:srgbClr val="00A896"/>
          </a:solidFill>
          <a:ln/>
        </p:spPr>
      </p:sp>
      <p:sp>
        <p:nvSpPr>
          <p:cNvPr id="14" name="Text 12"/>
          <p:cNvSpPr/>
          <p:nvPr/>
        </p:nvSpPr>
        <p:spPr>
          <a:xfrm>
            <a:off x="3968496" y="1371600"/>
            <a:ext cx="1554480" cy="548640"/>
          </a:xfrm>
          <a:prstGeom prst="rect">
            <a:avLst/>
          </a:prstGeom>
          <a:noFill/>
          <a:ln/>
        </p:spPr>
        <p:txBody>
          <a:bodyPr wrap="square" lIns="0" tIns="0" rIns="0" bIns="0" rtlCol="0" anchor="b"/>
          <a:lstStyle/>
          <a:p>
            <a:pPr algn="ctr" indent="0" marL="0">
              <a:buNone/>
            </a:pPr>
            <a:r>
              <a:rPr lang="en-US" sz="1000" b="1" dirty="0">
                <a:solidFill>
                  <a:srgbClr val="065A82"/>
                </a:solidFill>
                <a:latin typeface="Calibri" pitchFamily="34" charset="0"/>
                <a:ea typeface="Calibri" pitchFamily="34" charset="-122"/>
                <a:cs typeface="Calibri" pitchFamily="34" charset="-120"/>
              </a:rPr>
              <a:t>2025年7月</a:t>
            </a:r>
            <a:endParaRPr lang="en-US" sz="1000" dirty="0"/>
          </a:p>
        </p:txBody>
      </p:sp>
      <p:sp>
        <p:nvSpPr>
          <p:cNvPr id="15" name="Shape 13"/>
          <p:cNvSpPr/>
          <p:nvPr/>
        </p:nvSpPr>
        <p:spPr>
          <a:xfrm>
            <a:off x="3968496" y="2697480"/>
            <a:ext cx="1554480" cy="17373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6" name="Text 14"/>
          <p:cNvSpPr/>
          <p:nvPr/>
        </p:nvSpPr>
        <p:spPr>
          <a:xfrm>
            <a:off x="4059936" y="2788920"/>
            <a:ext cx="1371600" cy="1554480"/>
          </a:xfrm>
          <a:prstGeom prst="rect">
            <a:avLst/>
          </a:prstGeom>
          <a:noFill/>
          <a:ln/>
        </p:spPr>
        <p:txBody>
          <a:bodyPr wrap="square" lIns="0" tIns="0" rIns="0" bIns="0" rtlCol="0" anchor="t"/>
          <a:lstStyle/>
          <a:p>
            <a:pPr indent="0" marL="0">
              <a:buNone/>
            </a:pPr>
            <a:r>
              <a:rPr lang="en-US" sz="1100" b="1" dirty="0">
                <a:solidFill>
                  <a:srgbClr val="065A82"/>
                </a:solidFill>
              </a:rPr>
              <a:t>A2A v0.3 リリース</a:t>
            </a:r>
            <a:endParaRPr lang="en-US" sz="1100" dirty="0"/>
          </a:p>
          <a:p>
            <a:pPr indent="0" marL="0">
              <a:buNone/>
            </a:pPr>
            <a:endParaRPr lang="en-US" sz="1100" dirty="0"/>
          </a:p>
          <a:p>
            <a:pPr indent="0" marL="0">
              <a:buNone/>
            </a:pPr>
            <a:r>
              <a:rPr lang="en-US" sz="900" dirty="0">
                <a:solidFill>
                  <a:srgbClr val="475569"/>
                </a:solidFill>
              </a:rPr>
              <a:t>gRPCトランスポート、署名付きAgent Card、ストリーミング応答を追加。</a:t>
            </a:r>
            <a:endParaRPr lang="en-US" sz="1100" dirty="0"/>
          </a:p>
        </p:txBody>
      </p:sp>
      <p:sp>
        <p:nvSpPr>
          <p:cNvPr id="17" name="Shape 15"/>
          <p:cNvSpPr/>
          <p:nvPr/>
        </p:nvSpPr>
        <p:spPr>
          <a:xfrm>
            <a:off x="6135624" y="2057400"/>
            <a:ext cx="457200" cy="457200"/>
          </a:xfrm>
          <a:prstGeom prst="ellipse">
            <a:avLst/>
          </a:prstGeom>
          <a:solidFill>
            <a:srgbClr val="00A896"/>
          </a:solidFill>
          <a:ln/>
        </p:spPr>
      </p:sp>
      <p:sp>
        <p:nvSpPr>
          <p:cNvPr id="18" name="Text 16"/>
          <p:cNvSpPr/>
          <p:nvPr/>
        </p:nvSpPr>
        <p:spPr>
          <a:xfrm>
            <a:off x="5632704" y="1371600"/>
            <a:ext cx="1554480" cy="548640"/>
          </a:xfrm>
          <a:prstGeom prst="rect">
            <a:avLst/>
          </a:prstGeom>
          <a:noFill/>
          <a:ln/>
        </p:spPr>
        <p:txBody>
          <a:bodyPr wrap="square" lIns="0" tIns="0" rIns="0" bIns="0" rtlCol="0" anchor="b"/>
          <a:lstStyle/>
          <a:p>
            <a:pPr algn="ctr" indent="0" marL="0">
              <a:buNone/>
            </a:pPr>
            <a:r>
              <a:rPr lang="en-US" sz="1000" b="1" dirty="0">
                <a:solidFill>
                  <a:srgbClr val="065A82"/>
                </a:solidFill>
                <a:latin typeface="Calibri" pitchFamily="34" charset="0"/>
                <a:ea typeface="Calibri" pitchFamily="34" charset="-122"/>
                <a:cs typeface="Calibri" pitchFamily="34" charset="-120"/>
              </a:rPr>
              <a:t>2025年12月</a:t>
            </a:r>
            <a:endParaRPr lang="en-US" sz="1000" dirty="0"/>
          </a:p>
        </p:txBody>
      </p:sp>
      <p:sp>
        <p:nvSpPr>
          <p:cNvPr id="19" name="Shape 17"/>
          <p:cNvSpPr/>
          <p:nvPr/>
        </p:nvSpPr>
        <p:spPr>
          <a:xfrm>
            <a:off x="5632704" y="2697480"/>
            <a:ext cx="1554480" cy="17373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0" name="Text 18"/>
          <p:cNvSpPr/>
          <p:nvPr/>
        </p:nvSpPr>
        <p:spPr>
          <a:xfrm>
            <a:off x="5724144" y="2788920"/>
            <a:ext cx="1371600" cy="1554480"/>
          </a:xfrm>
          <a:prstGeom prst="rect">
            <a:avLst/>
          </a:prstGeom>
          <a:noFill/>
          <a:ln/>
        </p:spPr>
        <p:txBody>
          <a:bodyPr wrap="square" lIns="0" tIns="0" rIns="0" bIns="0" rtlCol="0" anchor="t"/>
          <a:lstStyle/>
          <a:p>
            <a:pPr indent="0" marL="0">
              <a:buNone/>
            </a:pPr>
            <a:r>
              <a:rPr lang="en-US" sz="1100" b="1" dirty="0">
                <a:solidFill>
                  <a:srgbClr val="065A82"/>
                </a:solidFill>
              </a:rPr>
              <a:t>150+ 組織が参加</a:t>
            </a:r>
            <a:endParaRPr lang="en-US" sz="1100" dirty="0"/>
          </a:p>
          <a:p>
            <a:pPr indent="0" marL="0">
              <a:buNone/>
            </a:pPr>
            <a:endParaRPr lang="en-US" sz="1100" dirty="0"/>
          </a:p>
          <a:p>
            <a:pPr indent="0" marL="0">
              <a:buNone/>
            </a:pPr>
            <a:r>
              <a:rPr lang="en-US" sz="900" dirty="0">
                <a:solidFill>
                  <a:srgbClr val="475569"/>
                </a:solidFill>
              </a:rPr>
              <a:t>Salesforce, SAP, Microsoft等がサポート。Google Agent Spaceに統合。</a:t>
            </a:r>
            <a:endParaRPr lang="en-US" sz="1100" dirty="0"/>
          </a:p>
        </p:txBody>
      </p:sp>
      <p:sp>
        <p:nvSpPr>
          <p:cNvPr id="21" name="Shape 19"/>
          <p:cNvSpPr/>
          <p:nvPr/>
        </p:nvSpPr>
        <p:spPr>
          <a:xfrm>
            <a:off x="7799832" y="2057400"/>
            <a:ext cx="457200" cy="457200"/>
          </a:xfrm>
          <a:prstGeom prst="ellipse">
            <a:avLst/>
          </a:prstGeom>
          <a:solidFill>
            <a:srgbClr val="00A896"/>
          </a:solidFill>
          <a:ln/>
        </p:spPr>
      </p:sp>
      <p:sp>
        <p:nvSpPr>
          <p:cNvPr id="22" name="Text 20"/>
          <p:cNvSpPr/>
          <p:nvPr/>
        </p:nvSpPr>
        <p:spPr>
          <a:xfrm>
            <a:off x="7296912" y="1371600"/>
            <a:ext cx="1554480" cy="548640"/>
          </a:xfrm>
          <a:prstGeom prst="rect">
            <a:avLst/>
          </a:prstGeom>
          <a:noFill/>
          <a:ln/>
        </p:spPr>
        <p:txBody>
          <a:bodyPr wrap="square" lIns="0" tIns="0" rIns="0" bIns="0" rtlCol="0" anchor="b"/>
          <a:lstStyle/>
          <a:p>
            <a:pPr algn="ctr" indent="0" marL="0">
              <a:buNone/>
            </a:pPr>
            <a:r>
              <a:rPr lang="en-US" sz="1000" b="1" dirty="0">
                <a:solidFill>
                  <a:srgbClr val="065A82"/>
                </a:solidFill>
                <a:latin typeface="Calibri" pitchFamily="34" charset="0"/>
                <a:ea typeface="Calibri" pitchFamily="34" charset="-122"/>
                <a:cs typeface="Calibri" pitchFamily="34" charset="-120"/>
              </a:rPr>
              <a:t>2026年〜</a:t>
            </a:r>
            <a:endParaRPr lang="en-US" sz="1000" dirty="0"/>
          </a:p>
        </p:txBody>
      </p:sp>
      <p:sp>
        <p:nvSpPr>
          <p:cNvPr id="23" name="Shape 21"/>
          <p:cNvSpPr/>
          <p:nvPr/>
        </p:nvSpPr>
        <p:spPr>
          <a:xfrm>
            <a:off x="7296912" y="2697480"/>
            <a:ext cx="1554480" cy="17373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4" name="Text 22"/>
          <p:cNvSpPr/>
          <p:nvPr/>
        </p:nvSpPr>
        <p:spPr>
          <a:xfrm>
            <a:off x="7388352" y="2788920"/>
            <a:ext cx="1371600" cy="1554480"/>
          </a:xfrm>
          <a:prstGeom prst="rect">
            <a:avLst/>
          </a:prstGeom>
          <a:noFill/>
          <a:ln/>
        </p:spPr>
        <p:txBody>
          <a:bodyPr wrap="square" lIns="0" tIns="0" rIns="0" bIns="0" rtlCol="0" anchor="t"/>
          <a:lstStyle/>
          <a:p>
            <a:pPr indent="0" marL="0">
              <a:buNone/>
            </a:pPr>
            <a:r>
              <a:rPr lang="en-US" sz="1100" b="1" dirty="0">
                <a:solidFill>
                  <a:srgbClr val="065A82"/>
                </a:solidFill>
              </a:rPr>
              <a:t>エンタープライズ本格化</a:t>
            </a:r>
            <a:endParaRPr lang="en-US" sz="1100" dirty="0"/>
          </a:p>
          <a:p>
            <a:pPr indent="0" marL="0">
              <a:buNone/>
            </a:pPr>
            <a:endParaRPr lang="en-US" sz="1100" dirty="0"/>
          </a:p>
          <a:p>
            <a:pPr indent="0" marL="0">
              <a:buNone/>
            </a:pPr>
            <a:r>
              <a:rPr lang="en-US" sz="900" dirty="0">
                <a:solidFill>
                  <a:srgbClr val="475569"/>
                </a:solidFill>
              </a:rPr>
              <a:t>v1.0 GA目前。マルチベンダー相互運用が現実的な段階に。</a:t>
            </a:r>
            <a:endParaRPr lang="en-US" sz="1100" dirty="0"/>
          </a:p>
        </p:txBody>
      </p:sp>
      <p:sp>
        <p:nvSpPr>
          <p:cNvPr id="25" name="Shape 23"/>
          <p:cNvSpPr/>
          <p:nvPr/>
        </p:nvSpPr>
        <p:spPr>
          <a:xfrm>
            <a:off x="0" y="4754880"/>
            <a:ext cx="9144000" cy="388620"/>
          </a:xfrm>
          <a:prstGeom prst="rect">
            <a:avLst/>
          </a:prstGeom>
          <a:solidFill>
            <a:srgbClr val="1E2761"/>
          </a:solidFill>
          <a:ln/>
        </p:spPr>
      </p:sp>
      <p:sp>
        <p:nvSpPr>
          <p:cNvPr id="26" name="Text 24"/>
          <p:cNvSpPr/>
          <p:nvPr/>
        </p:nvSpPr>
        <p:spPr>
          <a:xfrm>
            <a:off x="457200" y="4754880"/>
            <a:ext cx="8229600" cy="38862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A2A Protocol Specification Timeline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96"/>
          </a:solidFill>
          <a:ln/>
        </p:spPr>
      </p:sp>
      <p:sp>
        <p:nvSpPr>
          <p:cNvPr id="3" name="Text 1"/>
          <p:cNvSpPr/>
          <p:nvPr/>
        </p:nvSpPr>
        <p:spPr>
          <a:xfrm>
            <a:off x="640080" y="274320"/>
            <a:ext cx="8229600" cy="640080"/>
          </a:xfrm>
          <a:prstGeom prst="rect">
            <a:avLst/>
          </a:prstGeom>
          <a:noFill/>
          <a:ln/>
        </p:spPr>
        <p:txBody>
          <a:bodyPr wrap="square" lIns="0" tIns="0" rIns="0" bIns="0" rtlCol="0" anchor="ctr"/>
          <a:lstStyle/>
          <a:p>
            <a:pPr indent="0" marL="0">
              <a:buNone/>
            </a:pPr>
            <a:r>
              <a:rPr lang="en-US" sz="2800" b="1" dirty="0">
                <a:solidFill>
                  <a:srgbClr val="1E2761"/>
                </a:solidFill>
                <a:latin typeface="Georgia" pitchFamily="34" charset="0"/>
                <a:ea typeface="Georgia" pitchFamily="34" charset="-122"/>
                <a:cs typeface="Georgia" pitchFamily="34" charset="-120"/>
              </a:rPr>
              <a:t>A2A vs MCP — 補完的な2大プロトコル</a:t>
            </a:r>
            <a:endParaRPr lang="en-US" sz="2800" dirty="0"/>
          </a:p>
        </p:txBody>
      </p:sp>
      <p:sp>
        <p:nvSpPr>
          <p:cNvPr id="4" name="Shape 2"/>
          <p:cNvSpPr/>
          <p:nvPr/>
        </p:nvSpPr>
        <p:spPr>
          <a:xfrm>
            <a:off x="640080" y="1097280"/>
            <a:ext cx="3749040" cy="34747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5" name="Shape 3"/>
          <p:cNvSpPr/>
          <p:nvPr/>
        </p:nvSpPr>
        <p:spPr>
          <a:xfrm>
            <a:off x="640080" y="1097280"/>
            <a:ext cx="3749040" cy="594360"/>
          </a:xfrm>
          <a:prstGeom prst="rect">
            <a:avLst/>
          </a:prstGeom>
          <a:solidFill>
            <a:srgbClr val="065A82"/>
          </a:solidFill>
          <a:ln/>
        </p:spPr>
      </p:sp>
      <p:pic>
        <p:nvPicPr>
          <p:cNvPr id="6" name="Image 0" descr="preencoded.png"/>
          <p:cNvPicPr>
            <a:picLocks noChangeAspect="1"/>
          </p:cNvPicPr>
          <p:nvPr/>
        </p:nvPicPr>
        <p:blipFill>
          <a:blip r:embed="rId1"/>
          <a:stretch>
            <a:fillRect/>
          </a:stretch>
        </p:blipFill>
        <p:spPr>
          <a:xfrm>
            <a:off x="868680" y="1188720"/>
            <a:ext cx="365760" cy="365760"/>
          </a:xfrm>
          <a:prstGeom prst="rect">
            <a:avLst/>
          </a:prstGeom>
        </p:spPr>
      </p:pic>
      <p:sp>
        <p:nvSpPr>
          <p:cNvPr id="7" name="Text 4"/>
          <p:cNvSpPr/>
          <p:nvPr/>
        </p:nvSpPr>
        <p:spPr>
          <a:xfrm>
            <a:off x="1371600" y="1097280"/>
            <a:ext cx="2834640" cy="5943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A2A（Agent-to-Agent）</a:t>
            </a:r>
            <a:endParaRPr lang="en-US" sz="1600" dirty="0"/>
          </a:p>
        </p:txBody>
      </p:sp>
      <p:sp>
        <p:nvSpPr>
          <p:cNvPr id="8" name="Text 5"/>
          <p:cNvSpPr/>
          <p:nvPr/>
        </p:nvSpPr>
        <p:spPr>
          <a:xfrm>
            <a:off x="914400" y="1874520"/>
            <a:ext cx="3200400" cy="2560320"/>
          </a:xfrm>
          <a:prstGeom prst="rect">
            <a:avLst/>
          </a:prstGeom>
          <a:noFill/>
          <a:ln/>
        </p:spPr>
        <p:txBody>
          <a:bodyPr wrap="square" lIns="0" tIns="0" rIns="0" bIns="0" rtlCol="0" anchor="t"/>
          <a:lstStyle/>
          <a:p>
            <a:pPr indent="0" marL="0">
              <a:buNone/>
            </a:pPr>
            <a:r>
              <a:rPr lang="en-US" sz="1200" b="1" dirty="0">
                <a:solidFill>
                  <a:srgbClr val="065A82"/>
                </a:solidFill>
              </a:rPr>
              <a:t>対象: AI ↔ AI 通信</a:t>
            </a:r>
            <a:endParaRPr lang="en-US" sz="1200" dirty="0"/>
          </a:p>
          <a:p>
            <a:pPr indent="0" marL="0">
              <a:buNone/>
            </a:pPr>
            <a:endParaRPr lang="en-US" sz="1200" dirty="0"/>
          </a:p>
          <a:p>
            <a:pPr indent="0" marL="0">
              <a:buNone/>
            </a:pPr>
            <a:r>
              <a:rPr lang="en-US" sz="1100" dirty="0">
                <a:solidFill>
                  <a:srgbClr val="1E293B"/>
                </a:solidFill>
              </a:rPr>
              <a:t>エージェント同士が能力を発見し、タスクを委譲・協調処理する</a:t>
            </a:r>
            <a:endParaRPr lang="en-US" sz="1200" dirty="0"/>
          </a:p>
          <a:p>
            <a:pPr indent="0" marL="0">
              <a:buNone/>
            </a:pPr>
            <a:endParaRPr lang="en-US" sz="1200" dirty="0"/>
          </a:p>
          <a:p>
            <a:pPr marL="342900" indent="-342900">
              <a:buSzPct val="100000"/>
              <a:buChar char="•"/>
            </a:pPr>
            <a:r>
              <a:rPr lang="en-US" sz="1100" dirty="0">
                <a:solidFill>
                  <a:srgbClr val="1E293B"/>
                </a:solidFill>
              </a:rPr>
              <a:t>Agent Card で能力宣言</a:t>
            </a:r>
            <a:endParaRPr lang="en-US" sz="1200" dirty="0"/>
          </a:p>
          <a:p>
            <a:pPr marL="342900" indent="-342900">
              <a:buSzPct val="100000"/>
              <a:buChar char="•"/>
            </a:pPr>
            <a:r>
              <a:rPr lang="en-US" sz="1100" dirty="0">
                <a:solidFill>
                  <a:srgbClr val="1E293B"/>
                </a:solidFill>
              </a:rPr>
              <a:t>JSON-RPC + gRPC 通信</a:t>
            </a:r>
            <a:endParaRPr lang="en-US" sz="1200" dirty="0"/>
          </a:p>
          <a:p>
            <a:pPr marL="342900" indent="-342900">
              <a:buSzPct val="100000"/>
              <a:buChar char="•"/>
            </a:pPr>
            <a:r>
              <a:rPr lang="en-US" sz="1100" dirty="0">
                <a:solidFill>
                  <a:srgbClr val="1E293B"/>
                </a:solidFill>
              </a:rPr>
              <a:t>Task ライフサイクル管理</a:t>
            </a:r>
            <a:endParaRPr lang="en-US" sz="1200" dirty="0"/>
          </a:p>
          <a:p>
            <a:pPr marL="342900" indent="-342900">
              <a:buSzPct val="100000"/>
              <a:buChar char="•"/>
            </a:pPr>
            <a:r>
              <a:rPr lang="en-US" sz="1100" dirty="0">
                <a:solidFill>
                  <a:srgbClr val="1E293B"/>
                </a:solidFill>
              </a:rPr>
              <a:t>Google発 → Linux Foundation</a:t>
            </a:r>
            <a:endParaRPr lang="en-US" sz="1200" dirty="0"/>
          </a:p>
        </p:txBody>
      </p:sp>
      <p:sp>
        <p:nvSpPr>
          <p:cNvPr id="9" name="Shape 6"/>
          <p:cNvSpPr/>
          <p:nvPr/>
        </p:nvSpPr>
        <p:spPr>
          <a:xfrm>
            <a:off x="4754880" y="1097280"/>
            <a:ext cx="3749040" cy="34747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0" name="Shape 7"/>
          <p:cNvSpPr/>
          <p:nvPr/>
        </p:nvSpPr>
        <p:spPr>
          <a:xfrm>
            <a:off x="4754880" y="1097280"/>
            <a:ext cx="3749040" cy="594360"/>
          </a:xfrm>
          <a:prstGeom prst="rect">
            <a:avLst/>
          </a:prstGeom>
          <a:solidFill>
            <a:srgbClr val="1C7293"/>
          </a:solidFill>
          <a:ln/>
        </p:spPr>
      </p:sp>
      <p:pic>
        <p:nvPicPr>
          <p:cNvPr id="11" name="Image 1" descr="preencoded.png"/>
          <p:cNvPicPr>
            <a:picLocks noChangeAspect="1"/>
          </p:cNvPicPr>
          <p:nvPr/>
        </p:nvPicPr>
        <p:blipFill>
          <a:blip r:embed="rId2"/>
          <a:stretch>
            <a:fillRect/>
          </a:stretch>
        </p:blipFill>
        <p:spPr>
          <a:xfrm>
            <a:off x="4983480" y="1188720"/>
            <a:ext cx="365760" cy="365760"/>
          </a:xfrm>
          <a:prstGeom prst="rect">
            <a:avLst/>
          </a:prstGeom>
        </p:spPr>
      </p:pic>
      <p:sp>
        <p:nvSpPr>
          <p:cNvPr id="12" name="Text 8"/>
          <p:cNvSpPr/>
          <p:nvPr/>
        </p:nvSpPr>
        <p:spPr>
          <a:xfrm>
            <a:off x="5486400" y="1097280"/>
            <a:ext cx="2834640" cy="5943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MCP（Model Context Protocol）</a:t>
            </a:r>
            <a:endParaRPr lang="en-US" sz="1600" dirty="0"/>
          </a:p>
        </p:txBody>
      </p:sp>
      <p:sp>
        <p:nvSpPr>
          <p:cNvPr id="13" name="Text 9"/>
          <p:cNvSpPr/>
          <p:nvPr/>
        </p:nvSpPr>
        <p:spPr>
          <a:xfrm>
            <a:off x="5029200" y="1874520"/>
            <a:ext cx="3200400" cy="2560320"/>
          </a:xfrm>
          <a:prstGeom prst="rect">
            <a:avLst/>
          </a:prstGeom>
          <a:noFill/>
          <a:ln/>
        </p:spPr>
        <p:txBody>
          <a:bodyPr wrap="square" lIns="0" tIns="0" rIns="0" bIns="0" rtlCol="0" anchor="t"/>
          <a:lstStyle/>
          <a:p>
            <a:pPr indent="0" marL="0">
              <a:buNone/>
            </a:pPr>
            <a:r>
              <a:rPr lang="en-US" sz="1200" b="1" dirty="0">
                <a:solidFill>
                  <a:srgbClr val="1C7293"/>
                </a:solidFill>
              </a:rPr>
              <a:t>対象: AI ↔ ツール 接続</a:t>
            </a:r>
            <a:endParaRPr lang="en-US" sz="1200" dirty="0"/>
          </a:p>
          <a:p>
            <a:pPr indent="0" marL="0">
              <a:buNone/>
            </a:pPr>
            <a:endParaRPr lang="en-US" sz="1200" dirty="0"/>
          </a:p>
          <a:p>
            <a:pPr indent="0" marL="0">
              <a:buNone/>
            </a:pPr>
            <a:r>
              <a:rPr lang="en-US" sz="1100" dirty="0">
                <a:solidFill>
                  <a:srgbClr val="1E293B"/>
                </a:solidFill>
              </a:rPr>
              <a:t>AIモデルが外部ツール・データソースに安全にアクセスする</a:t>
            </a:r>
            <a:endParaRPr lang="en-US" sz="1200" dirty="0"/>
          </a:p>
          <a:p>
            <a:pPr indent="0" marL="0">
              <a:buNone/>
            </a:pPr>
            <a:endParaRPr lang="en-US" sz="1200" dirty="0"/>
          </a:p>
          <a:p>
            <a:pPr marL="342900" indent="-342900">
              <a:buSzPct val="100000"/>
              <a:buChar char="•"/>
            </a:pPr>
            <a:r>
              <a:rPr lang="en-US" sz="1100" dirty="0">
                <a:solidFill>
                  <a:srgbClr val="1E293B"/>
                </a:solidFill>
              </a:rPr>
              <a:t>ツール定義スキーマ</a:t>
            </a:r>
            <a:endParaRPr lang="en-US" sz="1200" dirty="0"/>
          </a:p>
          <a:p>
            <a:pPr marL="342900" indent="-342900">
              <a:buSzPct val="100000"/>
              <a:buChar char="•"/>
            </a:pPr>
            <a:r>
              <a:rPr lang="en-US" sz="1100" dirty="0">
                <a:solidFill>
                  <a:srgbClr val="1E293B"/>
                </a:solidFill>
              </a:rPr>
              <a:t>JSON-RPC 通信</a:t>
            </a:r>
            <a:endParaRPr lang="en-US" sz="1200" dirty="0"/>
          </a:p>
          <a:p>
            <a:pPr marL="342900" indent="-342900">
              <a:buSzPct val="100000"/>
              <a:buChar char="•"/>
            </a:pPr>
            <a:r>
              <a:rPr lang="en-US" sz="1100" dirty="0">
                <a:solidFill>
                  <a:srgbClr val="1E293B"/>
                </a:solidFill>
              </a:rPr>
              <a:t>リソース・プロンプト管理</a:t>
            </a:r>
            <a:endParaRPr lang="en-US" sz="1200" dirty="0"/>
          </a:p>
          <a:p>
            <a:pPr marL="342900" indent="-342900">
              <a:buSzPct val="100000"/>
              <a:buChar char="•"/>
            </a:pPr>
            <a:r>
              <a:rPr lang="en-US" sz="1100" dirty="0">
                <a:solidFill>
                  <a:srgbClr val="1E293B"/>
                </a:solidFill>
              </a:rPr>
              <a:t>Anthropic発 → Linux Foundation</a:t>
            </a:r>
            <a:endParaRPr lang="en-US" sz="1200" dirty="0"/>
          </a:p>
        </p:txBody>
      </p:sp>
      <p:pic>
        <p:nvPicPr>
          <p:cNvPr id="14" name="Image 2" descr="preencoded.png"/>
          <p:cNvPicPr>
            <a:picLocks noChangeAspect="1"/>
          </p:cNvPicPr>
          <p:nvPr/>
        </p:nvPicPr>
        <p:blipFill>
          <a:blip r:embed="rId3"/>
          <a:stretch>
            <a:fillRect/>
          </a:stretch>
        </p:blipFill>
        <p:spPr>
          <a:xfrm>
            <a:off x="4251960" y="2560320"/>
            <a:ext cx="457200" cy="457200"/>
          </a:xfrm>
          <a:prstGeom prst="rect">
            <a:avLst/>
          </a:prstGeom>
        </p:spPr>
      </p:pic>
      <p:sp>
        <p:nvSpPr>
          <p:cNvPr id="15" name="Shape 10"/>
          <p:cNvSpPr/>
          <p:nvPr/>
        </p:nvSpPr>
        <p:spPr>
          <a:xfrm>
            <a:off x="0" y="4754880"/>
            <a:ext cx="9144000" cy="388620"/>
          </a:xfrm>
          <a:prstGeom prst="rect">
            <a:avLst/>
          </a:prstGeom>
          <a:solidFill>
            <a:srgbClr val="1E2761"/>
          </a:solidFill>
          <a:ln/>
        </p:spPr>
      </p:sp>
      <p:sp>
        <p:nvSpPr>
          <p:cNvPr id="16" name="Text 11"/>
          <p:cNvSpPr/>
          <p:nvPr/>
        </p:nvSpPr>
        <p:spPr>
          <a:xfrm>
            <a:off x="457200" y="4754880"/>
            <a:ext cx="8229600" cy="38862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両プロトコルは2025年12月にLinux Foundation Agentic AI Foundationへ統合</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96"/>
          </a:solidFill>
          <a:ln/>
        </p:spPr>
      </p:sp>
      <p:sp>
        <p:nvSpPr>
          <p:cNvPr id="3" name="Text 1"/>
          <p:cNvSpPr/>
          <p:nvPr/>
        </p:nvSpPr>
        <p:spPr>
          <a:xfrm>
            <a:off x="640080" y="274320"/>
            <a:ext cx="8229600" cy="640080"/>
          </a:xfrm>
          <a:prstGeom prst="rect">
            <a:avLst/>
          </a:prstGeom>
          <a:noFill/>
          <a:ln/>
        </p:spPr>
        <p:txBody>
          <a:bodyPr wrap="square" lIns="0" tIns="0" rIns="0" bIns="0" rtlCol="0" anchor="ctr"/>
          <a:lstStyle/>
          <a:p>
            <a:pPr indent="0" marL="0">
              <a:buNone/>
            </a:pPr>
            <a:r>
              <a:rPr lang="en-US" sz="2800" b="1" dirty="0">
                <a:solidFill>
                  <a:srgbClr val="1E2761"/>
                </a:solidFill>
                <a:latin typeface="Georgia" pitchFamily="34" charset="0"/>
                <a:ea typeface="Georgia" pitchFamily="34" charset="-122"/>
                <a:cs typeface="Georgia" pitchFamily="34" charset="-120"/>
              </a:rPr>
              <a:t>Google Agent Space &amp; マーケットプレイス</a:t>
            </a:r>
            <a:endParaRPr lang="en-US" sz="2800" dirty="0"/>
          </a:p>
        </p:txBody>
      </p:sp>
      <p:sp>
        <p:nvSpPr>
          <p:cNvPr id="4" name="Shape 2"/>
          <p:cNvSpPr/>
          <p:nvPr/>
        </p:nvSpPr>
        <p:spPr>
          <a:xfrm>
            <a:off x="640080" y="1097280"/>
            <a:ext cx="7863840" cy="137160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5" name="Image 0" descr="preencoded.png"/>
          <p:cNvPicPr>
            <a:picLocks noChangeAspect="1"/>
          </p:cNvPicPr>
          <p:nvPr/>
        </p:nvPicPr>
        <p:blipFill>
          <a:blip r:embed="rId1"/>
          <a:stretch>
            <a:fillRect/>
          </a:stretch>
        </p:blipFill>
        <p:spPr>
          <a:xfrm>
            <a:off x="914400" y="1325880"/>
            <a:ext cx="502920" cy="502920"/>
          </a:xfrm>
          <a:prstGeom prst="rect">
            <a:avLst/>
          </a:prstGeom>
        </p:spPr>
      </p:pic>
      <p:sp>
        <p:nvSpPr>
          <p:cNvPr id="6" name="Text 3"/>
          <p:cNvSpPr/>
          <p:nvPr/>
        </p:nvSpPr>
        <p:spPr>
          <a:xfrm>
            <a:off x="1645920" y="1188720"/>
            <a:ext cx="6583680" cy="1188720"/>
          </a:xfrm>
          <a:prstGeom prst="rect">
            <a:avLst/>
          </a:prstGeom>
          <a:noFill/>
          <a:ln/>
        </p:spPr>
        <p:txBody>
          <a:bodyPr wrap="square" lIns="0" tIns="0" rIns="0" bIns="0" rtlCol="0" anchor="ctr"/>
          <a:lstStyle/>
          <a:p>
            <a:pPr indent="0" marL="0">
              <a:buNone/>
            </a:pPr>
            <a:r>
              <a:rPr lang="en-US" sz="1600" b="1" dirty="0">
                <a:solidFill>
                  <a:srgbClr val="065A82"/>
                </a:solidFill>
              </a:rPr>
              <a:t>Google Agent Space</a:t>
            </a:r>
            <a:endParaRPr lang="en-US" sz="1600" dirty="0"/>
          </a:p>
          <a:p>
            <a:pPr indent="0" marL="0">
              <a:buNone/>
            </a:pPr>
            <a:r>
              <a:rPr lang="en-US" sz="1200" dirty="0">
                <a:solidFill>
                  <a:srgbClr val="1E293B"/>
                </a:solidFill>
              </a:rPr>
              <a:t>Vertex AI上の統合プラットフォーム。A2A対応エージェントの開発・テスト・デプロイ・公開を一気通貫で提供。Agentspace（旧Enterprise Search）でエージェント発見・接続を実現。</a:t>
            </a:r>
            <a:endParaRPr lang="en-US" sz="1600" dirty="0"/>
          </a:p>
        </p:txBody>
      </p:sp>
      <p:sp>
        <p:nvSpPr>
          <p:cNvPr id="7" name="Shape 4"/>
          <p:cNvSpPr/>
          <p:nvPr/>
        </p:nvSpPr>
        <p:spPr>
          <a:xfrm>
            <a:off x="640080" y="2743200"/>
            <a:ext cx="2514600" cy="182880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8" name="Image 1" descr="preencoded.png"/>
          <p:cNvPicPr>
            <a:picLocks noChangeAspect="1"/>
          </p:cNvPicPr>
          <p:nvPr/>
        </p:nvPicPr>
        <p:blipFill>
          <a:blip r:embed="rId2"/>
          <a:stretch>
            <a:fillRect/>
          </a:stretch>
        </p:blipFill>
        <p:spPr>
          <a:xfrm>
            <a:off x="1554480" y="2880360"/>
            <a:ext cx="502920" cy="502920"/>
          </a:xfrm>
          <a:prstGeom prst="rect">
            <a:avLst/>
          </a:prstGeom>
        </p:spPr>
      </p:pic>
      <p:sp>
        <p:nvSpPr>
          <p:cNvPr id="9" name="Text 5"/>
          <p:cNvSpPr/>
          <p:nvPr/>
        </p:nvSpPr>
        <p:spPr>
          <a:xfrm>
            <a:off x="777240" y="3429000"/>
            <a:ext cx="2240280" cy="1051560"/>
          </a:xfrm>
          <a:prstGeom prst="rect">
            <a:avLst/>
          </a:prstGeom>
          <a:noFill/>
          <a:ln/>
        </p:spPr>
        <p:txBody>
          <a:bodyPr wrap="square" lIns="0" tIns="0" rIns="0" bIns="0" rtlCol="0" anchor="t"/>
          <a:lstStyle/>
          <a:p>
            <a:pPr algn="ctr" indent="0" marL="0">
              <a:buNone/>
            </a:pPr>
            <a:r>
              <a:rPr lang="en-US" sz="1300" b="1" dirty="0">
                <a:solidFill>
                  <a:srgbClr val="065A82"/>
                </a:solidFill>
              </a:rPr>
              <a:t>Agent Garden</a:t>
            </a:r>
            <a:endParaRPr lang="en-US" sz="1300" dirty="0"/>
          </a:p>
          <a:p>
            <a:pPr algn="ctr" indent="0" marL="0">
              <a:buNone/>
            </a:pPr>
            <a:endParaRPr lang="en-US" sz="1300" dirty="0"/>
          </a:p>
          <a:p>
            <a:pPr algn="ctr" indent="0" marL="0">
              <a:buNone/>
            </a:pPr>
            <a:r>
              <a:rPr lang="en-US" sz="1000" dirty="0">
                <a:solidFill>
                  <a:srgbClr val="475569"/>
                </a:solidFill>
              </a:rPr>
              <a:t>50以上の事前構築</a:t>
            </a:r>
            <a:endParaRPr lang="en-US" sz="1300" dirty="0"/>
          </a:p>
          <a:p>
            <a:pPr algn="ctr" indent="0" marL="0">
              <a:buNone/>
            </a:pPr>
            <a:r>
              <a:rPr lang="en-US" sz="1000" dirty="0">
                <a:solidFill>
                  <a:srgbClr val="475569"/>
                </a:solidFill>
              </a:rPr>
              <a:t>エージェント群</a:t>
            </a:r>
            <a:endParaRPr lang="en-US" sz="1300" dirty="0"/>
          </a:p>
          <a:p>
            <a:pPr algn="ctr" indent="0" marL="0">
              <a:buNone/>
            </a:pPr>
            <a:r>
              <a:rPr lang="en-US" sz="1000" dirty="0">
                <a:solidFill>
                  <a:srgbClr val="475569"/>
                </a:solidFill>
              </a:rPr>
              <a:t>（Salesforce, SAP,</a:t>
            </a:r>
            <a:endParaRPr lang="en-US" sz="1300" dirty="0"/>
          </a:p>
          <a:p>
            <a:pPr algn="ctr" indent="0" marL="0">
              <a:buNone/>
            </a:pPr>
            <a:r>
              <a:rPr lang="en-US" sz="1000" dirty="0">
                <a:solidFill>
                  <a:srgbClr val="475569"/>
                </a:solidFill>
              </a:rPr>
              <a:t xml:space="preserve"> ServiceNow等）</a:t>
            </a:r>
            <a:endParaRPr lang="en-US" sz="1300" dirty="0"/>
          </a:p>
        </p:txBody>
      </p:sp>
      <p:sp>
        <p:nvSpPr>
          <p:cNvPr id="10" name="Shape 6"/>
          <p:cNvSpPr/>
          <p:nvPr/>
        </p:nvSpPr>
        <p:spPr>
          <a:xfrm>
            <a:off x="3383280" y="2743200"/>
            <a:ext cx="2514600" cy="182880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11" name="Image 2" descr="preencoded.png"/>
          <p:cNvPicPr>
            <a:picLocks noChangeAspect="1"/>
          </p:cNvPicPr>
          <p:nvPr/>
        </p:nvPicPr>
        <p:blipFill>
          <a:blip r:embed="rId3"/>
          <a:stretch>
            <a:fillRect/>
          </a:stretch>
        </p:blipFill>
        <p:spPr>
          <a:xfrm>
            <a:off x="4297680" y="2880360"/>
            <a:ext cx="502920" cy="502920"/>
          </a:xfrm>
          <a:prstGeom prst="rect">
            <a:avLst/>
          </a:prstGeom>
        </p:spPr>
      </p:pic>
      <p:sp>
        <p:nvSpPr>
          <p:cNvPr id="12" name="Text 7"/>
          <p:cNvSpPr/>
          <p:nvPr/>
        </p:nvSpPr>
        <p:spPr>
          <a:xfrm>
            <a:off x="3520440" y="3429000"/>
            <a:ext cx="2240280" cy="1051560"/>
          </a:xfrm>
          <a:prstGeom prst="rect">
            <a:avLst/>
          </a:prstGeom>
          <a:noFill/>
          <a:ln/>
        </p:spPr>
        <p:txBody>
          <a:bodyPr wrap="square" lIns="0" tIns="0" rIns="0" bIns="0" rtlCol="0" anchor="t"/>
          <a:lstStyle/>
          <a:p>
            <a:pPr algn="ctr" indent="0" marL="0">
              <a:buNone/>
            </a:pPr>
            <a:r>
              <a:rPr lang="en-US" sz="1300" b="1" dirty="0">
                <a:solidFill>
                  <a:srgbClr val="065A82"/>
                </a:solidFill>
              </a:rPr>
              <a:t>マーケットプレイス</a:t>
            </a:r>
            <a:endParaRPr lang="en-US" sz="1300" dirty="0"/>
          </a:p>
          <a:p>
            <a:pPr algn="ctr" indent="0" marL="0">
              <a:buNone/>
            </a:pPr>
            <a:endParaRPr lang="en-US" sz="1300" dirty="0"/>
          </a:p>
          <a:p>
            <a:pPr algn="ctr" indent="0" marL="0">
              <a:buNone/>
            </a:pPr>
            <a:r>
              <a:rPr lang="en-US" sz="1000" dirty="0">
                <a:solidFill>
                  <a:srgbClr val="475569"/>
                </a:solidFill>
              </a:rPr>
              <a:t>サードパーティ</a:t>
            </a:r>
            <a:endParaRPr lang="en-US" sz="1300" dirty="0"/>
          </a:p>
          <a:p>
            <a:pPr algn="ctr" indent="0" marL="0">
              <a:buNone/>
            </a:pPr>
            <a:r>
              <a:rPr lang="en-US" sz="1000" dirty="0">
                <a:solidFill>
                  <a:srgbClr val="475569"/>
                </a:solidFill>
              </a:rPr>
              <a:t>エージェントの</a:t>
            </a:r>
            <a:endParaRPr lang="en-US" sz="1300" dirty="0"/>
          </a:p>
          <a:p>
            <a:pPr algn="ctr" indent="0" marL="0">
              <a:buNone/>
            </a:pPr>
            <a:r>
              <a:rPr lang="en-US" sz="1000" dirty="0">
                <a:solidFill>
                  <a:srgbClr val="475569"/>
                </a:solidFill>
              </a:rPr>
              <a:t>登録・検索・評価</a:t>
            </a:r>
            <a:endParaRPr lang="en-US" sz="1300" dirty="0"/>
          </a:p>
          <a:p>
            <a:pPr algn="ctr" indent="0" marL="0">
              <a:buNone/>
            </a:pPr>
            <a:r>
              <a:rPr lang="en-US" sz="1000" dirty="0">
                <a:solidFill>
                  <a:srgbClr val="475569"/>
                </a:solidFill>
              </a:rPr>
              <a:t>プラットフォーム</a:t>
            </a:r>
            <a:endParaRPr lang="en-US" sz="1300" dirty="0"/>
          </a:p>
        </p:txBody>
      </p:sp>
      <p:sp>
        <p:nvSpPr>
          <p:cNvPr id="13" name="Shape 8"/>
          <p:cNvSpPr/>
          <p:nvPr/>
        </p:nvSpPr>
        <p:spPr>
          <a:xfrm>
            <a:off x="6126480" y="2743200"/>
            <a:ext cx="2514600" cy="182880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14" name="Image 3" descr="preencoded.png"/>
          <p:cNvPicPr>
            <a:picLocks noChangeAspect="1"/>
          </p:cNvPicPr>
          <p:nvPr/>
        </p:nvPicPr>
        <p:blipFill>
          <a:blip r:embed="rId4"/>
          <a:stretch>
            <a:fillRect/>
          </a:stretch>
        </p:blipFill>
        <p:spPr>
          <a:xfrm>
            <a:off x="7040880" y="2880360"/>
            <a:ext cx="502920" cy="502920"/>
          </a:xfrm>
          <a:prstGeom prst="rect">
            <a:avLst/>
          </a:prstGeom>
        </p:spPr>
      </p:pic>
      <p:sp>
        <p:nvSpPr>
          <p:cNvPr id="15" name="Text 9"/>
          <p:cNvSpPr/>
          <p:nvPr/>
        </p:nvSpPr>
        <p:spPr>
          <a:xfrm>
            <a:off x="6263640" y="3429000"/>
            <a:ext cx="2240280" cy="1051560"/>
          </a:xfrm>
          <a:prstGeom prst="rect">
            <a:avLst/>
          </a:prstGeom>
          <a:noFill/>
          <a:ln/>
        </p:spPr>
        <p:txBody>
          <a:bodyPr wrap="square" lIns="0" tIns="0" rIns="0" bIns="0" rtlCol="0" anchor="t"/>
          <a:lstStyle/>
          <a:p>
            <a:pPr algn="ctr" indent="0" marL="0">
              <a:buNone/>
            </a:pPr>
            <a:r>
              <a:rPr lang="en-US" sz="1300" b="1" dirty="0">
                <a:solidFill>
                  <a:srgbClr val="065A82"/>
                </a:solidFill>
              </a:rPr>
              <a:t>ガバナンス</a:t>
            </a:r>
            <a:endParaRPr lang="en-US" sz="1300" dirty="0"/>
          </a:p>
          <a:p>
            <a:pPr algn="ctr" indent="0" marL="0">
              <a:buNone/>
            </a:pPr>
            <a:endParaRPr lang="en-US" sz="1300" dirty="0"/>
          </a:p>
          <a:p>
            <a:pPr algn="ctr" indent="0" marL="0">
              <a:buNone/>
            </a:pPr>
            <a:r>
              <a:rPr lang="en-US" sz="1000" dirty="0">
                <a:solidFill>
                  <a:srgbClr val="475569"/>
                </a:solidFill>
              </a:rPr>
              <a:t>エージェント審査</a:t>
            </a:r>
            <a:endParaRPr lang="en-US" sz="1300" dirty="0"/>
          </a:p>
          <a:p>
            <a:pPr algn="ctr" indent="0" marL="0">
              <a:buNone/>
            </a:pPr>
            <a:r>
              <a:rPr lang="en-US" sz="1000" dirty="0">
                <a:solidFill>
                  <a:srgbClr val="475569"/>
                </a:solidFill>
              </a:rPr>
              <a:t>安全性評価</a:t>
            </a:r>
            <a:endParaRPr lang="en-US" sz="1300" dirty="0"/>
          </a:p>
          <a:p>
            <a:pPr algn="ctr" indent="0" marL="0">
              <a:buNone/>
            </a:pPr>
            <a:r>
              <a:rPr lang="en-US" sz="1000" dirty="0">
                <a:solidFill>
                  <a:srgbClr val="475569"/>
                </a:solidFill>
              </a:rPr>
              <a:t>利用ポリシー</a:t>
            </a:r>
            <a:endParaRPr lang="en-US" sz="1300" dirty="0"/>
          </a:p>
          <a:p>
            <a:pPr algn="ctr" indent="0" marL="0">
              <a:buNone/>
            </a:pPr>
            <a:r>
              <a:rPr lang="en-US" sz="1000" dirty="0">
                <a:solidFill>
                  <a:srgbClr val="475569"/>
                </a:solidFill>
              </a:rPr>
              <a:t>アクセス制御</a:t>
            </a:r>
            <a:endParaRPr lang="en-US" sz="1300" dirty="0"/>
          </a:p>
        </p:txBody>
      </p:sp>
      <p:sp>
        <p:nvSpPr>
          <p:cNvPr id="16" name="Shape 10"/>
          <p:cNvSpPr/>
          <p:nvPr/>
        </p:nvSpPr>
        <p:spPr>
          <a:xfrm>
            <a:off x="0" y="4754880"/>
            <a:ext cx="9144000" cy="388620"/>
          </a:xfrm>
          <a:prstGeom prst="rect">
            <a:avLst/>
          </a:prstGeom>
          <a:solidFill>
            <a:srgbClr val="1E2761"/>
          </a:solidFill>
          <a:ln/>
        </p:spPr>
      </p:sp>
      <p:sp>
        <p:nvSpPr>
          <p:cNvPr id="17" name="Text 11"/>
          <p:cNvSpPr/>
          <p:nvPr/>
        </p:nvSpPr>
        <p:spPr>
          <a:xfrm>
            <a:off x="457200" y="4754880"/>
            <a:ext cx="8229600" cy="38862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出典: Google Cloud Next 2025 / Vertex AI Agent Builder Documentation</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96"/>
          </a:solidFill>
          <a:ln/>
        </p:spPr>
      </p:sp>
      <p:sp>
        <p:nvSpPr>
          <p:cNvPr id="3" name="Text 1"/>
          <p:cNvSpPr/>
          <p:nvPr/>
        </p:nvSpPr>
        <p:spPr>
          <a:xfrm>
            <a:off x="640080" y="228600"/>
            <a:ext cx="8229600" cy="548640"/>
          </a:xfrm>
          <a:prstGeom prst="rect">
            <a:avLst/>
          </a:prstGeom>
          <a:noFill/>
          <a:ln/>
        </p:spPr>
        <p:txBody>
          <a:bodyPr wrap="square" lIns="0" tIns="0" rIns="0" bIns="0" rtlCol="0" anchor="ctr"/>
          <a:lstStyle/>
          <a:p>
            <a:pPr indent="0" marL="0">
              <a:buNone/>
            </a:pPr>
            <a:r>
              <a:rPr lang="en-US" sz="2800" b="1" dirty="0">
                <a:solidFill>
                  <a:srgbClr val="1E2761"/>
                </a:solidFill>
                <a:latin typeface="Georgia" pitchFamily="34" charset="0"/>
                <a:ea typeface="Georgia" pitchFamily="34" charset="-122"/>
                <a:cs typeface="Georgia" pitchFamily="34" charset="-120"/>
              </a:rPr>
              <a:t>AAIF への「移管」とは何か</a:t>
            </a:r>
            <a:endParaRPr lang="en-US" sz="2800" dirty="0"/>
          </a:p>
        </p:txBody>
      </p:sp>
      <p:sp>
        <p:nvSpPr>
          <p:cNvPr id="4" name="Shape 2"/>
          <p:cNvSpPr/>
          <p:nvPr/>
        </p:nvSpPr>
        <p:spPr>
          <a:xfrm>
            <a:off x="640080" y="914400"/>
            <a:ext cx="3657600" cy="15087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5" name="Shape 3"/>
          <p:cNvSpPr/>
          <p:nvPr/>
        </p:nvSpPr>
        <p:spPr>
          <a:xfrm>
            <a:off x="640080" y="914400"/>
            <a:ext cx="3657600" cy="411480"/>
          </a:xfrm>
          <a:prstGeom prst="rect">
            <a:avLst/>
          </a:prstGeom>
          <a:solidFill>
            <a:srgbClr val="B91C1C"/>
          </a:solidFill>
          <a:ln/>
        </p:spPr>
      </p:sp>
      <p:sp>
        <p:nvSpPr>
          <p:cNvPr id="6" name="Text 4"/>
          <p:cNvSpPr/>
          <p:nvPr/>
        </p:nvSpPr>
        <p:spPr>
          <a:xfrm>
            <a:off x="822960" y="914400"/>
            <a:ext cx="3291840" cy="41148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移管前：各社が単独で仕様を管理</a:t>
            </a:r>
            <a:endParaRPr lang="en-US" sz="1200" dirty="0"/>
          </a:p>
        </p:txBody>
      </p:sp>
      <p:sp>
        <p:nvSpPr>
          <p:cNvPr id="7" name="Text 5"/>
          <p:cNvSpPr/>
          <p:nvPr/>
        </p:nvSpPr>
        <p:spPr>
          <a:xfrm>
            <a:off x="822960" y="1417320"/>
            <a:ext cx="3291840" cy="914400"/>
          </a:xfrm>
          <a:prstGeom prst="rect">
            <a:avLst/>
          </a:prstGeom>
          <a:noFill/>
          <a:ln/>
        </p:spPr>
        <p:txBody>
          <a:bodyPr wrap="square" lIns="0" tIns="0" rIns="0" bIns="0" rtlCol="0" anchor="t"/>
          <a:lstStyle/>
          <a:p>
            <a:pPr marL="342900" indent="-342900">
              <a:buSzPct val="100000"/>
              <a:buChar char="•"/>
            </a:pPr>
            <a:r>
              <a:rPr lang="en-US" sz="1000" dirty="0">
                <a:solidFill>
                  <a:srgbClr val="1E293B"/>
                </a:solidFill>
              </a:rPr>
              <a:t>A2A → Google が所有・意思決定</a:t>
            </a:r>
            <a:endParaRPr lang="en-US" sz="1000" dirty="0"/>
          </a:p>
          <a:p>
            <a:pPr marL="342900" indent="-342900">
              <a:buSzPct val="100000"/>
              <a:buChar char="•"/>
            </a:pPr>
            <a:r>
              <a:rPr lang="en-US" sz="1000" dirty="0">
                <a:solidFill>
                  <a:srgbClr val="1E293B"/>
                </a:solidFill>
              </a:rPr>
              <a:t>MCP → Anthropic が所有・意思決定</a:t>
            </a:r>
            <a:endParaRPr lang="en-US" sz="1000" dirty="0"/>
          </a:p>
          <a:p>
            <a:pPr marL="342900" indent="-342900">
              <a:buSzPct val="100000"/>
              <a:buChar char="•"/>
            </a:pPr>
            <a:r>
              <a:rPr lang="en-US" sz="1000" b="1" dirty="0">
                <a:solidFill>
                  <a:srgbClr val="B91C1C"/>
                </a:solidFill>
              </a:rPr>
              <a:t>「自社に有利な仕様変更」の懸念</a:t>
            </a:r>
            <a:endParaRPr lang="en-US" sz="1000" dirty="0"/>
          </a:p>
        </p:txBody>
      </p:sp>
      <p:pic>
        <p:nvPicPr>
          <p:cNvPr id="8" name="Image 0" descr="preencoded.png"/>
          <p:cNvPicPr>
            <a:picLocks noChangeAspect="1"/>
          </p:cNvPicPr>
          <p:nvPr/>
        </p:nvPicPr>
        <p:blipFill>
          <a:blip r:embed="rId1"/>
          <a:stretch>
            <a:fillRect/>
          </a:stretch>
        </p:blipFill>
        <p:spPr>
          <a:xfrm>
            <a:off x="4343400" y="1417320"/>
            <a:ext cx="457200" cy="457200"/>
          </a:xfrm>
          <a:prstGeom prst="rect">
            <a:avLst/>
          </a:prstGeom>
        </p:spPr>
      </p:pic>
      <p:sp>
        <p:nvSpPr>
          <p:cNvPr id="9" name="Shape 6"/>
          <p:cNvSpPr/>
          <p:nvPr/>
        </p:nvSpPr>
        <p:spPr>
          <a:xfrm>
            <a:off x="4846320" y="914400"/>
            <a:ext cx="3840480" cy="15087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0" name="Shape 7"/>
          <p:cNvSpPr/>
          <p:nvPr/>
        </p:nvSpPr>
        <p:spPr>
          <a:xfrm>
            <a:off x="4846320" y="914400"/>
            <a:ext cx="3840480" cy="411480"/>
          </a:xfrm>
          <a:prstGeom prst="rect">
            <a:avLst/>
          </a:prstGeom>
          <a:solidFill>
            <a:srgbClr val="00A896"/>
          </a:solidFill>
          <a:ln/>
        </p:spPr>
      </p:sp>
      <p:sp>
        <p:nvSpPr>
          <p:cNvPr id="11" name="Text 8"/>
          <p:cNvSpPr/>
          <p:nvPr/>
        </p:nvSpPr>
        <p:spPr>
          <a:xfrm>
            <a:off x="5029200" y="914400"/>
            <a:ext cx="3474720" cy="41148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移管後：中立的な財団が仕様を管理</a:t>
            </a:r>
            <a:endParaRPr lang="en-US" sz="1200" dirty="0"/>
          </a:p>
        </p:txBody>
      </p:sp>
      <p:sp>
        <p:nvSpPr>
          <p:cNvPr id="12" name="Text 9"/>
          <p:cNvSpPr/>
          <p:nvPr/>
        </p:nvSpPr>
        <p:spPr>
          <a:xfrm>
            <a:off x="5029200" y="1417320"/>
            <a:ext cx="3474720" cy="914400"/>
          </a:xfrm>
          <a:prstGeom prst="rect">
            <a:avLst/>
          </a:prstGeom>
          <a:noFill/>
          <a:ln/>
        </p:spPr>
        <p:txBody>
          <a:bodyPr wrap="square" lIns="0" tIns="0" rIns="0" bIns="0" rtlCol="0" anchor="t"/>
          <a:lstStyle/>
          <a:p>
            <a:pPr marL="342900" indent="-342900">
              <a:buSzPct val="100000"/>
              <a:buChar char="•"/>
            </a:pPr>
            <a:r>
              <a:rPr lang="en-US" sz="1000" dirty="0">
                <a:solidFill>
                  <a:srgbClr val="1E293B"/>
                </a:solidFill>
              </a:rPr>
              <a:t>仕様変更はオープンガバナンス（投票・レビュー）</a:t>
            </a:r>
            <a:endParaRPr lang="en-US" sz="1000" dirty="0"/>
          </a:p>
          <a:p>
            <a:pPr marL="342900" indent="-342900">
              <a:buSzPct val="100000"/>
              <a:buChar char="•"/>
            </a:pPr>
            <a:r>
              <a:rPr lang="en-US" sz="1000" dirty="0">
                <a:solidFill>
                  <a:srgbClr val="1E293B"/>
                </a:solidFill>
              </a:rPr>
              <a:t>Google/Anthropicも他の146組織と同じ立場</a:t>
            </a:r>
            <a:endParaRPr lang="en-US" sz="1000" dirty="0"/>
          </a:p>
          <a:p>
            <a:pPr marL="342900" indent="-342900">
              <a:buSzPct val="100000"/>
              <a:buChar char="•"/>
            </a:pPr>
            <a:r>
              <a:rPr lang="en-US" sz="1000" b="1" dirty="0">
                <a:solidFill>
                  <a:srgbClr val="00A896"/>
                </a:solidFill>
              </a:rPr>
              <a:t>Kubernetes → CNCF と同じパターン</a:t>
            </a:r>
            <a:endParaRPr lang="en-US" sz="1000" dirty="0"/>
          </a:p>
        </p:txBody>
      </p:sp>
      <p:sp>
        <p:nvSpPr>
          <p:cNvPr id="13" name="Text 10"/>
          <p:cNvSpPr/>
          <p:nvPr/>
        </p:nvSpPr>
        <p:spPr>
          <a:xfrm>
            <a:off x="640080" y="2606040"/>
            <a:ext cx="3657600" cy="320040"/>
          </a:xfrm>
          <a:prstGeom prst="rect">
            <a:avLst/>
          </a:prstGeom>
          <a:noFill/>
          <a:ln/>
        </p:spPr>
        <p:txBody>
          <a:bodyPr wrap="square" lIns="0" tIns="0" rIns="0" bIns="0" rtlCol="0" anchor="ctr"/>
          <a:lstStyle/>
          <a:p>
            <a:pPr indent="0" marL="0">
              <a:buNone/>
            </a:pPr>
            <a:r>
              <a:rPr lang="en-US" sz="1400" b="1" dirty="0">
                <a:solidFill>
                  <a:srgbClr val="1E2761"/>
                </a:solidFill>
                <a:latin typeface="Georgia" pitchFamily="34" charset="0"/>
                <a:ea typeface="Georgia" pitchFamily="34" charset="-122"/>
                <a:cs typeface="Georgia" pitchFamily="34" charset="-120"/>
              </a:rPr>
              <a:t>AAIF コアプロジェクト</a:t>
            </a:r>
            <a:endParaRPr lang="en-US" sz="1400" dirty="0"/>
          </a:p>
        </p:txBody>
      </p:sp>
      <p:sp>
        <p:nvSpPr>
          <p:cNvPr id="14" name="Shape 11"/>
          <p:cNvSpPr/>
          <p:nvPr/>
        </p:nvSpPr>
        <p:spPr>
          <a:xfrm>
            <a:off x="640080" y="3017520"/>
            <a:ext cx="2514600" cy="10058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5" name="Shape 12"/>
          <p:cNvSpPr/>
          <p:nvPr/>
        </p:nvSpPr>
        <p:spPr>
          <a:xfrm>
            <a:off x="640080" y="3017520"/>
            <a:ext cx="2514600" cy="45720"/>
          </a:xfrm>
          <a:prstGeom prst="rect">
            <a:avLst/>
          </a:prstGeom>
          <a:solidFill>
            <a:srgbClr val="6D2E46"/>
          </a:solidFill>
          <a:ln/>
        </p:spPr>
      </p:sp>
      <p:sp>
        <p:nvSpPr>
          <p:cNvPr id="16" name="Text 13"/>
          <p:cNvSpPr/>
          <p:nvPr/>
        </p:nvSpPr>
        <p:spPr>
          <a:xfrm>
            <a:off x="749808" y="3090672"/>
            <a:ext cx="2286000" cy="868680"/>
          </a:xfrm>
          <a:prstGeom prst="rect">
            <a:avLst/>
          </a:prstGeom>
          <a:noFill/>
          <a:ln/>
        </p:spPr>
        <p:txBody>
          <a:bodyPr wrap="square" lIns="0" tIns="0" rIns="0" bIns="0" rtlCol="0" anchor="t"/>
          <a:lstStyle/>
          <a:p>
            <a:pPr indent="0" marL="0">
              <a:buNone/>
            </a:pPr>
            <a:r>
              <a:rPr lang="en-US" sz="1300" b="1" dirty="0">
                <a:solidFill>
                  <a:srgbClr val="065A82"/>
                </a:solidFill>
              </a:rPr>
              <a:t>MCP</a:t>
            </a:r>
            <a:endParaRPr lang="en-US" sz="1300" dirty="0"/>
          </a:p>
          <a:p>
            <a:pPr indent="0" marL="0">
              <a:buNone/>
            </a:pPr>
            <a:r>
              <a:rPr lang="en-US" sz="900" dirty="0">
                <a:solidFill>
                  <a:srgbClr val="475569"/>
                </a:solidFill>
              </a:rPr>
              <a:t>Anthropic寄贈</a:t>
            </a:r>
            <a:endParaRPr lang="en-US" sz="1300" dirty="0"/>
          </a:p>
          <a:p>
            <a:pPr indent="0" marL="0">
              <a:buNone/>
            </a:pPr>
            <a:r>
              <a:rPr lang="en-US" sz="950" dirty="0">
                <a:solidFill>
                  <a:srgbClr val="1E293B"/>
                </a:solidFill>
              </a:rPr>
              <a:t>AI↔ツール接続プロトコル</a:t>
            </a:r>
            <a:endParaRPr lang="en-US" sz="1300" dirty="0"/>
          </a:p>
          <a:p>
            <a:pPr indent="0" marL="0">
              <a:buNone/>
            </a:pPr>
            <a:r>
              <a:rPr lang="en-US" sz="950" dirty="0">
                <a:solidFill>
                  <a:srgbClr val="1E293B"/>
                </a:solidFill>
              </a:rPr>
              <a:t>月間9,700万DL</a:t>
            </a:r>
            <a:endParaRPr lang="en-US" sz="1300" dirty="0"/>
          </a:p>
        </p:txBody>
      </p:sp>
      <p:sp>
        <p:nvSpPr>
          <p:cNvPr id="17" name="Shape 14"/>
          <p:cNvSpPr/>
          <p:nvPr/>
        </p:nvSpPr>
        <p:spPr>
          <a:xfrm>
            <a:off x="3383280" y="3017520"/>
            <a:ext cx="2514600" cy="10058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8" name="Shape 15"/>
          <p:cNvSpPr/>
          <p:nvPr/>
        </p:nvSpPr>
        <p:spPr>
          <a:xfrm>
            <a:off x="3383280" y="3017520"/>
            <a:ext cx="2514600" cy="45720"/>
          </a:xfrm>
          <a:prstGeom prst="rect">
            <a:avLst/>
          </a:prstGeom>
          <a:solidFill>
            <a:srgbClr val="1E293B"/>
          </a:solidFill>
          <a:ln/>
        </p:spPr>
      </p:sp>
      <p:sp>
        <p:nvSpPr>
          <p:cNvPr id="19" name="Text 16"/>
          <p:cNvSpPr/>
          <p:nvPr/>
        </p:nvSpPr>
        <p:spPr>
          <a:xfrm>
            <a:off x="3493008" y="3090672"/>
            <a:ext cx="2286000" cy="868680"/>
          </a:xfrm>
          <a:prstGeom prst="rect">
            <a:avLst/>
          </a:prstGeom>
          <a:noFill/>
          <a:ln/>
        </p:spPr>
        <p:txBody>
          <a:bodyPr wrap="square" lIns="0" tIns="0" rIns="0" bIns="0" rtlCol="0" anchor="t"/>
          <a:lstStyle/>
          <a:p>
            <a:pPr indent="0" marL="0">
              <a:buNone/>
            </a:pPr>
            <a:r>
              <a:rPr lang="en-US" sz="1300" b="1" dirty="0">
                <a:solidFill>
                  <a:srgbClr val="065A82"/>
                </a:solidFill>
              </a:rPr>
              <a:t>AGENTS.md</a:t>
            </a:r>
            <a:endParaRPr lang="en-US" sz="1300" dirty="0"/>
          </a:p>
          <a:p>
            <a:pPr indent="0" marL="0">
              <a:buNone/>
            </a:pPr>
            <a:r>
              <a:rPr lang="en-US" sz="900" dirty="0">
                <a:solidFill>
                  <a:srgbClr val="475569"/>
                </a:solidFill>
              </a:rPr>
              <a:t>OpenAI寄贈</a:t>
            </a:r>
            <a:endParaRPr lang="en-US" sz="1300" dirty="0"/>
          </a:p>
          <a:p>
            <a:pPr indent="0" marL="0">
              <a:buNone/>
            </a:pPr>
            <a:r>
              <a:rPr lang="en-US" sz="950" dirty="0">
                <a:solidFill>
                  <a:srgbClr val="1E293B"/>
                </a:solidFill>
              </a:rPr>
              <a:t>AIコーディングエージェント</a:t>
            </a:r>
            <a:endParaRPr lang="en-US" sz="1300" dirty="0"/>
          </a:p>
          <a:p>
            <a:pPr indent="0" marL="0">
              <a:buNone/>
            </a:pPr>
            <a:r>
              <a:rPr lang="en-US" sz="950" dirty="0">
                <a:solidFill>
                  <a:srgbClr val="1E293B"/>
                </a:solidFill>
              </a:rPr>
              <a:t>向けプロジェクト設定標準</a:t>
            </a:r>
            <a:endParaRPr lang="en-US" sz="1300" dirty="0"/>
          </a:p>
        </p:txBody>
      </p:sp>
      <p:sp>
        <p:nvSpPr>
          <p:cNvPr id="20" name="Shape 17"/>
          <p:cNvSpPr/>
          <p:nvPr/>
        </p:nvSpPr>
        <p:spPr>
          <a:xfrm>
            <a:off x="6126480" y="3017520"/>
            <a:ext cx="2514600" cy="10058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1" name="Shape 18"/>
          <p:cNvSpPr/>
          <p:nvPr/>
        </p:nvSpPr>
        <p:spPr>
          <a:xfrm>
            <a:off x="6126480" y="3017520"/>
            <a:ext cx="2514600" cy="45720"/>
          </a:xfrm>
          <a:prstGeom prst="rect">
            <a:avLst/>
          </a:prstGeom>
          <a:solidFill>
            <a:srgbClr val="F9A825"/>
          </a:solidFill>
          <a:ln/>
        </p:spPr>
      </p:sp>
      <p:sp>
        <p:nvSpPr>
          <p:cNvPr id="22" name="Text 19"/>
          <p:cNvSpPr/>
          <p:nvPr/>
        </p:nvSpPr>
        <p:spPr>
          <a:xfrm>
            <a:off x="6236208" y="3090672"/>
            <a:ext cx="2286000" cy="868680"/>
          </a:xfrm>
          <a:prstGeom prst="rect">
            <a:avLst/>
          </a:prstGeom>
          <a:noFill/>
          <a:ln/>
        </p:spPr>
        <p:txBody>
          <a:bodyPr wrap="square" lIns="0" tIns="0" rIns="0" bIns="0" rtlCol="0" anchor="t"/>
          <a:lstStyle/>
          <a:p>
            <a:pPr indent="0" marL="0">
              <a:buNone/>
            </a:pPr>
            <a:r>
              <a:rPr lang="en-US" sz="1300" b="1" dirty="0">
                <a:solidFill>
                  <a:srgbClr val="065A82"/>
                </a:solidFill>
              </a:rPr>
              <a:t>goose</a:t>
            </a:r>
            <a:endParaRPr lang="en-US" sz="1300" dirty="0"/>
          </a:p>
          <a:p>
            <a:pPr indent="0" marL="0">
              <a:buNone/>
            </a:pPr>
            <a:r>
              <a:rPr lang="en-US" sz="900" dirty="0">
                <a:solidFill>
                  <a:srgbClr val="475569"/>
                </a:solidFill>
              </a:rPr>
              <a:t>Block寄贈</a:t>
            </a:r>
            <a:endParaRPr lang="en-US" sz="1300" dirty="0"/>
          </a:p>
          <a:p>
            <a:pPr indent="0" marL="0">
              <a:buNone/>
            </a:pPr>
            <a:r>
              <a:rPr lang="en-US" sz="950" dirty="0">
                <a:solidFill>
                  <a:srgbClr val="1E293B"/>
                </a:solidFill>
              </a:rPr>
              <a:t>MCPリファレンス実装</a:t>
            </a:r>
            <a:endParaRPr lang="en-US" sz="1300" dirty="0"/>
          </a:p>
          <a:p>
            <a:pPr indent="0" marL="0">
              <a:buNone/>
            </a:pPr>
            <a:r>
              <a:rPr lang="en-US" sz="950" dirty="0">
                <a:solidFill>
                  <a:srgbClr val="1E293B"/>
                </a:solidFill>
              </a:rPr>
              <a:t>OSSフレームワーク</a:t>
            </a:r>
            <a:endParaRPr lang="en-US" sz="1300" dirty="0"/>
          </a:p>
        </p:txBody>
      </p:sp>
      <p:sp>
        <p:nvSpPr>
          <p:cNvPr id="23" name="Shape 20"/>
          <p:cNvSpPr/>
          <p:nvPr/>
        </p:nvSpPr>
        <p:spPr>
          <a:xfrm>
            <a:off x="640080" y="4206240"/>
            <a:ext cx="7863840" cy="4572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4" name="Text 21"/>
          <p:cNvSpPr/>
          <p:nvPr/>
        </p:nvSpPr>
        <p:spPr>
          <a:xfrm>
            <a:off x="822960" y="4206240"/>
            <a:ext cx="7498080" cy="457200"/>
          </a:xfrm>
          <a:prstGeom prst="rect">
            <a:avLst/>
          </a:prstGeom>
          <a:noFill/>
          <a:ln/>
        </p:spPr>
        <p:txBody>
          <a:bodyPr wrap="square" lIns="0" tIns="0" rIns="0" bIns="0" rtlCol="0" anchor="ctr"/>
          <a:lstStyle/>
          <a:p>
            <a:pPr indent="0" marL="0">
              <a:buNone/>
            </a:pPr>
            <a:r>
              <a:rPr lang="en-US" sz="1000" b="1" dirty="0">
                <a:solidFill>
                  <a:srgbClr val="1E2761"/>
                </a:solidFill>
              </a:rPr>
              <a:t xml:space="preserve">Platinum: </a:t>
            </a:r>
            <a:pPr indent="0" marL="0">
              <a:buNone/>
            </a:pPr>
            <a:r>
              <a:rPr lang="en-US" sz="1000" dirty="0">
                <a:solidFill>
                  <a:srgbClr val="065A82"/>
                </a:solidFill>
              </a:rPr>
              <a:t>AWS | Anthropic | Block | Bloomberg | Cloudflare | Google | Microsoft | OpenAI</a:t>
            </a:r>
            <a:pPr indent="0" marL="0">
              <a:buNone/>
            </a:pPr>
            <a:r>
              <a:rPr lang="en-US" sz="1000" b="1" dirty="0">
                <a:solidFill>
                  <a:srgbClr val="00A896"/>
                </a:solidFill>
              </a:rPr>
              <a:t xml:space="preserve">  計146組織</a:t>
            </a:r>
            <a:endParaRPr lang="en-US" sz="1000" dirty="0"/>
          </a:p>
        </p:txBody>
      </p:sp>
      <p:sp>
        <p:nvSpPr>
          <p:cNvPr id="25" name="Shape 22"/>
          <p:cNvSpPr/>
          <p:nvPr/>
        </p:nvSpPr>
        <p:spPr>
          <a:xfrm>
            <a:off x="0" y="4754880"/>
            <a:ext cx="9144000" cy="388620"/>
          </a:xfrm>
          <a:prstGeom prst="rect">
            <a:avLst/>
          </a:prstGeom>
          <a:solidFill>
            <a:srgbClr val="1E2761"/>
          </a:solidFill>
          <a:ln/>
        </p:spPr>
      </p:sp>
      <p:sp>
        <p:nvSpPr>
          <p:cNvPr id="26" name="Text 23"/>
          <p:cNvSpPr/>
          <p:nvPr/>
        </p:nvSpPr>
        <p:spPr>
          <a:xfrm>
            <a:off x="457200" y="4754880"/>
            <a:ext cx="8229600" cy="38862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出典: Linux Foundation AAIF プレスリリース (2025年12月) / aaif.io</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96"/>
          </a:solidFill>
          <a:ln/>
        </p:spPr>
      </p:sp>
      <p:sp>
        <p:nvSpPr>
          <p:cNvPr id="3" name="Text 1"/>
          <p:cNvSpPr/>
          <p:nvPr/>
        </p:nvSpPr>
        <p:spPr>
          <a:xfrm>
            <a:off x="640080" y="274320"/>
            <a:ext cx="8229600" cy="640080"/>
          </a:xfrm>
          <a:prstGeom prst="rect">
            <a:avLst/>
          </a:prstGeom>
          <a:noFill/>
          <a:ln/>
        </p:spPr>
        <p:txBody>
          <a:bodyPr wrap="square" lIns="0" tIns="0" rIns="0" bIns="0" rtlCol="0" anchor="ctr"/>
          <a:lstStyle/>
          <a:p>
            <a:pPr indent="0" marL="0">
              <a:buNone/>
            </a:pPr>
            <a:r>
              <a:rPr lang="en-US" sz="2600" b="1" dirty="0">
                <a:solidFill>
                  <a:srgbClr val="1E2761"/>
                </a:solidFill>
                <a:latin typeface="Georgia" pitchFamily="34" charset="0"/>
                <a:ea typeface="Georgia" pitchFamily="34" charset="-122"/>
                <a:cs typeface="Georgia" pitchFamily="34" charset="-120"/>
              </a:rPr>
              <a:t>Google Agentspace（現 Gemini Enterprise）詳解</a:t>
            </a:r>
            <a:endParaRPr lang="en-US" sz="2600" dirty="0"/>
          </a:p>
        </p:txBody>
      </p:sp>
      <p:sp>
        <p:nvSpPr>
          <p:cNvPr id="4" name="Shape 2"/>
          <p:cNvSpPr/>
          <p:nvPr/>
        </p:nvSpPr>
        <p:spPr>
          <a:xfrm>
            <a:off x="640080" y="1051560"/>
            <a:ext cx="7863840" cy="731520"/>
          </a:xfrm>
          <a:prstGeom prst="rect">
            <a:avLst/>
          </a:prstGeom>
          <a:solidFill>
            <a:srgbClr val="065A82"/>
          </a:solidFill>
          <a:ln/>
          <a:effectLst>
            <a:outerShdw sx="100000" sy="100000" kx="0" ky="0" algn="bl" rotWithShape="0" blurRad="76200" dist="25400" dir="8100000">
              <a:srgbClr val="000000">
                <a:alpha val="12000"/>
              </a:srgbClr>
            </a:outerShdw>
          </a:effectLst>
        </p:spPr>
      </p:sp>
      <p:sp>
        <p:nvSpPr>
          <p:cNvPr id="5" name="Text 3"/>
          <p:cNvSpPr/>
          <p:nvPr/>
        </p:nvSpPr>
        <p:spPr>
          <a:xfrm>
            <a:off x="914400" y="1051560"/>
            <a:ext cx="7315200" cy="73152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Vertex AI上のエンタープライズ向けAIエージェント統合プラットフォーム — 発見・作成・運用を一気通貫で提供</a:t>
            </a:r>
            <a:endParaRPr lang="en-US" sz="1300" dirty="0"/>
          </a:p>
        </p:txBody>
      </p:sp>
      <p:sp>
        <p:nvSpPr>
          <p:cNvPr id="6" name="Shape 4"/>
          <p:cNvSpPr/>
          <p:nvPr/>
        </p:nvSpPr>
        <p:spPr>
          <a:xfrm>
            <a:off x="457200" y="1965960"/>
            <a:ext cx="1965960" cy="228600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7" name="Image 0" descr="preencoded.png"/>
          <p:cNvPicPr>
            <a:picLocks noChangeAspect="1"/>
          </p:cNvPicPr>
          <p:nvPr/>
        </p:nvPicPr>
        <p:blipFill>
          <a:blip r:embed="rId1"/>
          <a:stretch>
            <a:fillRect/>
          </a:stretch>
        </p:blipFill>
        <p:spPr>
          <a:xfrm>
            <a:off x="1143000" y="2103120"/>
            <a:ext cx="457200" cy="457200"/>
          </a:xfrm>
          <a:prstGeom prst="rect">
            <a:avLst/>
          </a:prstGeom>
        </p:spPr>
      </p:pic>
      <p:sp>
        <p:nvSpPr>
          <p:cNvPr id="8" name="Text 5"/>
          <p:cNvSpPr/>
          <p:nvPr/>
        </p:nvSpPr>
        <p:spPr>
          <a:xfrm>
            <a:off x="548640" y="2606040"/>
            <a:ext cx="1783080" cy="1554480"/>
          </a:xfrm>
          <a:prstGeom prst="rect">
            <a:avLst/>
          </a:prstGeom>
          <a:noFill/>
          <a:ln/>
        </p:spPr>
        <p:txBody>
          <a:bodyPr wrap="square" lIns="0" tIns="0" rIns="0" bIns="0" rtlCol="0" anchor="t"/>
          <a:lstStyle/>
          <a:p>
            <a:pPr algn="ctr" indent="0" marL="0">
              <a:buNone/>
            </a:pPr>
            <a:r>
              <a:rPr lang="en-US" sz="1200" b="1" dirty="0">
                <a:solidFill>
                  <a:srgbClr val="065A82"/>
                </a:solidFill>
              </a:rPr>
              <a:t>Agent Gallery</a:t>
            </a:r>
            <a:endParaRPr lang="en-US" sz="1200" dirty="0"/>
          </a:p>
          <a:p>
            <a:pPr algn="ctr" indent="0" marL="0">
              <a:buNone/>
            </a:pPr>
            <a:endParaRPr lang="en-US" sz="1200" dirty="0"/>
          </a:p>
          <a:p>
            <a:pPr algn="ctr" indent="0" marL="0">
              <a:buNone/>
            </a:pPr>
            <a:r>
              <a:rPr lang="en-US" sz="1000" dirty="0">
                <a:solidFill>
                  <a:srgbClr val="475569"/>
                </a:solidFill>
              </a:rPr>
              <a:t>Google・社内・パートナー製</a:t>
            </a:r>
            <a:endParaRPr lang="en-US" sz="1200" dirty="0"/>
          </a:p>
          <a:p>
            <a:pPr algn="ctr" indent="0" marL="0">
              <a:buNone/>
            </a:pPr>
            <a:r>
              <a:rPr lang="en-US" sz="1000" dirty="0">
                <a:solidFill>
                  <a:srgbClr val="475569"/>
                </a:solidFill>
              </a:rPr>
              <a:t>エージェントを一覧表示</a:t>
            </a:r>
            <a:endParaRPr lang="en-US" sz="1200" dirty="0"/>
          </a:p>
          <a:p>
            <a:pPr algn="ctr" indent="0" marL="0">
              <a:buNone/>
            </a:pPr>
            <a:r>
              <a:rPr lang="en-US" sz="1000" dirty="0">
                <a:solidFill>
                  <a:srgbClr val="475569"/>
                </a:solidFill>
              </a:rPr>
              <a:t>Deep Researchなど</a:t>
            </a:r>
            <a:endParaRPr lang="en-US" sz="1200" dirty="0"/>
          </a:p>
          <a:p>
            <a:pPr algn="ctr" indent="0" marL="0">
              <a:buNone/>
            </a:pPr>
            <a:r>
              <a:rPr lang="en-US" sz="1000" dirty="0">
                <a:solidFill>
                  <a:srgbClr val="475569"/>
                </a:solidFill>
              </a:rPr>
              <a:t>Expertエージェント提供</a:t>
            </a:r>
            <a:endParaRPr lang="en-US" sz="1200" dirty="0"/>
          </a:p>
        </p:txBody>
      </p:sp>
      <p:sp>
        <p:nvSpPr>
          <p:cNvPr id="9" name="Shape 6"/>
          <p:cNvSpPr/>
          <p:nvPr/>
        </p:nvSpPr>
        <p:spPr>
          <a:xfrm>
            <a:off x="2606040" y="1965960"/>
            <a:ext cx="1965960" cy="228600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10" name="Image 1" descr="preencoded.png"/>
          <p:cNvPicPr>
            <a:picLocks noChangeAspect="1"/>
          </p:cNvPicPr>
          <p:nvPr/>
        </p:nvPicPr>
        <p:blipFill>
          <a:blip r:embed="rId2"/>
          <a:stretch>
            <a:fillRect/>
          </a:stretch>
        </p:blipFill>
        <p:spPr>
          <a:xfrm>
            <a:off x="3291840" y="2103120"/>
            <a:ext cx="457200" cy="457200"/>
          </a:xfrm>
          <a:prstGeom prst="rect">
            <a:avLst/>
          </a:prstGeom>
        </p:spPr>
      </p:pic>
      <p:sp>
        <p:nvSpPr>
          <p:cNvPr id="11" name="Text 7"/>
          <p:cNvSpPr/>
          <p:nvPr/>
        </p:nvSpPr>
        <p:spPr>
          <a:xfrm>
            <a:off x="2697480" y="2606040"/>
            <a:ext cx="1783080" cy="1554480"/>
          </a:xfrm>
          <a:prstGeom prst="rect">
            <a:avLst/>
          </a:prstGeom>
          <a:noFill/>
          <a:ln/>
        </p:spPr>
        <p:txBody>
          <a:bodyPr wrap="square" lIns="0" tIns="0" rIns="0" bIns="0" rtlCol="0" anchor="t"/>
          <a:lstStyle/>
          <a:p>
            <a:pPr algn="ctr" indent="0" marL="0">
              <a:buNone/>
            </a:pPr>
            <a:r>
              <a:rPr lang="en-US" sz="1200" b="1" dirty="0">
                <a:solidFill>
                  <a:srgbClr val="065A82"/>
                </a:solidFill>
              </a:rPr>
              <a:t>Agent Designer</a:t>
            </a:r>
            <a:endParaRPr lang="en-US" sz="1200" dirty="0"/>
          </a:p>
          <a:p>
            <a:pPr algn="ctr" indent="0" marL="0">
              <a:buNone/>
            </a:pPr>
            <a:endParaRPr lang="en-US" sz="1200" dirty="0"/>
          </a:p>
          <a:p>
            <a:pPr algn="ctr" indent="0" marL="0">
              <a:buNone/>
            </a:pPr>
            <a:r>
              <a:rPr lang="en-US" sz="1000" dirty="0">
                <a:solidFill>
                  <a:srgbClr val="475569"/>
                </a:solidFill>
              </a:rPr>
              <a:t>ノーコードでカスタム</a:t>
            </a:r>
            <a:endParaRPr lang="en-US" sz="1200" dirty="0"/>
          </a:p>
          <a:p>
            <a:pPr algn="ctr" indent="0" marL="0">
              <a:buNone/>
            </a:pPr>
            <a:r>
              <a:rPr lang="en-US" sz="1000" dirty="0">
                <a:solidFill>
                  <a:srgbClr val="475569"/>
                </a:solidFill>
              </a:rPr>
              <a:t>エージェント作成</a:t>
            </a:r>
            <a:endParaRPr lang="en-US" sz="1200" dirty="0"/>
          </a:p>
          <a:p>
            <a:pPr algn="ctr" indent="0" marL="0">
              <a:buNone/>
            </a:pPr>
            <a:r>
              <a:rPr lang="en-US" sz="1000" dirty="0">
                <a:solidFill>
                  <a:srgbClr val="475569"/>
                </a:solidFill>
              </a:rPr>
              <a:t>データソース接続</a:t>
            </a:r>
            <a:endParaRPr lang="en-US" sz="1200" dirty="0"/>
          </a:p>
          <a:p>
            <a:pPr algn="ctr" indent="0" marL="0">
              <a:buNone/>
            </a:pPr>
            <a:r>
              <a:rPr lang="en-US" sz="1000" dirty="0">
                <a:solidFill>
                  <a:srgbClr val="475569"/>
                </a:solidFill>
              </a:rPr>
              <a:t>自然言語で定義可能</a:t>
            </a:r>
            <a:endParaRPr lang="en-US" sz="1200" dirty="0"/>
          </a:p>
        </p:txBody>
      </p:sp>
      <p:sp>
        <p:nvSpPr>
          <p:cNvPr id="12" name="Shape 8"/>
          <p:cNvSpPr/>
          <p:nvPr/>
        </p:nvSpPr>
        <p:spPr>
          <a:xfrm>
            <a:off x="4754880" y="1965960"/>
            <a:ext cx="1965960" cy="228600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13" name="Image 2" descr="preencoded.png"/>
          <p:cNvPicPr>
            <a:picLocks noChangeAspect="1"/>
          </p:cNvPicPr>
          <p:nvPr/>
        </p:nvPicPr>
        <p:blipFill>
          <a:blip r:embed="rId3"/>
          <a:stretch>
            <a:fillRect/>
          </a:stretch>
        </p:blipFill>
        <p:spPr>
          <a:xfrm>
            <a:off x="5440680" y="2103120"/>
            <a:ext cx="457200" cy="457200"/>
          </a:xfrm>
          <a:prstGeom prst="rect">
            <a:avLst/>
          </a:prstGeom>
        </p:spPr>
      </p:pic>
      <p:sp>
        <p:nvSpPr>
          <p:cNvPr id="14" name="Text 9"/>
          <p:cNvSpPr/>
          <p:nvPr/>
        </p:nvSpPr>
        <p:spPr>
          <a:xfrm>
            <a:off x="4846320" y="2606040"/>
            <a:ext cx="1783080" cy="1554480"/>
          </a:xfrm>
          <a:prstGeom prst="rect">
            <a:avLst/>
          </a:prstGeom>
          <a:noFill/>
          <a:ln/>
        </p:spPr>
        <p:txBody>
          <a:bodyPr wrap="square" lIns="0" tIns="0" rIns="0" bIns="0" rtlCol="0" anchor="t"/>
          <a:lstStyle/>
          <a:p>
            <a:pPr algn="ctr" indent="0" marL="0">
              <a:buNone/>
            </a:pPr>
            <a:r>
              <a:rPr lang="en-US" sz="1200" b="1" dirty="0">
                <a:solidFill>
                  <a:srgbClr val="065A82"/>
                </a:solidFill>
              </a:rPr>
              <a:t>AI Agent</a:t>
            </a:r>
            <a:endParaRPr lang="en-US" sz="1200" dirty="0"/>
          </a:p>
          <a:p>
            <a:pPr algn="ctr" indent="0" marL="0">
              <a:buNone/>
            </a:pPr>
            <a:r>
              <a:rPr lang="en-US" sz="1200" b="1" dirty="0">
                <a:solidFill>
                  <a:srgbClr val="065A82"/>
                </a:solidFill>
              </a:rPr>
              <a:t>Marketplace</a:t>
            </a:r>
            <a:endParaRPr lang="en-US" sz="1200" dirty="0"/>
          </a:p>
          <a:p>
            <a:pPr algn="ctr" indent="0" marL="0">
              <a:buNone/>
            </a:pPr>
            <a:endParaRPr lang="en-US" sz="1200" dirty="0"/>
          </a:p>
          <a:p>
            <a:pPr algn="ctr" indent="0" marL="0">
              <a:buNone/>
            </a:pPr>
            <a:r>
              <a:rPr lang="en-US" sz="1000" dirty="0">
                <a:solidFill>
                  <a:srgbClr val="475569"/>
                </a:solidFill>
              </a:rPr>
              <a:t>Cloud Marketplace内の</a:t>
            </a:r>
            <a:endParaRPr lang="en-US" sz="1200" dirty="0"/>
          </a:p>
          <a:p>
            <a:pPr algn="ctr" indent="0" marL="0">
              <a:buNone/>
            </a:pPr>
            <a:r>
              <a:rPr lang="en-US" sz="1000" dirty="0">
                <a:solidFill>
                  <a:srgbClr val="475569"/>
                </a:solidFill>
              </a:rPr>
              <a:t>専用セクション</a:t>
            </a:r>
            <a:endParaRPr lang="en-US" sz="1200" dirty="0"/>
          </a:p>
          <a:p>
            <a:pPr algn="ctr" indent="0" marL="0">
              <a:buNone/>
            </a:pPr>
            <a:r>
              <a:rPr lang="en-US" sz="1000" dirty="0">
                <a:solidFill>
                  <a:srgbClr val="475569"/>
                </a:solidFill>
              </a:rPr>
              <a:t>Accenture, Deloitte等</a:t>
            </a:r>
            <a:endParaRPr lang="en-US" sz="1200" dirty="0"/>
          </a:p>
          <a:p>
            <a:pPr algn="ctr" indent="0" marL="0">
              <a:buNone/>
            </a:pPr>
            <a:r>
              <a:rPr lang="en-US" sz="1000" dirty="0">
                <a:solidFill>
                  <a:srgbClr val="475569"/>
                </a:solidFill>
              </a:rPr>
              <a:t>パートナー製エージェント</a:t>
            </a:r>
            <a:endParaRPr lang="en-US" sz="1200" dirty="0"/>
          </a:p>
        </p:txBody>
      </p:sp>
      <p:sp>
        <p:nvSpPr>
          <p:cNvPr id="15" name="Shape 10"/>
          <p:cNvSpPr/>
          <p:nvPr/>
        </p:nvSpPr>
        <p:spPr>
          <a:xfrm>
            <a:off x="6903720" y="1965960"/>
            <a:ext cx="1965960" cy="228600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16" name="Image 3" descr="preencoded.png"/>
          <p:cNvPicPr>
            <a:picLocks noChangeAspect="1"/>
          </p:cNvPicPr>
          <p:nvPr/>
        </p:nvPicPr>
        <p:blipFill>
          <a:blip r:embed="rId4"/>
          <a:stretch>
            <a:fillRect/>
          </a:stretch>
        </p:blipFill>
        <p:spPr>
          <a:xfrm>
            <a:off x="7589520" y="2103120"/>
            <a:ext cx="457200" cy="457200"/>
          </a:xfrm>
          <a:prstGeom prst="rect">
            <a:avLst/>
          </a:prstGeom>
        </p:spPr>
      </p:pic>
      <p:sp>
        <p:nvSpPr>
          <p:cNvPr id="17" name="Text 11"/>
          <p:cNvSpPr/>
          <p:nvPr/>
        </p:nvSpPr>
        <p:spPr>
          <a:xfrm>
            <a:off x="6995160" y="2606040"/>
            <a:ext cx="1783080" cy="1554480"/>
          </a:xfrm>
          <a:prstGeom prst="rect">
            <a:avLst/>
          </a:prstGeom>
          <a:noFill/>
          <a:ln/>
        </p:spPr>
        <p:txBody>
          <a:bodyPr wrap="square" lIns="0" tIns="0" rIns="0" bIns="0" rtlCol="0" anchor="t"/>
          <a:lstStyle/>
          <a:p>
            <a:pPr algn="ctr" indent="0" marL="0">
              <a:buNone/>
            </a:pPr>
            <a:r>
              <a:rPr lang="en-US" sz="1200" b="1" dirty="0">
                <a:solidFill>
                  <a:srgbClr val="065A82"/>
                </a:solidFill>
              </a:rPr>
              <a:t>Agent Engine</a:t>
            </a:r>
            <a:endParaRPr lang="en-US" sz="1200" dirty="0"/>
          </a:p>
          <a:p>
            <a:pPr algn="ctr" indent="0" marL="0">
              <a:buNone/>
            </a:pPr>
            <a:endParaRPr lang="en-US" sz="1200" dirty="0"/>
          </a:p>
          <a:p>
            <a:pPr algn="ctr" indent="0" marL="0">
              <a:buNone/>
            </a:pPr>
            <a:r>
              <a:rPr lang="en-US" sz="1000" dirty="0">
                <a:solidFill>
                  <a:srgbClr val="475569"/>
                </a:solidFill>
              </a:rPr>
              <a:t>Vertex AI Agent Builder</a:t>
            </a:r>
            <a:endParaRPr lang="en-US" sz="1200" dirty="0"/>
          </a:p>
          <a:p>
            <a:pPr algn="ctr" indent="0" marL="0">
              <a:buNone/>
            </a:pPr>
            <a:r>
              <a:rPr lang="en-US" sz="1000" dirty="0">
                <a:solidFill>
                  <a:srgbClr val="475569"/>
                </a:solidFill>
              </a:rPr>
              <a:t>のランタイム基盤</a:t>
            </a:r>
            <a:endParaRPr lang="en-US" sz="1200" dirty="0"/>
          </a:p>
          <a:p>
            <a:pPr algn="ctr" indent="0" marL="0">
              <a:buNone/>
            </a:pPr>
            <a:r>
              <a:rPr lang="en-US" sz="1000" dirty="0">
                <a:solidFill>
                  <a:srgbClr val="475569"/>
                </a:solidFill>
              </a:rPr>
              <a:t>A2Aプロトコル対応</a:t>
            </a:r>
            <a:endParaRPr lang="en-US" sz="1200" dirty="0"/>
          </a:p>
          <a:p>
            <a:pPr algn="ctr" indent="0" marL="0">
              <a:buNone/>
            </a:pPr>
            <a:r>
              <a:rPr lang="en-US" sz="1000" dirty="0">
                <a:solidFill>
                  <a:srgbClr val="475569"/>
                </a:solidFill>
              </a:rPr>
              <a:t>本番スケーリング</a:t>
            </a:r>
            <a:endParaRPr lang="en-US" sz="1200" dirty="0"/>
          </a:p>
        </p:txBody>
      </p:sp>
      <p:sp>
        <p:nvSpPr>
          <p:cNvPr id="18" name="Shape 12"/>
          <p:cNvSpPr/>
          <p:nvPr/>
        </p:nvSpPr>
        <p:spPr>
          <a:xfrm>
            <a:off x="640080" y="4389120"/>
            <a:ext cx="7863840" cy="3200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9" name="Text 13"/>
          <p:cNvSpPr/>
          <p:nvPr/>
        </p:nvSpPr>
        <p:spPr>
          <a:xfrm>
            <a:off x="822960" y="4389120"/>
            <a:ext cx="7498080" cy="320040"/>
          </a:xfrm>
          <a:prstGeom prst="rect">
            <a:avLst/>
          </a:prstGeom>
          <a:noFill/>
          <a:ln/>
        </p:spPr>
        <p:txBody>
          <a:bodyPr wrap="square" lIns="0" tIns="0" rIns="0" bIns="0" rtlCol="0" anchor="ctr"/>
          <a:lstStyle/>
          <a:p>
            <a:pPr indent="0" marL="0">
              <a:buNone/>
            </a:pPr>
            <a:r>
              <a:rPr lang="en-US" sz="1100" b="1" dirty="0">
                <a:solidFill>
                  <a:srgbClr val="065A82"/>
                </a:solidFill>
                <a:latin typeface="Calibri" pitchFamily="34" charset="0"/>
                <a:ea typeface="Calibri" pitchFamily="34" charset="-122"/>
                <a:cs typeface="Calibri" pitchFamily="34" charset="-120"/>
              </a:rPr>
              <a:t>PwCが120+ エンタープライズ対応エージェントをGoogle Cloud上で構築・展開（2025年）</a:t>
            </a:r>
            <a:endParaRPr lang="en-US" sz="1100" dirty="0"/>
          </a:p>
        </p:txBody>
      </p:sp>
      <p:sp>
        <p:nvSpPr>
          <p:cNvPr id="20" name="Shape 14"/>
          <p:cNvSpPr/>
          <p:nvPr/>
        </p:nvSpPr>
        <p:spPr>
          <a:xfrm>
            <a:off x="0" y="4754880"/>
            <a:ext cx="9144000" cy="388620"/>
          </a:xfrm>
          <a:prstGeom prst="rect">
            <a:avLst/>
          </a:prstGeom>
          <a:solidFill>
            <a:srgbClr val="1E2761"/>
          </a:solidFill>
          <a:ln/>
        </p:spPr>
      </p:sp>
      <p:sp>
        <p:nvSpPr>
          <p:cNvPr id="21" name="Text 15"/>
          <p:cNvSpPr/>
          <p:nvPr/>
        </p:nvSpPr>
        <p:spPr>
          <a:xfrm>
            <a:off x="457200" y="4754880"/>
            <a:ext cx="8229600" cy="38862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出典: Google Cloud Blog / Vertex AI Documentation / Google Cloud Next 2025</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96"/>
          </a:solidFill>
          <a:ln/>
        </p:spPr>
      </p:sp>
      <p:sp>
        <p:nvSpPr>
          <p:cNvPr id="3" name="Text 1"/>
          <p:cNvSpPr/>
          <p:nvPr/>
        </p:nvSpPr>
        <p:spPr>
          <a:xfrm>
            <a:off x="640080" y="182880"/>
            <a:ext cx="8229600" cy="594360"/>
          </a:xfrm>
          <a:prstGeom prst="rect">
            <a:avLst/>
          </a:prstGeom>
          <a:noFill/>
          <a:ln/>
        </p:spPr>
        <p:txBody>
          <a:bodyPr wrap="square" lIns="0" tIns="0" rIns="0" bIns="0" rtlCol="0" anchor="ctr"/>
          <a:lstStyle/>
          <a:p>
            <a:pPr indent="0" marL="0">
              <a:buNone/>
            </a:pPr>
            <a:r>
              <a:rPr lang="en-US" sz="2400" b="1" dirty="0">
                <a:solidFill>
                  <a:srgbClr val="1E2761"/>
                </a:solidFill>
                <a:latin typeface="Georgia" pitchFamily="34" charset="0"/>
                <a:ea typeface="Georgia" pitchFamily="34" charset="-122"/>
                <a:cs typeface="Georgia" pitchFamily="34" charset="-120"/>
              </a:rPr>
              <a:t>本プラットフォーム vs Google Agentspace 比較</a:t>
            </a:r>
            <a:endParaRPr lang="en-US" sz="2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868680"/>
          <a:ext cx="8229600" cy="914400"/>
        </p:xfrm>
        <a:graphic>
          <a:graphicData uri="http://schemas.openxmlformats.org/drawingml/2006/table">
            <a:tbl>
              <a:tblPr/>
              <a:tblGrid>
                <a:gridCol w="1554480"/>
                <a:gridCol w="3337560"/>
                <a:gridCol w="3337560"/>
              </a:tblGrid>
              <a:tr h="457200">
                <a:tc>
                  <a:txBody>
                    <a:bodyPr/>
                    <a:lstStyle/>
                    <a:p>
                      <a:pPr algn="ctr" indent="0" marL="0">
                        <a:buNone/>
                      </a:pPr>
                      <a:r>
                        <a:rPr lang="en-US" sz="1100" b="1" dirty="0">
                          <a:solidFill>
                            <a:srgbClr val="FFFFFF"/>
                          </a:solidFill>
                        </a:rPr>
                        <a:t>比較項目</a:t>
                      </a:r>
                      <a:endParaRPr lang="en-US" sz="11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algn="ctr" indent="0" marL="0">
                        <a:buNone/>
                      </a:pPr>
                      <a:r>
                        <a:rPr lang="en-US" sz="1000" b="1" dirty="0">
                          <a:solidFill>
                            <a:srgbClr val="FFFFFF"/>
                          </a:solidFill>
                        </a:rPr>
                        <a:t>本プラットフォーム</a:t>
                      </a:r>
                      <a:endParaRPr lang="en-US" sz="1000" dirty="0"/>
                    </a:p>
                    <a:p>
                      <a:pPr algn="ctr" indent="0" marL="0">
                        <a:buNone/>
                      </a:pPr>
                      <a:r>
                        <a:rPr lang="en-US" sz="1000" b="1" dirty="0">
                          <a:solidFill>
                            <a:srgbClr val="FFFFFF"/>
                          </a:solidFill>
                        </a:rPr>
                        <a:t>(Trusted Agent Store)</a:t>
                      </a:r>
                      <a:endParaRPr lang="en-US" sz="10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5A82"/>
                    </a:solidFill>
                  </a:tcPr>
                </a:tc>
                <a:tc>
                  <a:txBody>
                    <a:bodyPr/>
                    <a:lstStyle/>
                    <a:p>
                      <a:pPr algn="ctr" indent="0" marL="0">
                        <a:buNone/>
                      </a:pPr>
                      <a:r>
                        <a:rPr lang="en-US" sz="1000" b="1" dirty="0">
                          <a:solidFill>
                            <a:srgbClr val="FFFFFF"/>
                          </a:solidFill>
                        </a:rPr>
                        <a:t>Google Agentspace</a:t>
                      </a:r>
                      <a:endParaRPr lang="en-US" sz="1000" dirty="0"/>
                    </a:p>
                    <a:p>
                      <a:pPr algn="ctr" indent="0" marL="0">
                        <a:buNone/>
                      </a:pPr>
                      <a:r>
                        <a:rPr lang="en-US" sz="1000" b="1" dirty="0">
                          <a:solidFill>
                            <a:srgbClr val="FFFFFF"/>
                          </a:solidFill>
                        </a:rPr>
                        <a:t>(Gemini Enterprise)</a:t>
                      </a:r>
                      <a:endParaRPr lang="en-US" sz="10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C7293"/>
                    </a:solidFill>
                  </a:tcPr>
                </a:tc>
              </a:tr>
              <a:tr h="640080">
                <a:tc>
                  <a:txBody>
                    <a:bodyPr/>
                    <a:lstStyle/>
                    <a:p>
                      <a:pPr indent="0" marL="0">
                        <a:buNone/>
                      </a:pPr>
                      <a:r>
                        <a:rPr lang="en-US" sz="1000" b="1" dirty="0">
                          <a:solidFill>
                            <a:srgbClr val="065A82"/>
                          </a:solidFill>
                        </a:rPr>
                        <a:t>安全性評価</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1E293B"/>
                          </a:solidFill>
                        </a:rPr>
                        <a:t>MAGI合議（3 LLM）</a:t>
                      </a:r>
                      <a:endParaRPr lang="en-US" sz="900" dirty="0"/>
                    </a:p>
                    <a:p>
                      <a:pPr indent="0" marL="0">
                        <a:buNone/>
                      </a:pPr>
                      <a:r>
                        <a:rPr lang="en-US" sz="900" dirty="0">
                          <a:solidFill>
                            <a:srgbClr val="1E293B"/>
                          </a:solidFill>
                        </a:rPr>
                        <a:t>AISEV v3.0 準拠4軸評価</a:t>
                      </a:r>
                      <a:endParaRPr lang="en-US" sz="900" dirty="0"/>
                    </a:p>
                    <a:p>
                      <a:pPr indent="0" marL="0">
                        <a:buNone/>
                      </a:pPr>
                      <a:r>
                        <a:rPr lang="en-US" sz="900" dirty="0">
                          <a:solidFill>
                            <a:srgbClr val="1E293B"/>
                          </a:solidFill>
                        </a:rPr>
                        <a:t>Security Gate + 攻撃耐性</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1E293B"/>
                          </a:solidFill>
                        </a:rPr>
                        <a:t>Model Armor</a:t>
                      </a:r>
                      <a:endParaRPr lang="en-US" sz="900" dirty="0"/>
                    </a:p>
                    <a:p>
                      <a:pPr indent="0" marL="0">
                        <a:buNone/>
                      </a:pPr>
                      <a:r>
                        <a:rPr lang="en-US" sz="900" dirty="0">
                          <a:solidFill>
                            <a:srgbClr val="1E293B"/>
                          </a:solidFill>
                        </a:rPr>
                        <a:t>+ Red Teaming</a:t>
                      </a:r>
                      <a:endParaRPr lang="en-US" sz="900" dirty="0"/>
                    </a:p>
                    <a:p>
                      <a:pPr indent="0" marL="0">
                        <a:buNone/>
                      </a:pPr>
                      <a:r>
                        <a:rPr lang="en-US" sz="900" dirty="0">
                          <a:solidFill>
                            <a:srgbClr val="1E293B"/>
                          </a:solidFill>
                        </a:rPr>
                        <a:t>SAIF フレームワーク</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640080">
                <a:tc>
                  <a:txBody>
                    <a:bodyPr/>
                    <a:lstStyle/>
                    <a:p>
                      <a:pPr indent="0" marL="0">
                        <a:buNone/>
                      </a:pPr>
                      <a:r>
                        <a:rPr lang="en-US" sz="1000" b="1" dirty="0">
                          <a:solidFill>
                            <a:srgbClr val="065A82"/>
                          </a:solidFill>
                        </a:rPr>
                        <a:t>評価の透明性</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1E293B"/>
                          </a:solidFill>
                        </a:rPr>
                        <a:t>W&amp;B Weave全トレース公開</a:t>
                      </a:r>
                      <a:endParaRPr lang="en-US" sz="900" dirty="0"/>
                    </a:p>
                    <a:p>
                      <a:pPr indent="0" marL="0">
                        <a:buNone/>
                      </a:pPr>
                      <a:r>
                        <a:rPr lang="en-US" sz="900" dirty="0">
                          <a:solidFill>
                            <a:srgbClr val="1E293B"/>
                          </a:solidFill>
                        </a:rPr>
                        <a:t>合議討論プロセス可視化</a:t>
                      </a:r>
                      <a:endParaRPr lang="en-US" sz="900" dirty="0"/>
                    </a:p>
                    <a:p>
                      <a:pPr indent="0" marL="0">
                        <a:buNone/>
                      </a:pPr>
                      <a:r>
                        <a:rPr lang="en-US" sz="900" dirty="0">
                          <a:solidFill>
                            <a:srgbClr val="1E293B"/>
                          </a:solidFill>
                        </a:rPr>
                        <a:t>スコア算出根拠が明確</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1E293B"/>
                          </a:solidFill>
                        </a:rPr>
                        <a:t>Google内部レビュー</a:t>
                      </a:r>
                      <a:endParaRPr lang="en-US" sz="900" dirty="0"/>
                    </a:p>
                    <a:p>
                      <a:pPr indent="0" marL="0">
                        <a:buNone/>
                      </a:pPr>
                      <a:r>
                        <a:rPr lang="en-US" sz="900" dirty="0">
                          <a:solidFill>
                            <a:srgbClr val="1E293B"/>
                          </a:solidFill>
                        </a:rPr>
                        <a:t>評価プロセス非公開</a:t>
                      </a:r>
                      <a:endParaRPr lang="en-US" sz="900" dirty="0"/>
                    </a:p>
                    <a:p>
                      <a:pPr indent="0" marL="0">
                        <a:buNone/>
                      </a:pPr>
                      <a:r>
                        <a:rPr lang="en-US" sz="900" dirty="0">
                          <a:solidFill>
                            <a:srgbClr val="1E293B"/>
                          </a:solidFill>
                        </a:rPr>
                        <a:t>Ready認定の結果のみ公開</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640080">
                <a:tc>
                  <a:txBody>
                    <a:bodyPr/>
                    <a:lstStyle/>
                    <a:p>
                      <a:pPr indent="0" marL="0">
                        <a:buNone/>
                      </a:pPr>
                      <a:r>
                        <a:rPr lang="en-US" sz="1000" b="1" dirty="0">
                          <a:solidFill>
                            <a:srgbClr val="065A82"/>
                          </a:solidFill>
                        </a:rPr>
                        <a:t>ベンダー中立性</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1E293B"/>
                          </a:solidFill>
                        </a:rPr>
                        <a:t>マルチベンダーLLM評価</a:t>
                      </a:r>
                      <a:endParaRPr lang="en-US" sz="900" dirty="0"/>
                    </a:p>
                    <a:p>
                      <a:pPr indent="0" marL="0">
                        <a:buNone/>
                      </a:pPr>
                      <a:r>
                        <a:rPr lang="en-US" sz="900" dirty="0">
                          <a:solidFill>
                            <a:srgbClr val="1E293B"/>
                          </a:solidFill>
                        </a:rPr>
                        <a:t>（GPT-4o, Claude, Gemini）</a:t>
                      </a:r>
                      <a:endParaRPr lang="en-US" sz="900" dirty="0"/>
                    </a:p>
                    <a:p>
                      <a:pPr indent="0" marL="0">
                        <a:buNone/>
                      </a:pPr>
                      <a:r>
                        <a:rPr lang="en-US" sz="900" dirty="0">
                          <a:solidFill>
                            <a:srgbClr val="1E293B"/>
                          </a:solidFill>
                        </a:rPr>
                        <a:t>A2A準拠で非依存</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1E293B"/>
                          </a:solidFill>
                        </a:rPr>
                        <a:t>Google Cloudインフラ必須</a:t>
                      </a:r>
                      <a:endParaRPr lang="en-US" sz="900" dirty="0"/>
                    </a:p>
                    <a:p>
                      <a:pPr indent="0" marL="0">
                        <a:buNone/>
                      </a:pPr>
                      <a:r>
                        <a:rPr lang="en-US" sz="900" dirty="0">
                          <a:solidFill>
                            <a:srgbClr val="1E293B"/>
                          </a:solidFill>
                        </a:rPr>
                        <a:t>モデルは非限定（Gemini優遇）</a:t>
                      </a:r>
                      <a:endParaRPr lang="en-US" sz="900" dirty="0"/>
                    </a:p>
                    <a:p>
                      <a:pPr indent="0" marL="0">
                        <a:buNone/>
                      </a:pPr>
                      <a:r>
                        <a:rPr lang="en-US" sz="900" dirty="0">
                          <a:solidFill>
                            <a:srgbClr val="1E293B"/>
                          </a:solidFill>
                        </a:rPr>
                        <a:t>Vertex AI / Marketplace経由</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640080">
                <a:tc>
                  <a:txBody>
                    <a:bodyPr/>
                    <a:lstStyle/>
                    <a:p>
                      <a:pPr indent="0" marL="0">
                        <a:buNone/>
                      </a:pPr>
                      <a:r>
                        <a:rPr lang="en-US" sz="1000" b="1" dirty="0">
                          <a:solidFill>
                            <a:srgbClr val="065A82"/>
                          </a:solidFill>
                        </a:rPr>
                        <a:t>スケール・</a:t>
                      </a:r>
                      <a:endParaRPr lang="en-US" sz="1000" dirty="0"/>
                    </a:p>
                    <a:p>
                      <a:pPr indent="0" marL="0">
                        <a:buNone/>
                      </a:pPr>
                      <a:r>
                        <a:rPr lang="en-US" sz="1000" b="1" dirty="0">
                          <a:solidFill>
                            <a:srgbClr val="065A82"/>
                          </a:solidFill>
                        </a:rPr>
                        <a:t>エコシステム</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1E293B"/>
                          </a:solidFill>
                        </a:rPr>
                        <a:t>独自運用（小規模）</a:t>
                      </a:r>
                      <a:endParaRPr lang="en-US" sz="900" dirty="0"/>
                    </a:p>
                    <a:p>
                      <a:pPr indent="0" marL="0">
                        <a:buNone/>
                      </a:pPr>
                      <a:r>
                        <a:rPr lang="en-US" sz="900" dirty="0">
                          <a:solidFill>
                            <a:srgbClr val="1E293B"/>
                          </a:solidFill>
                        </a:rPr>
                        <a:t>高い品質基準</a:t>
                      </a:r>
                      <a:endParaRPr lang="en-US" sz="900" dirty="0"/>
                    </a:p>
                    <a:p>
                      <a:pPr indent="0" marL="0">
                        <a:buNone/>
                      </a:pPr>
                      <a:r>
                        <a:rPr lang="en-US" sz="900" dirty="0">
                          <a:solidFill>
                            <a:srgbClr val="1E293B"/>
                          </a:solidFill>
                        </a:rPr>
                        <a:t>自動承認/却下パイプライン</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1E293B"/>
                          </a:solidFill>
                        </a:rPr>
                        <a:t>Google Cloud Marketplace</a:t>
                      </a:r>
                      <a:endParaRPr lang="en-US" sz="900" dirty="0"/>
                    </a:p>
                    <a:p>
                      <a:pPr indent="0" marL="0">
                        <a:buNone/>
                      </a:pPr>
                      <a:r>
                        <a:rPr lang="en-US" sz="900" dirty="0">
                          <a:solidFill>
                            <a:srgbClr val="1E293B"/>
                          </a:solidFill>
                        </a:rPr>
                        <a:t>PwC 120+ エージェント</a:t>
                      </a:r>
                      <a:endParaRPr lang="en-US" sz="900" dirty="0"/>
                    </a:p>
                    <a:p>
                      <a:pPr indent="0" marL="0">
                        <a:buNone/>
                      </a:pPr>
                      <a:r>
                        <a:rPr lang="en-US" sz="900" dirty="0">
                          <a:solidFill>
                            <a:srgbClr val="1E293B"/>
                          </a:solidFill>
                        </a:rPr>
                        <a:t>大規模パートナー網</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640080">
                <a:tc>
                  <a:txBody>
                    <a:bodyPr/>
                    <a:lstStyle/>
                    <a:p>
                      <a:pPr indent="0" marL="0">
                        <a:buNone/>
                      </a:pPr>
                      <a:r>
                        <a:rPr lang="en-US" sz="1000" b="1" dirty="0">
                          <a:solidFill>
                            <a:srgbClr val="065A82"/>
                          </a:solidFill>
                        </a:rPr>
                        <a:t>Agent Card</a:t>
                      </a:r>
                      <a:endParaRPr lang="en-US" sz="1000" dirty="0"/>
                    </a:p>
                    <a:p>
                      <a:pPr indent="0" marL="0">
                        <a:buNone/>
                      </a:pPr>
                      <a:r>
                        <a:rPr lang="en-US" sz="1000" b="1" dirty="0">
                          <a:solidFill>
                            <a:srgbClr val="065A82"/>
                          </a:solidFill>
                        </a:rPr>
                        <a:t>検証</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1E293B"/>
                          </a:solidFill>
                        </a:rPr>
                        <a:t>自動機能テスト</a:t>
                      </a:r>
                      <a:endParaRPr lang="en-US" sz="900" dirty="0"/>
                    </a:p>
                    <a:p>
                      <a:pPr indent="0" marL="0">
                        <a:buNone/>
                      </a:pPr>
                      <a:r>
                        <a:rPr lang="en-US" sz="900" dirty="0">
                          <a:solidFill>
                            <a:srgbClr val="1E293B"/>
                          </a:solidFill>
                        </a:rPr>
                        <a:t>（Agent Card Accuracy）</a:t>
                      </a:r>
                      <a:endParaRPr lang="en-US" sz="900" dirty="0"/>
                    </a:p>
                    <a:p>
                      <a:pPr indent="0" marL="0">
                        <a:buNone/>
                      </a:pPr>
                      <a:r>
                        <a:rPr lang="en-US" sz="900" dirty="0">
                          <a:solidFill>
                            <a:srgbClr val="1E293B"/>
                          </a:solidFill>
                        </a:rPr>
                        <a:t>マルチターン実証</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1E293B"/>
                          </a:solidFill>
                        </a:rPr>
                        <a:t>Google Cloud Ready</a:t>
                      </a:r>
                      <a:endParaRPr lang="en-US" sz="900" dirty="0"/>
                    </a:p>
                    <a:p>
                      <a:pPr indent="0" marL="0">
                        <a:buNone/>
                      </a:pPr>
                      <a:r>
                        <a:rPr lang="en-US" sz="900" dirty="0">
                          <a:solidFill>
                            <a:srgbClr val="1E293B"/>
                          </a:solidFill>
                        </a:rPr>
                        <a:t>認定プログラム</a:t>
                      </a:r>
                      <a:endParaRPr lang="en-US" sz="900" dirty="0"/>
                    </a:p>
                    <a:p>
                      <a:pPr indent="0" marL="0">
                        <a:buNone/>
                      </a:pPr>
                      <a:r>
                        <a:rPr lang="en-US" sz="900" dirty="0">
                          <a:solidFill>
                            <a:srgbClr val="1E293B"/>
                          </a:solidFill>
                        </a:rPr>
                        <a:t>パートナー申請制</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5" name="Shape 2"/>
          <p:cNvSpPr/>
          <p:nvPr/>
        </p:nvSpPr>
        <p:spPr>
          <a:xfrm>
            <a:off x="457200" y="4572000"/>
            <a:ext cx="8229600" cy="137160"/>
          </a:xfrm>
          <a:prstGeom prst="rect">
            <a:avLst/>
          </a:prstGeom>
          <a:solidFill>
            <a:srgbClr val="00A896"/>
          </a:solidFill>
          <a:ln/>
        </p:spPr>
      </p:sp>
      <p:sp>
        <p:nvSpPr>
          <p:cNvPr id="6" name="Text 3"/>
          <p:cNvSpPr/>
          <p:nvPr/>
        </p:nvSpPr>
        <p:spPr>
          <a:xfrm>
            <a:off x="457200" y="4251960"/>
            <a:ext cx="8229600" cy="320040"/>
          </a:xfrm>
          <a:prstGeom prst="rect">
            <a:avLst/>
          </a:prstGeom>
          <a:noFill/>
          <a:ln/>
        </p:spPr>
        <p:txBody>
          <a:bodyPr wrap="square" lIns="0" tIns="0" rIns="0" bIns="0" rtlCol="0" anchor="ctr"/>
          <a:lstStyle/>
          <a:p>
            <a:pPr algn="ctr" indent="0" marL="0">
              <a:buNone/>
            </a:pPr>
            <a:r>
              <a:rPr lang="en-US" sz="1000" b="1" dirty="0">
                <a:solidFill>
                  <a:srgbClr val="065A82"/>
                </a:solidFill>
                <a:latin typeface="Calibri" pitchFamily="34" charset="0"/>
                <a:ea typeface="Calibri" pitchFamily="34" charset="-122"/>
                <a:cs typeface="Calibri" pitchFamily="34" charset="-120"/>
              </a:rPr>
              <a:t>本プラットフォームの差別化: 評価透明性（W&amp;B Weave全トレース）× ベンダー中立（マルチLLM合議）× AISEV準拠の日本基準</a:t>
            </a:r>
            <a:endParaRPr lang="en-US" sz="1000" dirty="0"/>
          </a:p>
        </p:txBody>
      </p:sp>
      <p:sp>
        <p:nvSpPr>
          <p:cNvPr id="7" name="Shape 4"/>
          <p:cNvSpPr/>
          <p:nvPr/>
        </p:nvSpPr>
        <p:spPr>
          <a:xfrm>
            <a:off x="0" y="4754880"/>
            <a:ext cx="9144000" cy="388620"/>
          </a:xfrm>
          <a:prstGeom prst="rect">
            <a:avLst/>
          </a:prstGeom>
          <a:solidFill>
            <a:srgbClr val="1E2761"/>
          </a:solidFill>
          <a:ln/>
        </p:spPr>
      </p:sp>
      <p:sp>
        <p:nvSpPr>
          <p:cNvPr id="8" name="Text 5"/>
          <p:cNvSpPr/>
          <p:nvPr/>
        </p:nvSpPr>
        <p:spPr>
          <a:xfrm>
            <a:off x="457200" y="4754880"/>
            <a:ext cx="8229600" cy="38862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 Google Agentspace情報は公開ドキュメントに基づく（2025年12月時点）</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96"/>
          </a:solidFill>
          <a:ln/>
        </p:spPr>
      </p:sp>
      <p:sp>
        <p:nvSpPr>
          <p:cNvPr id="3" name="Text 1"/>
          <p:cNvSpPr/>
          <p:nvPr/>
        </p:nvSpPr>
        <p:spPr>
          <a:xfrm>
            <a:off x="640080" y="182880"/>
            <a:ext cx="8229600" cy="594360"/>
          </a:xfrm>
          <a:prstGeom prst="rect">
            <a:avLst/>
          </a:prstGeom>
          <a:noFill/>
          <a:ln/>
        </p:spPr>
        <p:txBody>
          <a:bodyPr wrap="square" lIns="0" tIns="0" rIns="0" bIns="0" rtlCol="0" anchor="ctr"/>
          <a:lstStyle/>
          <a:p>
            <a:pPr indent="0" marL="0">
              <a:buNone/>
            </a:pPr>
            <a:r>
              <a:rPr lang="en-US" sz="2400" b="1" dirty="0">
                <a:solidFill>
                  <a:srgbClr val="1E2761"/>
                </a:solidFill>
                <a:latin typeface="Georgia" pitchFamily="34" charset="0"/>
                <a:ea typeface="Georgia" pitchFamily="34" charset="-122"/>
                <a:cs typeface="Georgia" pitchFamily="34" charset="-120"/>
              </a:rPr>
              <a:t>Google Model Armor — LLM向けセキュリティレイヤー</a:t>
            </a:r>
            <a:endParaRPr lang="en-US" sz="2400" dirty="0"/>
          </a:p>
        </p:txBody>
      </p:sp>
      <p:sp>
        <p:nvSpPr>
          <p:cNvPr id="4" name="Shape 2"/>
          <p:cNvSpPr/>
          <p:nvPr/>
        </p:nvSpPr>
        <p:spPr>
          <a:xfrm>
            <a:off x="640080" y="868680"/>
            <a:ext cx="7863840" cy="594360"/>
          </a:xfrm>
          <a:prstGeom prst="rect">
            <a:avLst/>
          </a:prstGeom>
          <a:solidFill>
            <a:srgbClr val="065A82"/>
          </a:solidFill>
          <a:ln/>
          <a:effectLst>
            <a:outerShdw sx="100000" sy="100000" kx="0" ky="0" algn="bl" rotWithShape="0" blurRad="76200" dist="25400" dir="8100000">
              <a:srgbClr val="000000">
                <a:alpha val="12000"/>
              </a:srgbClr>
            </a:outerShdw>
          </a:effectLst>
        </p:spPr>
      </p:sp>
      <p:sp>
        <p:nvSpPr>
          <p:cNvPr id="5" name="Text 3"/>
          <p:cNvSpPr/>
          <p:nvPr/>
        </p:nvSpPr>
        <p:spPr>
          <a:xfrm>
            <a:off x="822960" y="868680"/>
            <a:ext cx="7498080" cy="5943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全LLM（Gemini / OpenAI / Anthropic / Llama等）の入出力をリアルタイムフィルタリングする透過プロキシ型セキュリティ</a:t>
            </a:r>
            <a:endParaRPr lang="en-US" sz="1200" dirty="0"/>
          </a:p>
        </p:txBody>
      </p:sp>
      <p:sp>
        <p:nvSpPr>
          <p:cNvPr id="6" name="Shape 4"/>
          <p:cNvSpPr/>
          <p:nvPr/>
        </p:nvSpPr>
        <p:spPr>
          <a:xfrm>
            <a:off x="640080" y="1645920"/>
            <a:ext cx="7863840" cy="5486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7" name="Text 5"/>
          <p:cNvSpPr/>
          <p:nvPr/>
        </p:nvSpPr>
        <p:spPr>
          <a:xfrm>
            <a:off x="822960" y="1645920"/>
            <a:ext cx="7498080" cy="548640"/>
          </a:xfrm>
          <a:prstGeom prst="rect">
            <a:avLst/>
          </a:prstGeom>
          <a:noFill/>
          <a:ln/>
        </p:spPr>
        <p:txBody>
          <a:bodyPr wrap="square" lIns="0" tIns="0" rIns="0" bIns="0" rtlCol="0" anchor="ctr"/>
          <a:lstStyle/>
          <a:p>
            <a:pPr algn="ctr" indent="0" marL="0">
              <a:buNone/>
            </a:pPr>
            <a:r>
              <a:rPr lang="en-US" sz="1100" dirty="0">
                <a:solidFill>
                  <a:srgbClr val="475569"/>
                </a:solidFill>
              </a:rPr>
              <a:t xml:space="preserve">User Request → </a:t>
            </a:r>
            <a:pPr algn="ctr" indent="0" marL="0">
              <a:buNone/>
            </a:pPr>
            <a:r>
              <a:rPr lang="en-US" sz="1100" b="1" dirty="0">
                <a:solidFill>
                  <a:srgbClr val="FFFFFF"/>
                </a:solidFill>
                <a:highlight>
                  <a:srgbClr val="00A896"/>
                </a:highlight>
              </a:rPr>
              <a:t>Model Armor (入力検査)</a:t>
            </a:r>
            <a:pPr algn="ctr" indent="0" marL="0">
              <a:buNone/>
            </a:pPr>
            <a:r>
              <a:rPr lang="en-US" sz="1100" dirty="0">
                <a:solidFill>
                  <a:srgbClr val="475569"/>
                </a:solidFill>
              </a:rPr>
              <a:t xml:space="preserve"> → AI Model → </a:t>
            </a:r>
            <a:pPr algn="ctr" indent="0" marL="0">
              <a:buNone/>
            </a:pPr>
            <a:r>
              <a:rPr lang="en-US" sz="1100" b="1" dirty="0">
                <a:solidFill>
                  <a:srgbClr val="FFFFFF"/>
                </a:solidFill>
                <a:highlight>
                  <a:srgbClr val="00A896"/>
                </a:highlight>
              </a:rPr>
              <a:t>Model Armor (出力検査)</a:t>
            </a:r>
            <a:pPr algn="ctr" indent="0" marL="0">
              <a:buNone/>
            </a:pPr>
            <a:r>
              <a:rPr lang="en-US" sz="1100" dirty="0">
                <a:solidFill>
                  <a:srgbClr val="475569"/>
                </a:solidFill>
              </a:rPr>
              <a:t xml:space="preserve"> → Safe Response</a:t>
            </a:r>
            <a:endParaRPr lang="en-US" sz="1100" dirty="0"/>
          </a:p>
        </p:txBody>
      </p:sp>
      <p:sp>
        <p:nvSpPr>
          <p:cNvPr id="8" name="Shape 6"/>
          <p:cNvSpPr/>
          <p:nvPr/>
        </p:nvSpPr>
        <p:spPr>
          <a:xfrm>
            <a:off x="274320" y="2377440"/>
            <a:ext cx="1627632" cy="22860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9" name="Shape 7"/>
          <p:cNvSpPr/>
          <p:nvPr/>
        </p:nvSpPr>
        <p:spPr>
          <a:xfrm>
            <a:off x="274320" y="2377440"/>
            <a:ext cx="1627632" cy="45720"/>
          </a:xfrm>
          <a:prstGeom prst="rect">
            <a:avLst/>
          </a:prstGeom>
          <a:solidFill>
            <a:srgbClr val="00A896"/>
          </a:solidFill>
          <a:ln/>
        </p:spPr>
      </p:sp>
      <p:pic>
        <p:nvPicPr>
          <p:cNvPr id="10" name="Image 0" descr="preencoded.png"/>
          <p:cNvPicPr>
            <a:picLocks noChangeAspect="1"/>
          </p:cNvPicPr>
          <p:nvPr/>
        </p:nvPicPr>
        <p:blipFill>
          <a:blip r:embed="rId1"/>
          <a:stretch>
            <a:fillRect/>
          </a:stretch>
        </p:blipFill>
        <p:spPr>
          <a:xfrm>
            <a:off x="813816" y="2514600"/>
            <a:ext cx="411480" cy="411480"/>
          </a:xfrm>
          <a:prstGeom prst="rect">
            <a:avLst/>
          </a:prstGeom>
        </p:spPr>
      </p:pic>
      <p:sp>
        <p:nvSpPr>
          <p:cNvPr id="11" name="Text 8"/>
          <p:cNvSpPr/>
          <p:nvPr/>
        </p:nvSpPr>
        <p:spPr>
          <a:xfrm>
            <a:off x="320040" y="2971800"/>
            <a:ext cx="1536192" cy="1600200"/>
          </a:xfrm>
          <a:prstGeom prst="rect">
            <a:avLst/>
          </a:prstGeom>
          <a:noFill/>
          <a:ln/>
        </p:spPr>
        <p:txBody>
          <a:bodyPr wrap="square" lIns="0" tIns="0" rIns="0" bIns="0" rtlCol="0" anchor="t"/>
          <a:lstStyle/>
          <a:p>
            <a:pPr algn="ctr" indent="0" marL="0">
              <a:buNone/>
            </a:pPr>
            <a:r>
              <a:rPr lang="en-US" sz="1000" b="1" dirty="0">
                <a:solidFill>
                  <a:srgbClr val="065A82"/>
                </a:solidFill>
              </a:rPr>
              <a:t>Prompt Injection</a:t>
            </a:r>
            <a:endParaRPr lang="en-US" sz="1000" dirty="0"/>
          </a:p>
          <a:p>
            <a:pPr algn="ctr" indent="0" marL="0">
              <a:buNone/>
            </a:pPr>
            <a:r>
              <a:rPr lang="en-US" sz="1000" b="1" dirty="0">
                <a:solidFill>
                  <a:srgbClr val="065A82"/>
                </a:solidFill>
              </a:rPr>
              <a:t>&amp; Jailbreak検知</a:t>
            </a:r>
            <a:endParaRPr lang="en-US" sz="1000" dirty="0"/>
          </a:p>
          <a:p>
            <a:pPr algn="ctr" indent="0" marL="0">
              <a:buNone/>
            </a:pPr>
            <a:endParaRPr lang="en-US" sz="1000" dirty="0"/>
          </a:p>
          <a:p>
            <a:pPr algn="ctr" indent="0" marL="0">
              <a:buNone/>
            </a:pPr>
            <a:r>
              <a:rPr lang="en-US" sz="850" dirty="0">
                <a:solidFill>
                  <a:srgbClr val="475569"/>
                </a:solidFill>
              </a:rPr>
              <a:t>LLMの安全フィルタ回避を</a:t>
            </a:r>
            <a:endParaRPr lang="en-US" sz="1000" dirty="0"/>
          </a:p>
          <a:p>
            <a:pPr algn="ctr" indent="0" marL="0">
              <a:buNone/>
            </a:pPr>
            <a:r>
              <a:rPr lang="en-US" sz="850" dirty="0">
                <a:solidFill>
                  <a:srgbClr val="475569"/>
                </a:solidFill>
              </a:rPr>
              <a:t>試みる悪意ある入力を</a:t>
            </a:r>
            <a:endParaRPr lang="en-US" sz="1000" dirty="0"/>
          </a:p>
          <a:p>
            <a:pPr algn="ctr" indent="0" marL="0">
              <a:buNone/>
            </a:pPr>
            <a:r>
              <a:rPr lang="en-US" sz="850" dirty="0">
                <a:solidFill>
                  <a:srgbClr val="475569"/>
                </a:solidFill>
              </a:rPr>
              <a:t>ブロック。信頼度閾値で</a:t>
            </a:r>
            <a:endParaRPr lang="en-US" sz="1000" dirty="0"/>
          </a:p>
          <a:p>
            <a:pPr algn="ctr" indent="0" marL="0">
              <a:buNone/>
            </a:pPr>
            <a:r>
              <a:rPr lang="en-US" sz="850" dirty="0">
                <a:solidFill>
                  <a:srgbClr val="475569"/>
                </a:solidFill>
              </a:rPr>
              <a:t>誤検知を最小化</a:t>
            </a:r>
            <a:endParaRPr lang="en-US" sz="1000" dirty="0"/>
          </a:p>
        </p:txBody>
      </p:sp>
      <p:sp>
        <p:nvSpPr>
          <p:cNvPr id="12" name="Shape 9"/>
          <p:cNvSpPr/>
          <p:nvPr/>
        </p:nvSpPr>
        <p:spPr>
          <a:xfrm>
            <a:off x="2029968" y="2377440"/>
            <a:ext cx="1627632" cy="22860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3" name="Shape 10"/>
          <p:cNvSpPr/>
          <p:nvPr/>
        </p:nvSpPr>
        <p:spPr>
          <a:xfrm>
            <a:off x="2029968" y="2377440"/>
            <a:ext cx="1627632" cy="45720"/>
          </a:xfrm>
          <a:prstGeom prst="rect">
            <a:avLst/>
          </a:prstGeom>
          <a:solidFill>
            <a:srgbClr val="00A896"/>
          </a:solidFill>
          <a:ln/>
        </p:spPr>
      </p:sp>
      <p:pic>
        <p:nvPicPr>
          <p:cNvPr id="14" name="Image 1" descr="preencoded.png"/>
          <p:cNvPicPr>
            <a:picLocks noChangeAspect="1"/>
          </p:cNvPicPr>
          <p:nvPr/>
        </p:nvPicPr>
        <p:blipFill>
          <a:blip r:embed="rId2"/>
          <a:stretch>
            <a:fillRect/>
          </a:stretch>
        </p:blipFill>
        <p:spPr>
          <a:xfrm>
            <a:off x="2569464" y="2514600"/>
            <a:ext cx="411480" cy="411480"/>
          </a:xfrm>
          <a:prstGeom prst="rect">
            <a:avLst/>
          </a:prstGeom>
        </p:spPr>
      </p:pic>
      <p:sp>
        <p:nvSpPr>
          <p:cNvPr id="15" name="Text 11"/>
          <p:cNvSpPr/>
          <p:nvPr/>
        </p:nvSpPr>
        <p:spPr>
          <a:xfrm>
            <a:off x="2075688" y="2971800"/>
            <a:ext cx="1536192" cy="1600200"/>
          </a:xfrm>
          <a:prstGeom prst="rect">
            <a:avLst/>
          </a:prstGeom>
          <a:noFill/>
          <a:ln/>
        </p:spPr>
        <p:txBody>
          <a:bodyPr wrap="square" lIns="0" tIns="0" rIns="0" bIns="0" rtlCol="0" anchor="t"/>
          <a:lstStyle/>
          <a:p>
            <a:pPr algn="ctr" indent="0" marL="0">
              <a:buNone/>
            </a:pPr>
            <a:r>
              <a:rPr lang="en-US" sz="1000" b="1" dirty="0">
                <a:solidFill>
                  <a:srgbClr val="065A82"/>
                </a:solidFill>
              </a:rPr>
              <a:t>機密データ保護</a:t>
            </a:r>
            <a:endParaRPr lang="en-US" sz="1000" dirty="0"/>
          </a:p>
          <a:p>
            <a:pPr algn="ctr" indent="0" marL="0">
              <a:buNone/>
            </a:pPr>
            <a:r>
              <a:rPr lang="en-US" sz="1000" b="1" dirty="0">
                <a:solidFill>
                  <a:srgbClr val="065A82"/>
                </a:solidFill>
              </a:rPr>
              <a:t>(PII検出)</a:t>
            </a:r>
            <a:endParaRPr lang="en-US" sz="1000" dirty="0"/>
          </a:p>
          <a:p>
            <a:pPr algn="ctr" indent="0" marL="0">
              <a:buNone/>
            </a:pPr>
            <a:endParaRPr lang="en-US" sz="1000" dirty="0"/>
          </a:p>
          <a:p>
            <a:pPr algn="ctr" indent="0" marL="0">
              <a:buNone/>
            </a:pPr>
            <a:r>
              <a:rPr lang="en-US" sz="850" dirty="0">
                <a:solidFill>
                  <a:srgbClr val="475569"/>
                </a:solidFill>
              </a:rPr>
              <a:t>プロンプト・応答内の</a:t>
            </a:r>
            <a:endParaRPr lang="en-US" sz="1000" dirty="0"/>
          </a:p>
          <a:p>
            <a:pPr algn="ctr" indent="0" marL="0">
              <a:buNone/>
            </a:pPr>
            <a:r>
              <a:rPr lang="en-US" sz="850" dirty="0">
                <a:solidFill>
                  <a:srgbClr val="475569"/>
                </a:solidFill>
              </a:rPr>
              <a:t>個人情報(PII)を</a:t>
            </a:r>
            <a:endParaRPr lang="en-US" sz="1000" dirty="0"/>
          </a:p>
          <a:p>
            <a:pPr algn="ctr" indent="0" marL="0">
              <a:buNone/>
            </a:pPr>
            <a:r>
              <a:rPr lang="en-US" sz="850" dirty="0">
                <a:solidFill>
                  <a:srgbClr val="475569"/>
                </a:solidFill>
              </a:rPr>
              <a:t>自動検出・分類・マスク</a:t>
            </a:r>
            <a:endParaRPr lang="en-US" sz="1000" dirty="0"/>
          </a:p>
          <a:p>
            <a:pPr algn="ctr" indent="0" marL="0">
              <a:buNone/>
            </a:pPr>
            <a:r>
              <a:rPr lang="en-US" sz="850" dirty="0">
                <a:solidFill>
                  <a:srgbClr val="475569"/>
                </a:solidFill>
              </a:rPr>
              <a:t>Sensitive Data Protection連携</a:t>
            </a:r>
            <a:endParaRPr lang="en-US" sz="1000" dirty="0"/>
          </a:p>
        </p:txBody>
      </p:sp>
      <p:sp>
        <p:nvSpPr>
          <p:cNvPr id="16" name="Shape 12"/>
          <p:cNvSpPr/>
          <p:nvPr/>
        </p:nvSpPr>
        <p:spPr>
          <a:xfrm>
            <a:off x="3785616" y="2377440"/>
            <a:ext cx="1627632" cy="22860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7" name="Shape 13"/>
          <p:cNvSpPr/>
          <p:nvPr/>
        </p:nvSpPr>
        <p:spPr>
          <a:xfrm>
            <a:off x="3785616" y="2377440"/>
            <a:ext cx="1627632" cy="45720"/>
          </a:xfrm>
          <a:prstGeom prst="rect">
            <a:avLst/>
          </a:prstGeom>
          <a:solidFill>
            <a:srgbClr val="00A896"/>
          </a:solidFill>
          <a:ln/>
        </p:spPr>
      </p:sp>
      <p:pic>
        <p:nvPicPr>
          <p:cNvPr id="18" name="Image 2" descr="preencoded.png"/>
          <p:cNvPicPr>
            <a:picLocks noChangeAspect="1"/>
          </p:cNvPicPr>
          <p:nvPr/>
        </p:nvPicPr>
        <p:blipFill>
          <a:blip r:embed="rId3"/>
          <a:stretch>
            <a:fillRect/>
          </a:stretch>
        </p:blipFill>
        <p:spPr>
          <a:xfrm>
            <a:off x="4325112" y="2514600"/>
            <a:ext cx="411480" cy="411480"/>
          </a:xfrm>
          <a:prstGeom prst="rect">
            <a:avLst/>
          </a:prstGeom>
        </p:spPr>
      </p:pic>
      <p:sp>
        <p:nvSpPr>
          <p:cNvPr id="19" name="Text 14"/>
          <p:cNvSpPr/>
          <p:nvPr/>
        </p:nvSpPr>
        <p:spPr>
          <a:xfrm>
            <a:off x="3831336" y="2971800"/>
            <a:ext cx="1536192" cy="1600200"/>
          </a:xfrm>
          <a:prstGeom prst="rect">
            <a:avLst/>
          </a:prstGeom>
          <a:noFill/>
          <a:ln/>
        </p:spPr>
        <p:txBody>
          <a:bodyPr wrap="square" lIns="0" tIns="0" rIns="0" bIns="0" rtlCol="0" anchor="t"/>
          <a:lstStyle/>
          <a:p>
            <a:pPr algn="ctr" indent="0" marL="0">
              <a:buNone/>
            </a:pPr>
            <a:r>
              <a:rPr lang="en-US" sz="1000" b="1" dirty="0">
                <a:solidFill>
                  <a:srgbClr val="065A82"/>
                </a:solidFill>
              </a:rPr>
              <a:t>有害コンテンツ</a:t>
            </a:r>
            <a:endParaRPr lang="en-US" sz="1000" dirty="0"/>
          </a:p>
          <a:p>
            <a:pPr algn="ctr" indent="0" marL="0">
              <a:buNone/>
            </a:pPr>
            <a:r>
              <a:rPr lang="en-US" sz="1000" b="1" dirty="0">
                <a:solidFill>
                  <a:srgbClr val="065A82"/>
                </a:solidFill>
              </a:rPr>
              <a:t>フィルタリング</a:t>
            </a:r>
            <a:endParaRPr lang="en-US" sz="1000" dirty="0"/>
          </a:p>
          <a:p>
            <a:pPr algn="ctr" indent="0" marL="0">
              <a:buNone/>
            </a:pPr>
            <a:endParaRPr lang="en-US" sz="1000" dirty="0"/>
          </a:p>
          <a:p>
            <a:pPr algn="ctr" indent="0" marL="0">
              <a:buNone/>
            </a:pPr>
            <a:r>
              <a:rPr lang="en-US" sz="850" dirty="0">
                <a:solidFill>
                  <a:srgbClr val="475569"/>
                </a:solidFill>
              </a:rPr>
              <a:t>ヘイトスピーチ、ハラスメント</a:t>
            </a:r>
            <a:endParaRPr lang="en-US" sz="1000" dirty="0"/>
          </a:p>
          <a:p>
            <a:pPr algn="ctr" indent="0" marL="0">
              <a:buNone/>
            </a:pPr>
            <a:r>
              <a:rPr lang="en-US" sz="850" dirty="0">
                <a:solidFill>
                  <a:srgbClr val="475569"/>
                </a:solidFill>
              </a:rPr>
              <a:t>性的コンテンツ、危険情報を</a:t>
            </a:r>
            <a:endParaRPr lang="en-US" sz="1000" dirty="0"/>
          </a:p>
          <a:p>
            <a:pPr algn="ctr" indent="0" marL="0">
              <a:buNone/>
            </a:pPr>
            <a:r>
              <a:rPr lang="en-US" sz="850" dirty="0">
                <a:solidFill>
                  <a:srgbClr val="475569"/>
                </a:solidFill>
              </a:rPr>
              <a:t>段階的信頼度レベルで</a:t>
            </a:r>
            <a:endParaRPr lang="en-US" sz="1000" dirty="0"/>
          </a:p>
          <a:p>
            <a:pPr algn="ctr" indent="0" marL="0">
              <a:buNone/>
            </a:pPr>
            <a:r>
              <a:rPr lang="en-US" sz="850" dirty="0">
                <a:solidFill>
                  <a:srgbClr val="475569"/>
                </a:solidFill>
              </a:rPr>
              <a:t>フィルタリング</a:t>
            </a:r>
            <a:endParaRPr lang="en-US" sz="1000" dirty="0"/>
          </a:p>
        </p:txBody>
      </p:sp>
      <p:sp>
        <p:nvSpPr>
          <p:cNvPr id="20" name="Shape 15"/>
          <p:cNvSpPr/>
          <p:nvPr/>
        </p:nvSpPr>
        <p:spPr>
          <a:xfrm>
            <a:off x="5541264" y="2377440"/>
            <a:ext cx="1627632" cy="22860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1" name="Shape 16"/>
          <p:cNvSpPr/>
          <p:nvPr/>
        </p:nvSpPr>
        <p:spPr>
          <a:xfrm>
            <a:off x="5541264" y="2377440"/>
            <a:ext cx="1627632" cy="45720"/>
          </a:xfrm>
          <a:prstGeom prst="rect">
            <a:avLst/>
          </a:prstGeom>
          <a:solidFill>
            <a:srgbClr val="00A896"/>
          </a:solidFill>
          <a:ln/>
        </p:spPr>
      </p:sp>
      <p:pic>
        <p:nvPicPr>
          <p:cNvPr id="22" name="Image 3" descr="preencoded.png"/>
          <p:cNvPicPr>
            <a:picLocks noChangeAspect="1"/>
          </p:cNvPicPr>
          <p:nvPr/>
        </p:nvPicPr>
        <p:blipFill>
          <a:blip r:embed="rId4"/>
          <a:stretch>
            <a:fillRect/>
          </a:stretch>
        </p:blipFill>
        <p:spPr>
          <a:xfrm>
            <a:off x="6080760" y="2514600"/>
            <a:ext cx="411480" cy="411480"/>
          </a:xfrm>
          <a:prstGeom prst="rect">
            <a:avLst/>
          </a:prstGeom>
        </p:spPr>
      </p:pic>
      <p:sp>
        <p:nvSpPr>
          <p:cNvPr id="23" name="Text 17"/>
          <p:cNvSpPr/>
          <p:nvPr/>
        </p:nvSpPr>
        <p:spPr>
          <a:xfrm>
            <a:off x="5586984" y="2971800"/>
            <a:ext cx="1536192" cy="1600200"/>
          </a:xfrm>
          <a:prstGeom prst="rect">
            <a:avLst/>
          </a:prstGeom>
          <a:noFill/>
          <a:ln/>
        </p:spPr>
        <p:txBody>
          <a:bodyPr wrap="square" lIns="0" tIns="0" rIns="0" bIns="0" rtlCol="0" anchor="t"/>
          <a:lstStyle/>
          <a:p>
            <a:pPr algn="ctr" indent="0" marL="0">
              <a:buNone/>
            </a:pPr>
            <a:r>
              <a:rPr lang="en-US" sz="1000" b="1" dirty="0">
                <a:solidFill>
                  <a:srgbClr val="065A82"/>
                </a:solidFill>
              </a:rPr>
              <a:t>悪意のある</a:t>
            </a:r>
            <a:endParaRPr lang="en-US" sz="1000" dirty="0"/>
          </a:p>
          <a:p>
            <a:pPr algn="ctr" indent="0" marL="0">
              <a:buNone/>
            </a:pPr>
            <a:r>
              <a:rPr lang="en-US" sz="1000" b="1" dirty="0">
                <a:solidFill>
                  <a:srgbClr val="065A82"/>
                </a:solidFill>
              </a:rPr>
              <a:t>URL検出</a:t>
            </a:r>
            <a:endParaRPr lang="en-US" sz="1000" dirty="0"/>
          </a:p>
          <a:p>
            <a:pPr algn="ctr" indent="0" marL="0">
              <a:buNone/>
            </a:pPr>
            <a:endParaRPr lang="en-US" sz="1000" dirty="0"/>
          </a:p>
          <a:p>
            <a:pPr algn="ctr" indent="0" marL="0">
              <a:buNone/>
            </a:pPr>
            <a:r>
              <a:rPr lang="en-US" sz="850" dirty="0">
                <a:solidFill>
                  <a:srgbClr val="475569"/>
                </a:solidFill>
              </a:rPr>
              <a:t>フィッシングリンク、</a:t>
            </a:r>
            <a:endParaRPr lang="en-US" sz="1000" dirty="0"/>
          </a:p>
          <a:p>
            <a:pPr algn="ctr" indent="0" marL="0">
              <a:buNone/>
            </a:pPr>
            <a:r>
              <a:rPr lang="en-US" sz="850" dirty="0">
                <a:solidFill>
                  <a:srgbClr val="475569"/>
                </a:solidFill>
              </a:rPr>
              <a:t>マルウェア配布URLを</a:t>
            </a:r>
            <a:endParaRPr lang="en-US" sz="1000" dirty="0"/>
          </a:p>
          <a:p>
            <a:pPr algn="ctr" indent="0" marL="0">
              <a:buNone/>
            </a:pPr>
            <a:r>
              <a:rPr lang="en-US" sz="850" dirty="0">
                <a:solidFill>
                  <a:srgbClr val="475569"/>
                </a:solidFill>
              </a:rPr>
              <a:t>スキャン（1リクエスト</a:t>
            </a:r>
            <a:endParaRPr lang="en-US" sz="1000" dirty="0"/>
          </a:p>
          <a:p>
            <a:pPr algn="ctr" indent="0" marL="0">
              <a:buNone/>
            </a:pPr>
            <a:r>
              <a:rPr lang="en-US" sz="850" dirty="0">
                <a:solidFill>
                  <a:srgbClr val="475569"/>
                </a:solidFill>
              </a:rPr>
              <a:t>あたり最大40 URL処理）</a:t>
            </a:r>
            <a:endParaRPr lang="en-US" sz="1000" dirty="0"/>
          </a:p>
        </p:txBody>
      </p:sp>
      <p:sp>
        <p:nvSpPr>
          <p:cNvPr id="24" name="Shape 18"/>
          <p:cNvSpPr/>
          <p:nvPr/>
        </p:nvSpPr>
        <p:spPr>
          <a:xfrm>
            <a:off x="7296912" y="2377440"/>
            <a:ext cx="1627632" cy="22860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5" name="Shape 19"/>
          <p:cNvSpPr/>
          <p:nvPr/>
        </p:nvSpPr>
        <p:spPr>
          <a:xfrm>
            <a:off x="7296912" y="2377440"/>
            <a:ext cx="1627632" cy="45720"/>
          </a:xfrm>
          <a:prstGeom prst="rect">
            <a:avLst/>
          </a:prstGeom>
          <a:solidFill>
            <a:srgbClr val="00A896"/>
          </a:solidFill>
          <a:ln/>
        </p:spPr>
      </p:sp>
      <p:pic>
        <p:nvPicPr>
          <p:cNvPr id="26" name="Image 4" descr="preencoded.png"/>
          <p:cNvPicPr>
            <a:picLocks noChangeAspect="1"/>
          </p:cNvPicPr>
          <p:nvPr/>
        </p:nvPicPr>
        <p:blipFill>
          <a:blip r:embed="rId5"/>
          <a:stretch>
            <a:fillRect/>
          </a:stretch>
        </p:blipFill>
        <p:spPr>
          <a:xfrm>
            <a:off x="7836408" y="2514600"/>
            <a:ext cx="411480" cy="411480"/>
          </a:xfrm>
          <a:prstGeom prst="rect">
            <a:avLst/>
          </a:prstGeom>
        </p:spPr>
      </p:pic>
      <p:sp>
        <p:nvSpPr>
          <p:cNvPr id="27" name="Text 20"/>
          <p:cNvSpPr/>
          <p:nvPr/>
        </p:nvSpPr>
        <p:spPr>
          <a:xfrm>
            <a:off x="7342632" y="2971800"/>
            <a:ext cx="1536192" cy="1600200"/>
          </a:xfrm>
          <a:prstGeom prst="rect">
            <a:avLst/>
          </a:prstGeom>
          <a:noFill/>
          <a:ln/>
        </p:spPr>
        <p:txBody>
          <a:bodyPr wrap="square" lIns="0" tIns="0" rIns="0" bIns="0" rtlCol="0" anchor="t"/>
          <a:lstStyle/>
          <a:p>
            <a:pPr algn="ctr" indent="0" marL="0">
              <a:buNone/>
            </a:pPr>
            <a:r>
              <a:rPr lang="en-US" sz="1000" b="1" dirty="0">
                <a:solidFill>
                  <a:srgbClr val="065A82"/>
                </a:solidFill>
              </a:rPr>
              <a:t>ドキュメント</a:t>
            </a:r>
            <a:endParaRPr lang="en-US" sz="1000" dirty="0"/>
          </a:p>
          <a:p>
            <a:pPr algn="ctr" indent="0" marL="0">
              <a:buNone/>
            </a:pPr>
            <a:r>
              <a:rPr lang="en-US" sz="1000" b="1" dirty="0">
                <a:solidFill>
                  <a:srgbClr val="065A82"/>
                </a:solidFill>
              </a:rPr>
              <a:t>スクリーニング</a:t>
            </a:r>
            <a:endParaRPr lang="en-US" sz="1000" dirty="0"/>
          </a:p>
          <a:p>
            <a:pPr algn="ctr" indent="0" marL="0">
              <a:buNone/>
            </a:pPr>
            <a:endParaRPr lang="en-US" sz="1000" dirty="0"/>
          </a:p>
          <a:p>
            <a:pPr algn="ctr" indent="0" marL="0">
              <a:buNone/>
            </a:pPr>
            <a:r>
              <a:rPr lang="en-US" sz="850" dirty="0">
                <a:solidFill>
                  <a:srgbClr val="475569"/>
                </a:solidFill>
              </a:rPr>
              <a:t>添付文書内のインジェクション</a:t>
            </a:r>
            <a:endParaRPr lang="en-US" sz="1000" dirty="0"/>
          </a:p>
          <a:p>
            <a:pPr algn="ctr" indent="0" marL="0">
              <a:buNone/>
            </a:pPr>
            <a:r>
              <a:rPr lang="en-US" sz="850" dirty="0">
                <a:solidFill>
                  <a:srgbClr val="475569"/>
                </a:solidFill>
              </a:rPr>
              <a:t>機密データ、悪意URLを</a:t>
            </a:r>
            <a:endParaRPr lang="en-US" sz="1000" dirty="0"/>
          </a:p>
          <a:p>
            <a:pPr algn="ctr" indent="0" marL="0">
              <a:buNone/>
            </a:pPr>
            <a:r>
              <a:rPr lang="en-US" sz="850" dirty="0">
                <a:solidFill>
                  <a:srgbClr val="475569"/>
                </a:solidFill>
              </a:rPr>
              <a:t>包括的にスキャン</a:t>
            </a:r>
            <a:endParaRPr lang="en-US" sz="1000" dirty="0"/>
          </a:p>
          <a:p>
            <a:pPr algn="ctr" indent="0" marL="0">
              <a:buNone/>
            </a:pPr>
            <a:r>
              <a:rPr lang="en-US" sz="850" dirty="0">
                <a:solidFill>
                  <a:srgbClr val="475569"/>
                </a:solidFill>
              </a:rPr>
              <a:t>文書安全性の総合評価</a:t>
            </a:r>
            <a:endParaRPr lang="en-US" sz="1000" dirty="0"/>
          </a:p>
        </p:txBody>
      </p:sp>
      <p:sp>
        <p:nvSpPr>
          <p:cNvPr id="28" name="Shape 21"/>
          <p:cNvSpPr/>
          <p:nvPr/>
        </p:nvSpPr>
        <p:spPr>
          <a:xfrm>
            <a:off x="0" y="4754880"/>
            <a:ext cx="9144000" cy="388620"/>
          </a:xfrm>
          <a:prstGeom prst="rect">
            <a:avLst/>
          </a:prstGeom>
          <a:solidFill>
            <a:srgbClr val="1E2761"/>
          </a:solidFill>
          <a:ln/>
        </p:spPr>
      </p:sp>
      <p:sp>
        <p:nvSpPr>
          <p:cNvPr id="29" name="Text 22"/>
          <p:cNvSpPr/>
          <p:nvPr/>
        </p:nvSpPr>
        <p:spPr>
          <a:xfrm>
            <a:off x="457200" y="4754880"/>
            <a:ext cx="8229600" cy="38862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出典: Google Cloud Model Armor Documentation / Google Cloud Security Blog (2025)</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96"/>
          </a:solidFill>
          <a:ln/>
        </p:spPr>
      </p:sp>
      <p:sp>
        <p:nvSpPr>
          <p:cNvPr id="3" name="Text 1"/>
          <p:cNvSpPr/>
          <p:nvPr/>
        </p:nvSpPr>
        <p:spPr>
          <a:xfrm>
            <a:off x="640080" y="137160"/>
            <a:ext cx="8229600" cy="548640"/>
          </a:xfrm>
          <a:prstGeom prst="rect">
            <a:avLst/>
          </a:prstGeom>
          <a:noFill/>
          <a:ln/>
        </p:spPr>
        <p:txBody>
          <a:bodyPr wrap="square" lIns="0" tIns="0" rIns="0" bIns="0" rtlCol="0" anchor="ctr"/>
          <a:lstStyle/>
          <a:p>
            <a:pPr indent="0" marL="0">
              <a:buNone/>
            </a:pPr>
            <a:r>
              <a:rPr lang="en-US" sz="2400" b="1" dirty="0">
                <a:solidFill>
                  <a:srgbClr val="1E2761"/>
                </a:solidFill>
                <a:latin typeface="Georgia" pitchFamily="34" charset="0"/>
                <a:ea typeface="Georgia" pitchFamily="34" charset="-122"/>
                <a:cs typeface="Georgia" pitchFamily="34" charset="-120"/>
              </a:rPr>
              <a:t>本プラットフォームの多層防御 — Model Armorを超えて</a:t>
            </a:r>
            <a:endParaRPr lang="en-US" sz="2400" dirty="0"/>
          </a:p>
        </p:txBody>
      </p:sp>
      <p:sp>
        <p:nvSpPr>
          <p:cNvPr id="4" name="Shape 2"/>
          <p:cNvSpPr/>
          <p:nvPr/>
        </p:nvSpPr>
        <p:spPr>
          <a:xfrm>
            <a:off x="640080" y="731520"/>
            <a:ext cx="7863840" cy="502920"/>
          </a:xfrm>
          <a:prstGeom prst="rect">
            <a:avLst/>
          </a:prstGeom>
          <a:solidFill>
            <a:srgbClr val="00A896"/>
          </a:solidFill>
          <a:ln/>
          <a:effectLst>
            <a:outerShdw sx="100000" sy="100000" kx="0" ky="0" algn="bl" rotWithShape="0" blurRad="76200" dist="25400" dir="8100000">
              <a:srgbClr val="000000">
                <a:alpha val="12000"/>
              </a:srgbClr>
            </a:outerShdw>
          </a:effectLst>
        </p:spPr>
      </p:sp>
      <p:sp>
        <p:nvSpPr>
          <p:cNvPr id="5" name="Text 3"/>
          <p:cNvSpPr/>
          <p:nvPr/>
        </p:nvSpPr>
        <p:spPr>
          <a:xfrm>
            <a:off x="822960" y="731520"/>
            <a:ext cx="7498080" cy="5029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仲介エージェントは model_armor.py プラグインで Model Armor を内蔵 + 独自の多層セキュリティを追加</a:t>
            </a:r>
            <a:endParaRPr lang="en-US" sz="1200" dirty="0"/>
          </a:p>
        </p:txBody>
      </p:sp>
      <p:sp>
        <p:nvSpPr>
          <p:cNvPr id="6" name="Shape 4"/>
          <p:cNvSpPr/>
          <p:nvPr/>
        </p:nvSpPr>
        <p:spPr>
          <a:xfrm>
            <a:off x="457200" y="1371600"/>
            <a:ext cx="2743200" cy="32461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7" name="Shape 5"/>
          <p:cNvSpPr/>
          <p:nvPr/>
        </p:nvSpPr>
        <p:spPr>
          <a:xfrm>
            <a:off x="457200" y="1371600"/>
            <a:ext cx="2743200" cy="411480"/>
          </a:xfrm>
          <a:prstGeom prst="rect">
            <a:avLst/>
          </a:prstGeom>
          <a:solidFill>
            <a:srgbClr val="1C7293"/>
          </a:solidFill>
          <a:ln/>
        </p:spPr>
      </p:sp>
      <p:sp>
        <p:nvSpPr>
          <p:cNvPr id="8" name="Text 6"/>
          <p:cNvSpPr/>
          <p:nvPr/>
        </p:nvSpPr>
        <p:spPr>
          <a:xfrm>
            <a:off x="548640" y="1371600"/>
            <a:ext cx="2560320" cy="41148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Layer 1: Model Armor（内蔵）</a:t>
            </a:r>
            <a:endParaRPr lang="en-US" sz="1100" dirty="0"/>
          </a:p>
        </p:txBody>
      </p:sp>
      <p:sp>
        <p:nvSpPr>
          <p:cNvPr id="9" name="Text 7"/>
          <p:cNvSpPr/>
          <p:nvPr/>
        </p:nvSpPr>
        <p:spPr>
          <a:xfrm>
            <a:off x="594360" y="1874520"/>
            <a:ext cx="2468880" cy="2651760"/>
          </a:xfrm>
          <a:prstGeom prst="rect">
            <a:avLst/>
          </a:prstGeom>
          <a:noFill/>
          <a:ln/>
        </p:spPr>
        <p:txBody>
          <a:bodyPr wrap="square" lIns="0" tIns="0" rIns="0" bIns="0" rtlCol="0" anchor="t"/>
          <a:lstStyle/>
          <a:p>
            <a:pPr indent="0" marL="0">
              <a:buNone/>
            </a:pPr>
            <a:r>
              <a:rPr lang="en-US" sz="900" b="1" dirty="0">
                <a:solidFill>
                  <a:srgbClr val="065A82"/>
                </a:solidFill>
              </a:rPr>
              <a:t>model_armor.py プラグイン経由で</a:t>
            </a:r>
            <a:endParaRPr lang="en-US" sz="900" dirty="0"/>
          </a:p>
          <a:p>
            <a:pPr indent="0" marL="0">
              <a:buNone/>
            </a:pPr>
            <a:r>
              <a:rPr lang="en-US" sz="900" b="1" dirty="0">
                <a:solidFill>
                  <a:srgbClr val="065A82"/>
                </a:solidFill>
              </a:rPr>
              <a:t>Google Model Armor API を直接呼出し</a:t>
            </a:r>
            <a:endParaRPr lang="en-US" sz="900" dirty="0"/>
          </a:p>
          <a:p>
            <a:pPr indent="0" marL="0">
              <a:buNone/>
            </a:pPr>
            <a:endParaRPr lang="en-US" sz="900" dirty="0"/>
          </a:p>
          <a:p>
            <a:pPr marL="342900" indent="-342900">
              <a:buSzPct val="100000"/>
              <a:buChar char="•"/>
            </a:pPr>
            <a:r>
              <a:rPr lang="en-US" sz="900" dirty="0">
                <a:solidFill>
                  <a:srgbClr val="1E293B"/>
                </a:solidFill>
              </a:rPr>
              <a:t>Prompt Injection検知</a:t>
            </a:r>
            <a:endParaRPr lang="en-US" sz="900" dirty="0"/>
          </a:p>
          <a:p>
            <a:pPr marL="342900" indent="-342900">
              <a:buSzPct val="100000"/>
              <a:buChar char="•"/>
            </a:pPr>
            <a:r>
              <a:rPr lang="en-US" sz="900" dirty="0">
                <a:solidFill>
                  <a:srgbClr val="1E293B"/>
                </a:solidFill>
              </a:rPr>
              <a:t>PII自動検出・マスク</a:t>
            </a:r>
            <a:endParaRPr lang="en-US" sz="900" dirty="0"/>
          </a:p>
          <a:p>
            <a:pPr marL="342900" indent="-342900">
              <a:buSzPct val="100000"/>
              <a:buChar char="•"/>
            </a:pPr>
            <a:r>
              <a:rPr lang="en-US" sz="900" dirty="0">
                <a:solidFill>
                  <a:srgbClr val="1E293B"/>
                </a:solidFill>
              </a:rPr>
              <a:t>有害コンテンツフィルタ</a:t>
            </a:r>
            <a:endParaRPr lang="en-US" sz="900" dirty="0"/>
          </a:p>
          <a:p>
            <a:pPr marL="342900" indent="-342900">
              <a:buSzPct val="100000"/>
              <a:buChar char="•"/>
            </a:pPr>
            <a:r>
              <a:rPr lang="en-US" sz="900" dirty="0">
                <a:solidFill>
                  <a:srgbClr val="1E293B"/>
                </a:solidFill>
              </a:rPr>
              <a:t>悪意URL検出</a:t>
            </a:r>
            <a:endParaRPr lang="en-US" sz="900" dirty="0"/>
          </a:p>
          <a:p>
            <a:pPr marL="342900" indent="-342900">
              <a:buSzPct val="100000"/>
              <a:buChar char="•"/>
            </a:pPr>
            <a:r>
              <a:rPr lang="en-US" sz="900" dirty="0">
                <a:solidFill>
                  <a:srgbClr val="1E293B"/>
                </a:solidFill>
              </a:rPr>
              <a:t>文書スクリーニング</a:t>
            </a:r>
            <a:endParaRPr lang="en-US" sz="900" dirty="0"/>
          </a:p>
          <a:p>
            <a:pPr indent="0" marL="0">
              <a:buNone/>
            </a:pPr>
            <a:endParaRPr lang="en-US" sz="900" dirty="0"/>
          </a:p>
          <a:p>
            <a:pPr indent="0" marL="0">
              <a:buNone/>
            </a:pPr>
            <a:r>
              <a:rPr lang="en-US" sz="850" dirty="0">
                <a:solidFill>
                  <a:srgbClr val="475569"/>
                </a:solidFill>
              </a:rPr>
              <a:t>3つのコールバックで全経路を検査:</a:t>
            </a:r>
            <a:endParaRPr lang="en-US" sz="900" dirty="0"/>
          </a:p>
          <a:p>
            <a:pPr indent="0" marL="0">
              <a:buNone/>
            </a:pPr>
            <a:r>
              <a:rPr lang="en-US" sz="850" i="1" dirty="0">
                <a:solidFill>
                  <a:srgbClr val="475569"/>
                </a:solidFill>
              </a:rPr>
              <a:t>on_user_message / after_model</a:t>
            </a:r>
            <a:endParaRPr lang="en-US" sz="900" dirty="0"/>
          </a:p>
          <a:p>
            <a:pPr indent="0" marL="0">
              <a:buNone/>
            </a:pPr>
            <a:r>
              <a:rPr lang="en-US" sz="850" i="1" dirty="0">
                <a:solidFill>
                  <a:srgbClr val="475569"/>
                </a:solidFill>
              </a:rPr>
              <a:t>/ after_tool</a:t>
            </a:r>
            <a:endParaRPr lang="en-US" sz="900" dirty="0"/>
          </a:p>
        </p:txBody>
      </p:sp>
      <p:sp>
        <p:nvSpPr>
          <p:cNvPr id="10" name="Shape 8"/>
          <p:cNvSpPr/>
          <p:nvPr/>
        </p:nvSpPr>
        <p:spPr>
          <a:xfrm>
            <a:off x="3383280" y="1371600"/>
            <a:ext cx="2743200" cy="32461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1" name="Shape 9"/>
          <p:cNvSpPr/>
          <p:nvPr/>
        </p:nvSpPr>
        <p:spPr>
          <a:xfrm>
            <a:off x="3383280" y="1371600"/>
            <a:ext cx="2743200" cy="411480"/>
          </a:xfrm>
          <a:prstGeom prst="rect">
            <a:avLst/>
          </a:prstGeom>
          <a:solidFill>
            <a:srgbClr val="065A82"/>
          </a:solidFill>
          <a:ln/>
        </p:spPr>
      </p:sp>
      <p:sp>
        <p:nvSpPr>
          <p:cNvPr id="12" name="Text 10"/>
          <p:cNvSpPr/>
          <p:nvPr/>
        </p:nvSpPr>
        <p:spPr>
          <a:xfrm>
            <a:off x="3474720" y="1371600"/>
            <a:ext cx="2560320" cy="41148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Layer 2: LLM-as-a-Judge（独自）</a:t>
            </a:r>
            <a:endParaRPr lang="en-US" sz="1100" dirty="0"/>
          </a:p>
        </p:txBody>
      </p:sp>
      <p:sp>
        <p:nvSpPr>
          <p:cNvPr id="13" name="Text 11"/>
          <p:cNvSpPr/>
          <p:nvPr/>
        </p:nvSpPr>
        <p:spPr>
          <a:xfrm>
            <a:off x="3520440" y="1874520"/>
            <a:ext cx="2468880" cy="2651760"/>
          </a:xfrm>
          <a:prstGeom prst="rect">
            <a:avLst/>
          </a:prstGeom>
          <a:noFill/>
          <a:ln/>
        </p:spPr>
        <p:txBody>
          <a:bodyPr wrap="square" lIns="0" tIns="0" rIns="0" bIns="0" rtlCol="0" anchor="t"/>
          <a:lstStyle/>
          <a:p>
            <a:pPr indent="0" marL="0">
              <a:buNone/>
            </a:pPr>
            <a:r>
              <a:rPr lang="en-US" sz="900" b="1" dirty="0">
                <a:solidFill>
                  <a:srgbClr val="065A82"/>
                </a:solidFill>
              </a:rPr>
              <a:t>10カテゴリのジェイルブレイク検知</a:t>
            </a:r>
            <a:endParaRPr lang="en-US" sz="900" dirty="0"/>
          </a:p>
          <a:p>
            <a:pPr indent="0" marL="0">
              <a:buNone/>
            </a:pPr>
            <a:endParaRPr lang="en-US" sz="900" dirty="0"/>
          </a:p>
          <a:p>
            <a:pPr marL="342900" indent="-342900">
              <a:buSzPct val="100000"/>
              <a:buChar char="•"/>
            </a:pPr>
            <a:r>
              <a:rPr lang="en-US" sz="850" dirty="0">
                <a:solidFill>
                  <a:srgbClr val="1E293B"/>
                </a:solidFill>
              </a:rPr>
              <a:t>ペルソナ/ロールプレイ</a:t>
            </a:r>
            <a:endParaRPr lang="en-US" sz="900" dirty="0"/>
          </a:p>
          <a:p>
            <a:pPr marL="342900" indent="-342900">
              <a:buSzPct val="100000"/>
              <a:buChar char="•"/>
            </a:pPr>
            <a:r>
              <a:rPr lang="en-US" sz="850" dirty="0">
                <a:solidFill>
                  <a:srgbClr val="1E293B"/>
                </a:solidFill>
              </a:rPr>
              <a:t>仮想/フィクション文脈</a:t>
            </a:r>
            <a:endParaRPr lang="en-US" sz="900" dirty="0"/>
          </a:p>
          <a:p>
            <a:pPr marL="342900" indent="-342900">
              <a:buSzPct val="100000"/>
              <a:buChar char="•"/>
            </a:pPr>
            <a:r>
              <a:rPr lang="en-US" sz="850" dirty="0">
                <a:solidFill>
                  <a:srgbClr val="1E293B"/>
                </a:solidFill>
              </a:rPr>
              <a:t>命令/ルール操作</a:t>
            </a:r>
            <a:endParaRPr lang="en-US" sz="900" dirty="0"/>
          </a:p>
          <a:p>
            <a:pPr marL="342900" indent="-342900">
              <a:buSzPct val="100000"/>
              <a:buChar char="•"/>
            </a:pPr>
            <a:r>
              <a:rPr lang="en-US" sz="850" dirty="0">
                <a:solidFill>
                  <a:srgbClr val="1E293B"/>
                </a:solidFill>
              </a:rPr>
              <a:t>難読化・エンコーディング</a:t>
            </a:r>
            <a:endParaRPr lang="en-US" sz="900" dirty="0"/>
          </a:p>
          <a:p>
            <a:pPr marL="342900" indent="-342900">
              <a:buSzPct val="100000"/>
              <a:buChar char="•"/>
            </a:pPr>
            <a:r>
              <a:rPr lang="en-US" sz="850" dirty="0">
                <a:solidFill>
                  <a:srgbClr val="1E293B"/>
                </a:solidFill>
              </a:rPr>
              <a:t>論理的抜け穴の悪用</a:t>
            </a:r>
            <a:endParaRPr lang="en-US" sz="900" dirty="0"/>
          </a:p>
          <a:p>
            <a:pPr marL="342900" indent="-342900">
              <a:buSzPct val="100000"/>
              <a:buChar char="•"/>
            </a:pPr>
            <a:r>
              <a:rPr lang="en-US" sz="850" dirty="0">
                <a:solidFill>
                  <a:srgbClr val="1E293B"/>
                </a:solidFill>
              </a:rPr>
              <a:t>間接/メタデータ要求</a:t>
            </a:r>
            <a:endParaRPr lang="en-US" sz="900" dirty="0"/>
          </a:p>
          <a:p>
            <a:pPr marL="342900" indent="-342900">
              <a:buSzPct val="100000"/>
              <a:buChar char="•"/>
            </a:pPr>
            <a:r>
              <a:rPr lang="en-US" sz="850" dirty="0">
                <a:solidFill>
                  <a:srgbClr val="1E293B"/>
                </a:solidFill>
              </a:rPr>
              <a:t>マルチターン回避</a:t>
            </a:r>
            <a:endParaRPr lang="en-US" sz="900" dirty="0"/>
          </a:p>
          <a:p>
            <a:pPr marL="342900" indent="-342900">
              <a:buSzPct val="100000"/>
              <a:buChar char="•"/>
            </a:pPr>
            <a:r>
              <a:rPr lang="en-US" sz="850" dirty="0">
                <a:solidFill>
                  <a:srgbClr val="1E293B"/>
                </a:solidFill>
              </a:rPr>
              <a:t>敵対的接頭辞/接尾辞</a:t>
            </a:r>
            <a:endParaRPr lang="en-US" sz="900" dirty="0"/>
          </a:p>
          <a:p>
            <a:pPr marL="342900" indent="-342900">
              <a:buSzPct val="100000"/>
              <a:buChar char="•"/>
            </a:pPr>
            <a:r>
              <a:rPr lang="en-US" sz="850" dirty="0">
                <a:solidFill>
                  <a:srgbClr val="1E293B"/>
                </a:solidFill>
              </a:rPr>
              <a:t>低リソース言語回避</a:t>
            </a:r>
            <a:endParaRPr lang="en-US" sz="900" dirty="0"/>
          </a:p>
          <a:p>
            <a:pPr indent="0" marL="0">
              <a:buNone/>
            </a:pPr>
            <a:endParaRPr lang="en-US" sz="900" dirty="0"/>
          </a:p>
          <a:p>
            <a:pPr indent="0" marL="0">
              <a:buNone/>
            </a:pPr>
            <a:r>
              <a:rPr lang="en-US" sz="850" b="1" dirty="0">
                <a:solidFill>
                  <a:srgbClr val="B91C1C"/>
                </a:solidFill>
              </a:rPr>
              <a:t>A2A間接インジェクション検知</a:t>
            </a:r>
            <a:endParaRPr lang="en-US" sz="900" dirty="0"/>
          </a:p>
          <a:p>
            <a:pPr indent="0" marL="0">
              <a:buNone/>
            </a:pPr>
            <a:r>
              <a:rPr lang="en-US" sz="850" b="1" dirty="0">
                <a:solidFill>
                  <a:srgbClr val="B91C1C"/>
                </a:solidFill>
              </a:rPr>
              <a:t>（エージェント応答内の隠しコマンド）</a:t>
            </a:r>
            <a:endParaRPr lang="en-US" sz="900" dirty="0"/>
          </a:p>
        </p:txBody>
      </p:sp>
      <p:sp>
        <p:nvSpPr>
          <p:cNvPr id="14" name="Shape 12"/>
          <p:cNvSpPr/>
          <p:nvPr/>
        </p:nvSpPr>
        <p:spPr>
          <a:xfrm>
            <a:off x="6309360" y="1371600"/>
            <a:ext cx="2560320" cy="32461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5" name="Shape 13"/>
          <p:cNvSpPr/>
          <p:nvPr/>
        </p:nvSpPr>
        <p:spPr>
          <a:xfrm>
            <a:off x="6309360" y="1371600"/>
            <a:ext cx="2560320" cy="411480"/>
          </a:xfrm>
          <a:prstGeom prst="rect">
            <a:avLst/>
          </a:prstGeom>
          <a:solidFill>
            <a:srgbClr val="1E2761"/>
          </a:solidFill>
          <a:ln/>
        </p:spPr>
      </p:sp>
      <p:sp>
        <p:nvSpPr>
          <p:cNvPr id="16" name="Text 14"/>
          <p:cNvSpPr/>
          <p:nvPr/>
        </p:nvSpPr>
        <p:spPr>
          <a:xfrm>
            <a:off x="6400800" y="1371600"/>
            <a:ext cx="2377440" cy="41148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Layer 3: 実行時監視（独自）</a:t>
            </a:r>
            <a:endParaRPr lang="en-US" sz="1100" dirty="0"/>
          </a:p>
        </p:txBody>
      </p:sp>
      <p:sp>
        <p:nvSpPr>
          <p:cNvPr id="17" name="Text 15"/>
          <p:cNvSpPr/>
          <p:nvPr/>
        </p:nvSpPr>
        <p:spPr>
          <a:xfrm>
            <a:off x="6446520" y="1874520"/>
            <a:ext cx="2286000" cy="2651760"/>
          </a:xfrm>
          <a:prstGeom prst="rect">
            <a:avLst/>
          </a:prstGeom>
          <a:noFill/>
          <a:ln/>
        </p:spPr>
        <p:txBody>
          <a:bodyPr wrap="square" lIns="0" tIns="0" rIns="0" bIns="0" rtlCol="0" anchor="t"/>
          <a:lstStyle/>
          <a:p>
            <a:pPr indent="0" marL="0">
              <a:buNone/>
            </a:pPr>
            <a:r>
              <a:rPr lang="en-US" sz="900" b="1" dirty="0">
                <a:solidFill>
                  <a:srgbClr val="1E2761"/>
                </a:solidFill>
              </a:rPr>
              <a:t>マルチエージェント特有の脅威対応</a:t>
            </a:r>
            <a:endParaRPr lang="en-US" sz="900" dirty="0"/>
          </a:p>
          <a:p>
            <a:pPr indent="0" marL="0">
              <a:buNone/>
            </a:pPr>
            <a:endParaRPr lang="en-US" sz="900" dirty="0"/>
          </a:p>
          <a:p>
            <a:pPr marL="342900" indent="-342900">
              <a:buSzPct val="100000"/>
              <a:buChar char="•"/>
            </a:pPr>
            <a:r>
              <a:rPr lang="en-US" sz="900" dirty="0">
                <a:solidFill>
                  <a:srgbClr val="1E293B"/>
                </a:solidFill>
              </a:rPr>
              <a:t>計画逸脱検知</a:t>
            </a:r>
            <a:endParaRPr lang="en-US" sz="900" dirty="0"/>
          </a:p>
          <a:p>
            <a:pPr marL="342900" indent="-342900">
              <a:buSzPct val="100000"/>
              <a:buChar char="•"/>
            </a:pPr>
            <a:r>
              <a:rPr lang="en-US" sz="900" dirty="0">
                <a:solidFill>
                  <a:srgbClr val="1E293B"/>
                </a:solidFill>
              </a:rPr>
              <a:t>幻覚チェーン検知</a:t>
            </a:r>
            <a:endParaRPr lang="en-US" sz="900" dirty="0"/>
          </a:p>
          <a:p>
            <a:pPr marL="342900" indent="-342900">
              <a:buSzPct val="100000"/>
              <a:buChar char="•"/>
            </a:pPr>
            <a:r>
              <a:rPr lang="en-US" sz="900" dirty="0">
                <a:solidFill>
                  <a:srgbClr val="1E293B"/>
                </a:solidFill>
              </a:rPr>
              <a:t>リアルタイム異常検知</a:t>
            </a:r>
            <a:endParaRPr lang="en-US" sz="900" dirty="0"/>
          </a:p>
          <a:p>
            <a:pPr marL="342900" indent="-342900">
              <a:buSzPct val="100000"/>
              <a:buChar char="•"/>
            </a:pPr>
            <a:r>
              <a:rPr lang="en-US" sz="900" dirty="0">
                <a:solidFill>
                  <a:srgbClr val="1E293B"/>
                </a:solidFill>
              </a:rPr>
              <a:t>最終異常検知（2段階）</a:t>
            </a:r>
            <a:endParaRPr lang="en-US" sz="900" dirty="0"/>
          </a:p>
          <a:p>
            <a:pPr marL="342900" indent="-342900">
              <a:buSzPct val="100000"/>
              <a:buChar char="•"/>
            </a:pPr>
            <a:r>
              <a:rPr lang="en-US" sz="900" dirty="0">
                <a:solidFill>
                  <a:srgbClr val="1E293B"/>
                </a:solidFill>
              </a:rPr>
              <a:t>Trust Score適応</a:t>
            </a:r>
            <a:endParaRPr lang="en-US" sz="900" dirty="0"/>
          </a:p>
          <a:p>
            <a:pPr marL="342900" indent="-342900">
              <a:buSzPct val="100000"/>
              <a:buChar char="•"/>
            </a:pPr>
            <a:r>
              <a:rPr lang="en-US" sz="900" dirty="0">
                <a:solidFill>
                  <a:srgbClr val="1E293B"/>
                </a:solidFill>
              </a:rPr>
              <a:t>ツール使用監視</a:t>
            </a:r>
            <a:endParaRPr lang="en-US" sz="900" dirty="0"/>
          </a:p>
          <a:p>
            <a:pPr marL="342900" indent="-342900">
              <a:buSzPct val="100000"/>
              <a:buChar char="•"/>
            </a:pPr>
            <a:r>
              <a:rPr lang="en-US" sz="900" dirty="0">
                <a:solidFill>
                  <a:srgbClr val="1E293B"/>
                </a:solidFill>
              </a:rPr>
              <a:t>実行停止制御</a:t>
            </a:r>
            <a:endParaRPr lang="en-US" sz="900" dirty="0"/>
          </a:p>
          <a:p>
            <a:pPr indent="0" marL="0">
              <a:buNone/>
            </a:pPr>
            <a:endParaRPr lang="en-US" sz="900" dirty="0"/>
          </a:p>
          <a:p>
            <a:pPr indent="0" marL="0">
              <a:buNone/>
            </a:pPr>
            <a:r>
              <a:rPr lang="en-US" sz="850" b="1" dirty="0">
                <a:solidFill>
                  <a:srgbClr val="00A896"/>
                </a:solidFill>
              </a:rPr>
              <a:t>Model Armorにない機能:</a:t>
            </a:r>
            <a:endParaRPr lang="en-US" sz="900" dirty="0"/>
          </a:p>
          <a:p>
            <a:pPr indent="0" marL="0">
              <a:buNone/>
            </a:pPr>
            <a:r>
              <a:rPr lang="en-US" sz="850" b="1" dirty="0">
                <a:solidFill>
                  <a:srgbClr val="00A896"/>
                </a:solidFill>
              </a:rPr>
              <a:t>事前審査（ストア）+</a:t>
            </a:r>
            <a:endParaRPr lang="en-US" sz="900" dirty="0"/>
          </a:p>
          <a:p>
            <a:pPr indent="0" marL="0">
              <a:buNone/>
            </a:pPr>
            <a:r>
              <a:rPr lang="en-US" sz="850" b="1" dirty="0">
                <a:solidFill>
                  <a:srgbClr val="00A896"/>
                </a:solidFill>
              </a:rPr>
              <a:t>実行時防御の二段構え</a:t>
            </a:r>
            <a:endParaRPr lang="en-US" sz="900" dirty="0"/>
          </a:p>
        </p:txBody>
      </p:sp>
      <p:sp>
        <p:nvSpPr>
          <p:cNvPr id="18" name="Shape 16"/>
          <p:cNvSpPr/>
          <p:nvPr/>
        </p:nvSpPr>
        <p:spPr>
          <a:xfrm>
            <a:off x="0" y="4754880"/>
            <a:ext cx="9144000" cy="388620"/>
          </a:xfrm>
          <a:prstGeom prst="rect">
            <a:avLst/>
          </a:prstGeom>
          <a:solidFill>
            <a:srgbClr val="1E2761"/>
          </a:solidFill>
          <a:ln/>
        </p:spPr>
      </p:sp>
      <p:sp>
        <p:nvSpPr>
          <p:cNvPr id="19" name="Text 17"/>
          <p:cNvSpPr/>
          <p:nvPr/>
        </p:nvSpPr>
        <p:spPr>
          <a:xfrm>
            <a:off x="457200" y="4754880"/>
            <a:ext cx="8229600" cy="38862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Model Armor = 基盤レイヤー → LLM Judge + 実行時監視 = マルチエージェント特化の独自防御</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96"/>
          </a:solidFill>
          <a:ln/>
        </p:spPr>
      </p:sp>
      <p:sp>
        <p:nvSpPr>
          <p:cNvPr id="3" name="Text 1"/>
          <p:cNvSpPr/>
          <p:nvPr/>
        </p:nvSpPr>
        <p:spPr>
          <a:xfrm>
            <a:off x="640080" y="182880"/>
            <a:ext cx="8229600" cy="548640"/>
          </a:xfrm>
          <a:prstGeom prst="rect">
            <a:avLst/>
          </a:prstGeom>
          <a:noFill/>
          <a:ln/>
        </p:spPr>
        <p:txBody>
          <a:bodyPr wrap="square" lIns="0" tIns="0" rIns="0" bIns="0" rtlCol="0" anchor="ctr"/>
          <a:lstStyle/>
          <a:p>
            <a:pPr indent="0" marL="0">
              <a:buNone/>
            </a:pPr>
            <a:r>
              <a:rPr lang="en-US" sz="2600" b="1" dirty="0">
                <a:solidFill>
                  <a:srgbClr val="1E2761"/>
                </a:solidFill>
                <a:latin typeface="Georgia" pitchFamily="34" charset="0"/>
                <a:ea typeface="Georgia" pitchFamily="34" charset="-122"/>
                <a:cs typeface="Georgia" pitchFamily="34" charset="-120"/>
              </a:rPr>
              <a:t>SAIF フレームワーク &amp; Red Teaming</a:t>
            </a:r>
            <a:endParaRPr lang="en-US" sz="2600" dirty="0"/>
          </a:p>
        </p:txBody>
      </p:sp>
      <p:sp>
        <p:nvSpPr>
          <p:cNvPr id="4" name="Shape 2"/>
          <p:cNvSpPr/>
          <p:nvPr/>
        </p:nvSpPr>
        <p:spPr>
          <a:xfrm>
            <a:off x="457200" y="822960"/>
            <a:ext cx="4114800" cy="38404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5" name="Shape 3"/>
          <p:cNvSpPr/>
          <p:nvPr/>
        </p:nvSpPr>
        <p:spPr>
          <a:xfrm>
            <a:off x="457200" y="822960"/>
            <a:ext cx="4114800" cy="457200"/>
          </a:xfrm>
          <a:prstGeom prst="rect">
            <a:avLst/>
          </a:prstGeom>
          <a:solidFill>
            <a:srgbClr val="065A82"/>
          </a:solidFill>
          <a:ln/>
        </p:spPr>
      </p:sp>
      <p:pic>
        <p:nvPicPr>
          <p:cNvPr id="6" name="Image 0" descr="preencoded.png"/>
          <p:cNvPicPr>
            <a:picLocks noChangeAspect="1"/>
          </p:cNvPicPr>
          <p:nvPr/>
        </p:nvPicPr>
        <p:blipFill>
          <a:blip r:embed="rId1"/>
          <a:stretch>
            <a:fillRect/>
          </a:stretch>
        </p:blipFill>
        <p:spPr>
          <a:xfrm>
            <a:off x="640080" y="896112"/>
            <a:ext cx="320040" cy="320040"/>
          </a:xfrm>
          <a:prstGeom prst="rect">
            <a:avLst/>
          </a:prstGeom>
        </p:spPr>
      </p:pic>
      <p:sp>
        <p:nvSpPr>
          <p:cNvPr id="7" name="Text 4"/>
          <p:cNvSpPr/>
          <p:nvPr/>
        </p:nvSpPr>
        <p:spPr>
          <a:xfrm>
            <a:off x="1051560" y="822960"/>
            <a:ext cx="338328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SAIF 2.0 (Secure AI Framework)</a:t>
            </a:r>
            <a:endParaRPr lang="en-US" sz="1400" dirty="0"/>
          </a:p>
        </p:txBody>
      </p:sp>
      <p:sp>
        <p:nvSpPr>
          <p:cNvPr id="8" name="Text 5"/>
          <p:cNvSpPr/>
          <p:nvPr/>
        </p:nvSpPr>
        <p:spPr>
          <a:xfrm>
            <a:off x="640080" y="1371600"/>
            <a:ext cx="3749040" cy="3108960"/>
          </a:xfrm>
          <a:prstGeom prst="rect">
            <a:avLst/>
          </a:prstGeom>
          <a:noFill/>
          <a:ln/>
        </p:spPr>
        <p:txBody>
          <a:bodyPr wrap="square" lIns="0" tIns="0" rIns="0" bIns="0" rtlCol="0" anchor="t"/>
          <a:lstStyle/>
          <a:p>
            <a:pPr indent="0" marL="0">
              <a:buNone/>
            </a:pPr>
            <a:r>
              <a:rPr lang="en-US" sz="1000" b="1" dirty="0">
                <a:solidFill>
                  <a:srgbClr val="065A82"/>
                </a:solidFill>
              </a:rPr>
              <a:t>AI開発ライフサイクル全体のセキュリティフレームワーク</a:t>
            </a:r>
            <a:endParaRPr lang="en-US" sz="1000" dirty="0"/>
          </a:p>
          <a:p>
            <a:pPr indent="0" marL="0">
              <a:buNone/>
            </a:pPr>
            <a:endParaRPr lang="en-US" sz="1000" dirty="0"/>
          </a:p>
          <a:p>
            <a:pPr indent="0" marL="0">
              <a:buNone/>
            </a:pPr>
            <a:r>
              <a:rPr lang="en-US" sz="1000" b="1" dirty="0">
                <a:solidFill>
                  <a:srgbClr val="1E293B"/>
                </a:solidFill>
              </a:rPr>
              <a:t>4つの制御レイヤー:</a:t>
            </a:r>
            <a:endParaRPr lang="en-US" sz="1000" dirty="0"/>
          </a:p>
          <a:p>
            <a:pPr marL="342900" indent="-342900">
              <a:buSzPct val="100000"/>
              <a:buChar char="•"/>
            </a:pPr>
            <a:r>
              <a:rPr lang="en-US" sz="950" dirty="0">
                <a:solidFill>
                  <a:srgbClr val="1E293B"/>
                </a:solidFill>
              </a:rPr>
              <a:t>ガバナンス制御 — 組織ポリシー・監督体制</a:t>
            </a:r>
            <a:endParaRPr lang="en-US" sz="1000" dirty="0"/>
          </a:p>
          <a:p>
            <a:pPr marL="342900" indent="-342900">
              <a:buSzPct val="100000"/>
              <a:buChar char="•"/>
            </a:pPr>
            <a:r>
              <a:rPr lang="en-US" sz="950" dirty="0">
                <a:solidFill>
                  <a:srgbClr val="1E293B"/>
                </a:solidFill>
              </a:rPr>
              <a:t>保証制御 — レッドチーム・脆弱性管理・テスト</a:t>
            </a:r>
            <a:endParaRPr lang="en-US" sz="1000" dirty="0"/>
          </a:p>
          <a:p>
            <a:pPr marL="342900" indent="-342900">
              <a:buSzPct val="100000"/>
              <a:buChar char="•"/>
            </a:pPr>
            <a:r>
              <a:rPr lang="en-US" sz="950" dirty="0">
                <a:solidFill>
                  <a:srgbClr val="1E293B"/>
                </a:solidFill>
              </a:rPr>
              <a:t>アプリケーション制御 — 入出力検証・レート制限</a:t>
            </a:r>
            <a:endParaRPr lang="en-US" sz="1000" dirty="0"/>
          </a:p>
          <a:p>
            <a:pPr marL="342900" indent="-342900">
              <a:buSzPct val="100000"/>
              <a:buChar char="•"/>
            </a:pPr>
            <a:r>
              <a:rPr lang="en-US" sz="950" dirty="0">
                <a:solidFill>
                  <a:srgbClr val="1E293B"/>
                </a:solidFill>
              </a:rPr>
              <a:t>インフラ制御 — セキュアストレージ・アクセス制御</a:t>
            </a:r>
            <a:endParaRPr lang="en-US" sz="1000" dirty="0"/>
          </a:p>
          <a:p>
            <a:pPr indent="0" marL="0">
              <a:buNone/>
            </a:pPr>
            <a:endParaRPr lang="en-US" sz="1000" dirty="0"/>
          </a:p>
          <a:p>
            <a:pPr indent="0" marL="0">
              <a:buNone/>
            </a:pPr>
            <a:r>
              <a:rPr lang="en-US" sz="1000" b="1" dirty="0">
                <a:solidFill>
                  <a:srgbClr val="1E293B"/>
                </a:solidFill>
              </a:rPr>
              <a:t>エージェント安全性3原則:</a:t>
            </a:r>
            <a:endParaRPr lang="en-US" sz="1000" dirty="0"/>
          </a:p>
          <a:p>
            <a:pPr marL="342900" indent="-342900">
              <a:buSzPct val="100000"/>
              <a:buChar char="•"/>
            </a:pPr>
            <a:r>
              <a:rPr lang="en-US" sz="950" dirty="0">
                <a:solidFill>
                  <a:srgbClr val="1E293B"/>
                </a:solidFill>
              </a:rPr>
              <a:t>Human Control — 人間が常に最終制御権を保持</a:t>
            </a:r>
            <a:endParaRPr lang="en-US" sz="1000" dirty="0"/>
          </a:p>
          <a:p>
            <a:pPr marL="342900" indent="-342900">
              <a:buSzPct val="100000"/>
              <a:buChar char="•"/>
            </a:pPr>
            <a:r>
              <a:rPr lang="en-US" sz="950" dirty="0">
                <a:solidFill>
                  <a:srgbClr val="1E293B"/>
                </a:solidFill>
              </a:rPr>
              <a:t>Limited Powers — 自律的行動範囲を制限</a:t>
            </a:r>
            <a:endParaRPr lang="en-US" sz="1000" dirty="0"/>
          </a:p>
          <a:p>
            <a:pPr marL="342900" indent="-342900">
              <a:buSzPct val="100000"/>
              <a:buChar char="•"/>
            </a:pPr>
            <a:r>
              <a:rPr lang="en-US" sz="950" dirty="0">
                <a:solidFill>
                  <a:srgbClr val="1E293B"/>
                </a:solidFill>
              </a:rPr>
              <a:t>Observability — 全行動の完全な記録・可視化</a:t>
            </a:r>
            <a:endParaRPr lang="en-US" sz="1000" dirty="0"/>
          </a:p>
          <a:p>
            <a:pPr indent="0" marL="0">
              <a:buNone/>
            </a:pPr>
            <a:endParaRPr lang="en-US" sz="1000" dirty="0"/>
          </a:p>
          <a:p>
            <a:pPr indent="0" marL="0">
              <a:buNone/>
            </a:pPr>
            <a:r>
              <a:rPr lang="en-US" sz="900" i="1" dirty="0">
                <a:solidFill>
                  <a:srgbClr val="475569"/>
                </a:solidFill>
              </a:rPr>
              <a:t>15のAIリスクカテゴリを定義（データ汚染、</a:t>
            </a:r>
            <a:endParaRPr lang="en-US" sz="1000" dirty="0"/>
          </a:p>
          <a:p>
            <a:pPr indent="0" marL="0">
              <a:buNone/>
            </a:pPr>
            <a:r>
              <a:rPr lang="en-US" sz="900" i="1" dirty="0">
                <a:solidFill>
                  <a:srgbClr val="475569"/>
                </a:solidFill>
              </a:rPr>
              <a:t>モデル窃取、敵対的入力、プライバシー侵害等）</a:t>
            </a:r>
            <a:endParaRPr lang="en-US" sz="1000" dirty="0"/>
          </a:p>
        </p:txBody>
      </p:sp>
      <p:sp>
        <p:nvSpPr>
          <p:cNvPr id="9" name="Shape 6"/>
          <p:cNvSpPr/>
          <p:nvPr/>
        </p:nvSpPr>
        <p:spPr>
          <a:xfrm>
            <a:off x="4754880" y="822960"/>
            <a:ext cx="3931920" cy="38404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0" name="Shape 7"/>
          <p:cNvSpPr/>
          <p:nvPr/>
        </p:nvSpPr>
        <p:spPr>
          <a:xfrm>
            <a:off x="4754880" y="822960"/>
            <a:ext cx="3931920" cy="457200"/>
          </a:xfrm>
          <a:prstGeom prst="rect">
            <a:avLst/>
          </a:prstGeom>
          <a:solidFill>
            <a:srgbClr val="B91C1C"/>
          </a:solidFill>
          <a:ln/>
        </p:spPr>
      </p:sp>
      <p:pic>
        <p:nvPicPr>
          <p:cNvPr id="11" name="Image 1" descr="preencoded.png"/>
          <p:cNvPicPr>
            <a:picLocks noChangeAspect="1"/>
          </p:cNvPicPr>
          <p:nvPr/>
        </p:nvPicPr>
        <p:blipFill>
          <a:blip r:embed="rId2"/>
          <a:stretch>
            <a:fillRect/>
          </a:stretch>
        </p:blipFill>
        <p:spPr>
          <a:xfrm>
            <a:off x="4937760" y="896112"/>
            <a:ext cx="320040" cy="320040"/>
          </a:xfrm>
          <a:prstGeom prst="rect">
            <a:avLst/>
          </a:prstGeom>
        </p:spPr>
      </p:pic>
      <p:sp>
        <p:nvSpPr>
          <p:cNvPr id="12" name="Text 8"/>
          <p:cNvSpPr/>
          <p:nvPr/>
        </p:nvSpPr>
        <p:spPr>
          <a:xfrm>
            <a:off x="5349240" y="822960"/>
            <a:ext cx="320040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Red Teaming（敵対的安全性テスト）</a:t>
            </a:r>
            <a:endParaRPr lang="en-US" sz="1300" dirty="0"/>
          </a:p>
        </p:txBody>
      </p:sp>
      <p:sp>
        <p:nvSpPr>
          <p:cNvPr id="13" name="Text 9"/>
          <p:cNvSpPr/>
          <p:nvPr/>
        </p:nvSpPr>
        <p:spPr>
          <a:xfrm>
            <a:off x="4937760" y="1371600"/>
            <a:ext cx="3566160" cy="3108960"/>
          </a:xfrm>
          <a:prstGeom prst="rect">
            <a:avLst/>
          </a:prstGeom>
          <a:noFill/>
          <a:ln/>
        </p:spPr>
        <p:txBody>
          <a:bodyPr wrap="square" lIns="0" tIns="0" rIns="0" bIns="0" rtlCol="0" anchor="t"/>
          <a:lstStyle/>
          <a:p>
            <a:pPr indent="0" marL="0">
              <a:buNone/>
            </a:pPr>
            <a:r>
              <a:rPr lang="en-US" sz="1000" b="1" dirty="0">
                <a:solidFill>
                  <a:srgbClr val="B91C1C"/>
                </a:solidFill>
              </a:rPr>
              <a:t>マニュアル Red Teaming:</a:t>
            </a:r>
            <a:endParaRPr lang="en-US" sz="1000" dirty="0"/>
          </a:p>
          <a:p>
            <a:pPr indent="0" marL="0">
              <a:buNone/>
            </a:pPr>
            <a:r>
              <a:rPr lang="en-US" sz="950" dirty="0">
                <a:solidFill>
                  <a:srgbClr val="1E293B"/>
                </a:solidFill>
              </a:rPr>
              <a:t>安全性・ポリシー・セキュリティ・AI専門家の</a:t>
            </a:r>
            <a:endParaRPr lang="en-US" sz="1000" dirty="0"/>
          </a:p>
          <a:p>
            <a:pPr indent="0" marL="0">
              <a:buNone/>
            </a:pPr>
            <a:r>
              <a:rPr lang="en-US" sz="950" dirty="0">
                <a:solidFill>
                  <a:srgbClr val="1E293B"/>
                </a:solidFill>
              </a:rPr>
              <a:t>専門チームが手動で攻撃テストを実施</a:t>
            </a:r>
            <a:endParaRPr lang="en-US" sz="1000" dirty="0"/>
          </a:p>
          <a:p>
            <a:pPr indent="0" marL="0">
              <a:buNone/>
            </a:pPr>
            <a:r>
              <a:rPr lang="en-US" sz="900" dirty="0">
                <a:solidFill>
                  <a:srgbClr val="475569"/>
                </a:solidFill>
              </a:rPr>
              <a:t>Google Threat Intelligence (Mandiant/TAG)</a:t>
            </a:r>
            <a:endParaRPr lang="en-US" sz="1000" dirty="0"/>
          </a:p>
          <a:p>
            <a:pPr indent="0" marL="0">
              <a:buNone/>
            </a:pPr>
            <a:r>
              <a:rPr lang="en-US" sz="900" dirty="0">
                <a:solidFill>
                  <a:srgbClr val="475569"/>
                </a:solidFill>
              </a:rPr>
              <a:t>の知見を活用</a:t>
            </a:r>
            <a:endParaRPr lang="en-US" sz="1000" dirty="0"/>
          </a:p>
          <a:p>
            <a:pPr indent="0" marL="0">
              <a:buNone/>
            </a:pPr>
            <a:endParaRPr lang="en-US" sz="1000" dirty="0"/>
          </a:p>
          <a:p>
            <a:pPr indent="0" marL="0">
              <a:buNone/>
            </a:pPr>
            <a:r>
              <a:rPr lang="en-US" sz="1000" b="1" dirty="0">
                <a:solidFill>
                  <a:srgbClr val="B91C1C"/>
                </a:solidFill>
              </a:rPr>
              <a:t>自動 Red Teaming (ART):</a:t>
            </a:r>
            <a:endParaRPr lang="en-US" sz="1000" dirty="0"/>
          </a:p>
          <a:p>
            <a:pPr indent="0" marL="0">
              <a:buNone/>
            </a:pPr>
            <a:r>
              <a:rPr lang="en-US" sz="950" dirty="0">
                <a:solidFill>
                  <a:srgbClr val="1E293B"/>
                </a:solidFill>
              </a:rPr>
              <a:t>自動化された継続的な攻撃テスト</a:t>
            </a:r>
            <a:endParaRPr lang="en-US" sz="1000" dirty="0"/>
          </a:p>
          <a:p>
            <a:pPr indent="0" marL="0">
              <a:buNone/>
            </a:pPr>
            <a:r>
              <a:rPr lang="en-US" sz="950" dirty="0">
                <a:solidFill>
                  <a:srgbClr val="1E293B"/>
                </a:solidFill>
              </a:rPr>
              <a:t>現実的なシナリオでのセキュリティ弱点発見</a:t>
            </a:r>
            <a:endParaRPr lang="en-US" sz="1000" dirty="0"/>
          </a:p>
          <a:p>
            <a:pPr indent="0" marL="0">
              <a:buNone/>
            </a:pPr>
            <a:r>
              <a:rPr lang="en-US" sz="900" dirty="0">
                <a:solidFill>
                  <a:srgbClr val="475569"/>
                </a:solidFill>
              </a:rPr>
              <a:t>Defense-in-Depth: モデル強化 + 入出力検査</a:t>
            </a:r>
            <a:endParaRPr lang="en-US" sz="1000" dirty="0"/>
          </a:p>
          <a:p>
            <a:pPr indent="0" marL="0">
              <a:buNone/>
            </a:pPr>
            <a:r>
              <a:rPr lang="en-US" sz="900" dirty="0">
                <a:solidFill>
                  <a:srgbClr val="475569"/>
                </a:solidFill>
              </a:rPr>
              <a:t>+ システムレベルガードレールの多層防御</a:t>
            </a:r>
            <a:endParaRPr lang="en-US" sz="1000" dirty="0"/>
          </a:p>
          <a:p>
            <a:pPr indent="0" marL="0">
              <a:buNone/>
            </a:pPr>
            <a:endParaRPr lang="en-US" sz="1000" dirty="0"/>
          </a:p>
          <a:p>
            <a:pPr indent="0" marL="0">
              <a:buNone/>
            </a:pPr>
            <a:r>
              <a:rPr lang="en-US" sz="1000" b="1" dirty="0">
                <a:solidFill>
                  <a:srgbClr val="B91C1C"/>
                </a:solidFill>
              </a:rPr>
              <a:t>AI-Assisted Red-Teaming (AART):</a:t>
            </a:r>
            <a:endParaRPr lang="en-US" sz="1000" dirty="0"/>
          </a:p>
          <a:p>
            <a:pPr indent="0" marL="0">
              <a:buNone/>
            </a:pPr>
            <a:r>
              <a:rPr lang="en-US" sz="950" dirty="0">
                <a:solidFill>
                  <a:srgbClr val="1E293B"/>
                </a:solidFill>
              </a:rPr>
              <a:t>AIによる敵対的テストデータの自動生成</a:t>
            </a:r>
            <a:endParaRPr lang="en-US" sz="1000" dirty="0"/>
          </a:p>
          <a:p>
            <a:pPr indent="0" marL="0">
              <a:buNone/>
            </a:pPr>
            <a:r>
              <a:rPr lang="en-US" sz="950" dirty="0">
                <a:solidFill>
                  <a:srgbClr val="1E293B"/>
                </a:solidFill>
              </a:rPr>
              <a:t>人的工数を大幅に削減しつつ広範なカバレッジ</a:t>
            </a:r>
            <a:endParaRPr lang="en-US" sz="1000" dirty="0"/>
          </a:p>
          <a:p>
            <a:pPr indent="0" marL="0">
              <a:buNone/>
            </a:pPr>
            <a:r>
              <a:rPr lang="en-US" sz="900" dirty="0">
                <a:solidFill>
                  <a:srgbClr val="475569"/>
                </a:solidFill>
              </a:rPr>
              <a:t>地域・文化的多様性を考慮した</a:t>
            </a:r>
            <a:endParaRPr lang="en-US" sz="1000" dirty="0"/>
          </a:p>
          <a:p>
            <a:pPr indent="0" marL="0">
              <a:buNone/>
            </a:pPr>
            <a:r>
              <a:rPr lang="en-US" sz="900" dirty="0">
                <a:solidFill>
                  <a:srgbClr val="475569"/>
                </a:solidFill>
              </a:rPr>
              <a:t>テストシナリオの自動生成</a:t>
            </a:r>
            <a:endParaRPr lang="en-US" sz="1000" dirty="0"/>
          </a:p>
          <a:p>
            <a:pPr indent="0" marL="0">
              <a:buNone/>
            </a:pPr>
            <a:endParaRPr lang="en-US" sz="1000" dirty="0"/>
          </a:p>
          <a:p>
            <a:pPr indent="0" marL="0">
              <a:buNone/>
            </a:pPr>
            <a:r>
              <a:rPr lang="en-US" sz="850" i="1" dirty="0">
                <a:solidFill>
                  <a:srgbClr val="475569"/>
                </a:solidFill>
              </a:rPr>
              <a:t>主要攻撃手法: Prompt Injection / データ抽出 /</a:t>
            </a:r>
            <a:endParaRPr lang="en-US" sz="1000" dirty="0"/>
          </a:p>
          <a:p>
            <a:pPr indent="0" marL="0">
              <a:buNone/>
            </a:pPr>
            <a:r>
              <a:rPr lang="en-US" sz="850" i="1" dirty="0">
                <a:solidFill>
                  <a:srgbClr val="475569"/>
                </a:solidFill>
              </a:rPr>
              <a:t>バックドア注入 / 敵対的例 / モデル回避</a:t>
            </a:r>
            <a:endParaRPr lang="en-US" sz="1000" dirty="0"/>
          </a:p>
        </p:txBody>
      </p:sp>
      <p:sp>
        <p:nvSpPr>
          <p:cNvPr id="14" name="Shape 10"/>
          <p:cNvSpPr/>
          <p:nvPr/>
        </p:nvSpPr>
        <p:spPr>
          <a:xfrm>
            <a:off x="0" y="4754880"/>
            <a:ext cx="9144000" cy="388620"/>
          </a:xfrm>
          <a:prstGeom prst="rect">
            <a:avLst/>
          </a:prstGeom>
          <a:solidFill>
            <a:srgbClr val="1E2761"/>
          </a:solidFill>
          <a:ln/>
        </p:spPr>
      </p:sp>
      <p:sp>
        <p:nvSpPr>
          <p:cNvPr id="15" name="Text 11"/>
          <p:cNvSpPr/>
          <p:nvPr/>
        </p:nvSpPr>
        <p:spPr>
          <a:xfrm>
            <a:off x="457200" y="4754880"/>
            <a:ext cx="8229600" cy="38862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出典: Google SAIF (saif.google) / Google AI Red Team Blog / AART Research Paper (2025)</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96"/>
          </a:solidFill>
          <a:ln/>
        </p:spPr>
      </p:sp>
      <p:sp>
        <p:nvSpPr>
          <p:cNvPr id="3" name="Text 1"/>
          <p:cNvSpPr/>
          <p:nvPr/>
        </p:nvSpPr>
        <p:spPr>
          <a:xfrm>
            <a:off x="640080" y="274320"/>
            <a:ext cx="7315200" cy="640080"/>
          </a:xfrm>
          <a:prstGeom prst="rect">
            <a:avLst/>
          </a:prstGeom>
          <a:noFill/>
          <a:ln/>
        </p:spPr>
        <p:txBody>
          <a:bodyPr wrap="square" lIns="0" tIns="0" rIns="0" bIns="0" rtlCol="0" anchor="ctr"/>
          <a:lstStyle/>
          <a:p>
            <a:pPr indent="0" marL="0">
              <a:buNone/>
            </a:pPr>
            <a:r>
              <a:rPr lang="en-US" sz="2800" b="1" dirty="0">
                <a:solidFill>
                  <a:srgbClr val="1E2761"/>
                </a:solidFill>
                <a:latin typeface="Georgia" pitchFamily="34" charset="0"/>
                <a:ea typeface="Georgia" pitchFamily="34" charset="-122"/>
                <a:cs typeface="Georgia" pitchFamily="34" charset="-120"/>
              </a:rPr>
              <a:t>世界の主要プレイヤーの動き</a:t>
            </a:r>
            <a:endParaRPr lang="en-US" sz="2800" dirty="0"/>
          </a:p>
        </p:txBody>
      </p:sp>
      <p:sp>
        <p:nvSpPr>
          <p:cNvPr id="4" name="Shape 2"/>
          <p:cNvSpPr/>
          <p:nvPr/>
        </p:nvSpPr>
        <p:spPr>
          <a:xfrm>
            <a:off x="640080" y="1097280"/>
            <a:ext cx="3749040" cy="16002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5" name="Shape 3"/>
          <p:cNvSpPr/>
          <p:nvPr/>
        </p:nvSpPr>
        <p:spPr>
          <a:xfrm>
            <a:off x="640080" y="1097280"/>
            <a:ext cx="73152" cy="1600200"/>
          </a:xfrm>
          <a:prstGeom prst="rect">
            <a:avLst/>
          </a:prstGeom>
          <a:solidFill>
            <a:srgbClr val="065A82"/>
          </a:solidFill>
          <a:ln/>
        </p:spPr>
      </p:sp>
      <p:sp>
        <p:nvSpPr>
          <p:cNvPr id="6" name="Text 4"/>
          <p:cNvSpPr/>
          <p:nvPr/>
        </p:nvSpPr>
        <p:spPr>
          <a:xfrm>
            <a:off x="914400" y="1188720"/>
            <a:ext cx="3200400" cy="365760"/>
          </a:xfrm>
          <a:prstGeom prst="rect">
            <a:avLst/>
          </a:prstGeom>
          <a:noFill/>
          <a:ln/>
        </p:spPr>
        <p:txBody>
          <a:bodyPr wrap="square" lIns="0" tIns="0" rIns="0" bIns="0" rtlCol="0" anchor="ctr"/>
          <a:lstStyle/>
          <a:p>
            <a:pPr indent="0" marL="0">
              <a:buNone/>
            </a:pPr>
            <a:r>
              <a:rPr lang="en-US" sz="1600" b="1" dirty="0">
                <a:solidFill>
                  <a:srgbClr val="065A82"/>
                </a:solidFill>
                <a:latin typeface="Georgia" pitchFamily="34" charset="0"/>
                <a:ea typeface="Georgia" pitchFamily="34" charset="-122"/>
                <a:cs typeface="Georgia" pitchFamily="34" charset="-120"/>
              </a:rPr>
              <a:t>Google</a:t>
            </a:r>
            <a:endParaRPr lang="en-US" sz="1600" dirty="0"/>
          </a:p>
        </p:txBody>
      </p:sp>
      <p:sp>
        <p:nvSpPr>
          <p:cNvPr id="7" name="Text 5"/>
          <p:cNvSpPr/>
          <p:nvPr/>
        </p:nvSpPr>
        <p:spPr>
          <a:xfrm>
            <a:off x="914400" y="1600200"/>
            <a:ext cx="3200400" cy="100584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ADK + A2A + Agent Space</a:t>
            </a:r>
            <a:endParaRPr lang="en-US" sz="1100" dirty="0"/>
          </a:p>
          <a:p>
            <a:pPr indent="0" marL="0">
              <a:buNone/>
            </a:pPr>
            <a:r>
              <a:rPr lang="en-US" sz="1100" dirty="0">
                <a:solidFill>
                  <a:srgbClr val="475569"/>
                </a:solidFill>
                <a:latin typeface="Calibri" pitchFamily="34" charset="0"/>
                <a:ea typeface="Calibri" pitchFamily="34" charset="-122"/>
                <a:cs typeface="Calibri" pitchFamily="34" charset="-120"/>
              </a:rPr>
              <a:t>Vertex AI統合</a:t>
            </a:r>
            <a:endParaRPr lang="en-US" sz="1100" dirty="0"/>
          </a:p>
          <a:p>
            <a:pPr indent="0" marL="0">
              <a:buNone/>
            </a:pPr>
            <a:r>
              <a:rPr lang="en-US" sz="1100" dirty="0">
                <a:solidFill>
                  <a:srgbClr val="475569"/>
                </a:solidFill>
                <a:latin typeface="Calibri" pitchFamily="34" charset="0"/>
                <a:ea typeface="Calibri" pitchFamily="34" charset="-122"/>
                <a:cs typeface="Calibri" pitchFamily="34" charset="-120"/>
              </a:rPr>
              <a:t>Agent Garden 50+</a:t>
            </a:r>
            <a:endParaRPr lang="en-US" sz="1100" dirty="0"/>
          </a:p>
        </p:txBody>
      </p:sp>
      <p:sp>
        <p:nvSpPr>
          <p:cNvPr id="8" name="Shape 6"/>
          <p:cNvSpPr/>
          <p:nvPr/>
        </p:nvSpPr>
        <p:spPr>
          <a:xfrm>
            <a:off x="4754880" y="1097280"/>
            <a:ext cx="3749040" cy="16002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9" name="Shape 7"/>
          <p:cNvSpPr/>
          <p:nvPr/>
        </p:nvSpPr>
        <p:spPr>
          <a:xfrm>
            <a:off x="4754880" y="1097280"/>
            <a:ext cx="73152" cy="1600200"/>
          </a:xfrm>
          <a:prstGeom prst="rect">
            <a:avLst/>
          </a:prstGeom>
          <a:solidFill>
            <a:srgbClr val="1C7293"/>
          </a:solidFill>
          <a:ln/>
        </p:spPr>
      </p:sp>
      <p:sp>
        <p:nvSpPr>
          <p:cNvPr id="10" name="Text 8"/>
          <p:cNvSpPr/>
          <p:nvPr/>
        </p:nvSpPr>
        <p:spPr>
          <a:xfrm>
            <a:off x="5029200" y="1188720"/>
            <a:ext cx="3200400" cy="365760"/>
          </a:xfrm>
          <a:prstGeom prst="rect">
            <a:avLst/>
          </a:prstGeom>
          <a:noFill/>
          <a:ln/>
        </p:spPr>
        <p:txBody>
          <a:bodyPr wrap="square" lIns="0" tIns="0" rIns="0" bIns="0" rtlCol="0" anchor="ctr"/>
          <a:lstStyle/>
          <a:p>
            <a:pPr indent="0" marL="0">
              <a:buNone/>
            </a:pPr>
            <a:r>
              <a:rPr lang="en-US" sz="1600" b="1" dirty="0">
                <a:solidFill>
                  <a:srgbClr val="1C7293"/>
                </a:solidFill>
                <a:latin typeface="Georgia" pitchFamily="34" charset="0"/>
                <a:ea typeface="Georgia" pitchFamily="34" charset="-122"/>
                <a:cs typeface="Georgia" pitchFamily="34" charset="-120"/>
              </a:rPr>
              <a:t>Microsoft</a:t>
            </a:r>
            <a:endParaRPr lang="en-US" sz="1600" dirty="0"/>
          </a:p>
        </p:txBody>
      </p:sp>
      <p:sp>
        <p:nvSpPr>
          <p:cNvPr id="11" name="Text 9"/>
          <p:cNvSpPr/>
          <p:nvPr/>
        </p:nvSpPr>
        <p:spPr>
          <a:xfrm>
            <a:off x="5029200" y="1600200"/>
            <a:ext cx="3200400" cy="100584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AutoGen + Semantic Kernel</a:t>
            </a:r>
            <a:endParaRPr lang="en-US" sz="1100" dirty="0"/>
          </a:p>
          <a:p>
            <a:pPr indent="0" marL="0">
              <a:buNone/>
            </a:pPr>
            <a:r>
              <a:rPr lang="en-US" sz="1100" dirty="0">
                <a:solidFill>
                  <a:srgbClr val="475569"/>
                </a:solidFill>
                <a:latin typeface="Calibri" pitchFamily="34" charset="0"/>
                <a:ea typeface="Calibri" pitchFamily="34" charset="-122"/>
                <a:cs typeface="Calibri" pitchFamily="34" charset="-120"/>
              </a:rPr>
              <a:t>A2A対応表明</a:t>
            </a:r>
            <a:endParaRPr lang="en-US" sz="1100" dirty="0"/>
          </a:p>
          <a:p>
            <a:pPr indent="0" marL="0">
              <a:buNone/>
            </a:pPr>
            <a:r>
              <a:rPr lang="en-US" sz="1100" dirty="0">
                <a:solidFill>
                  <a:srgbClr val="475569"/>
                </a:solidFill>
                <a:latin typeface="Calibri" pitchFamily="34" charset="0"/>
                <a:ea typeface="Calibri" pitchFamily="34" charset="-122"/>
                <a:cs typeface="Calibri" pitchFamily="34" charset="-120"/>
              </a:rPr>
              <a:t>Copilot Studio統合</a:t>
            </a:r>
            <a:endParaRPr lang="en-US" sz="1100" dirty="0"/>
          </a:p>
        </p:txBody>
      </p:sp>
      <p:sp>
        <p:nvSpPr>
          <p:cNvPr id="12" name="Shape 10"/>
          <p:cNvSpPr/>
          <p:nvPr/>
        </p:nvSpPr>
        <p:spPr>
          <a:xfrm>
            <a:off x="640080" y="2880360"/>
            <a:ext cx="3749040" cy="16002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3" name="Shape 11"/>
          <p:cNvSpPr/>
          <p:nvPr/>
        </p:nvSpPr>
        <p:spPr>
          <a:xfrm>
            <a:off x="640080" y="2880360"/>
            <a:ext cx="73152" cy="1600200"/>
          </a:xfrm>
          <a:prstGeom prst="rect">
            <a:avLst/>
          </a:prstGeom>
          <a:solidFill>
            <a:srgbClr val="6D2E46"/>
          </a:solidFill>
          <a:ln/>
        </p:spPr>
      </p:sp>
      <p:sp>
        <p:nvSpPr>
          <p:cNvPr id="14" name="Text 12"/>
          <p:cNvSpPr/>
          <p:nvPr/>
        </p:nvSpPr>
        <p:spPr>
          <a:xfrm>
            <a:off x="914400" y="2971800"/>
            <a:ext cx="3200400" cy="365760"/>
          </a:xfrm>
          <a:prstGeom prst="rect">
            <a:avLst/>
          </a:prstGeom>
          <a:noFill/>
          <a:ln/>
        </p:spPr>
        <p:txBody>
          <a:bodyPr wrap="square" lIns="0" tIns="0" rIns="0" bIns="0" rtlCol="0" anchor="ctr"/>
          <a:lstStyle/>
          <a:p>
            <a:pPr indent="0" marL="0">
              <a:buNone/>
            </a:pPr>
            <a:r>
              <a:rPr lang="en-US" sz="1600" b="1" dirty="0">
                <a:solidFill>
                  <a:srgbClr val="6D2E46"/>
                </a:solidFill>
                <a:latin typeface="Georgia" pitchFamily="34" charset="0"/>
                <a:ea typeface="Georgia" pitchFamily="34" charset="-122"/>
                <a:cs typeface="Georgia" pitchFamily="34" charset="-120"/>
              </a:rPr>
              <a:t>Anthropic</a:t>
            </a:r>
            <a:endParaRPr lang="en-US" sz="1600" dirty="0"/>
          </a:p>
        </p:txBody>
      </p:sp>
      <p:sp>
        <p:nvSpPr>
          <p:cNvPr id="15" name="Text 13"/>
          <p:cNvSpPr/>
          <p:nvPr/>
        </p:nvSpPr>
        <p:spPr>
          <a:xfrm>
            <a:off x="914400" y="3383280"/>
            <a:ext cx="3200400" cy="100584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MCP策定・公開</a:t>
            </a:r>
            <a:endParaRPr lang="en-US" sz="1100" dirty="0"/>
          </a:p>
          <a:p>
            <a:pPr indent="0" marL="0">
              <a:buNone/>
            </a:pPr>
            <a:r>
              <a:rPr lang="en-US" sz="1100" dirty="0">
                <a:solidFill>
                  <a:srgbClr val="475569"/>
                </a:solidFill>
                <a:latin typeface="Calibri" pitchFamily="34" charset="0"/>
                <a:ea typeface="Calibri" pitchFamily="34" charset="-122"/>
                <a:cs typeface="Calibri" pitchFamily="34" charset="-120"/>
              </a:rPr>
              <a:t>Linux Foundation移管</a:t>
            </a:r>
            <a:endParaRPr lang="en-US" sz="1100" dirty="0"/>
          </a:p>
          <a:p>
            <a:pPr indent="0" marL="0">
              <a:buNone/>
            </a:pPr>
            <a:r>
              <a:rPr lang="en-US" sz="1100" dirty="0">
                <a:solidFill>
                  <a:srgbClr val="475569"/>
                </a:solidFill>
                <a:latin typeface="Calibri" pitchFamily="34" charset="0"/>
                <a:ea typeface="Calibri" pitchFamily="34" charset="-122"/>
                <a:cs typeface="Calibri" pitchFamily="34" charset="-120"/>
              </a:rPr>
              <a:t>Claude Tool Use強化</a:t>
            </a:r>
            <a:endParaRPr lang="en-US" sz="1100" dirty="0"/>
          </a:p>
        </p:txBody>
      </p:sp>
      <p:sp>
        <p:nvSpPr>
          <p:cNvPr id="16" name="Shape 14"/>
          <p:cNvSpPr/>
          <p:nvPr/>
        </p:nvSpPr>
        <p:spPr>
          <a:xfrm>
            <a:off x="4754880" y="2880360"/>
            <a:ext cx="3749040" cy="16002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7" name="Shape 15"/>
          <p:cNvSpPr/>
          <p:nvPr/>
        </p:nvSpPr>
        <p:spPr>
          <a:xfrm>
            <a:off x="4754880" y="2880360"/>
            <a:ext cx="73152" cy="1600200"/>
          </a:xfrm>
          <a:prstGeom prst="rect">
            <a:avLst/>
          </a:prstGeom>
          <a:solidFill>
            <a:srgbClr val="0176D3"/>
          </a:solidFill>
          <a:ln/>
        </p:spPr>
      </p:sp>
      <p:sp>
        <p:nvSpPr>
          <p:cNvPr id="18" name="Text 16"/>
          <p:cNvSpPr/>
          <p:nvPr/>
        </p:nvSpPr>
        <p:spPr>
          <a:xfrm>
            <a:off x="5029200" y="2971800"/>
            <a:ext cx="3200400" cy="365760"/>
          </a:xfrm>
          <a:prstGeom prst="rect">
            <a:avLst/>
          </a:prstGeom>
          <a:noFill/>
          <a:ln/>
        </p:spPr>
        <p:txBody>
          <a:bodyPr wrap="square" lIns="0" tIns="0" rIns="0" bIns="0" rtlCol="0" anchor="ctr"/>
          <a:lstStyle/>
          <a:p>
            <a:pPr indent="0" marL="0">
              <a:buNone/>
            </a:pPr>
            <a:r>
              <a:rPr lang="en-US" sz="1600" b="1" dirty="0">
                <a:solidFill>
                  <a:srgbClr val="0176D3"/>
                </a:solidFill>
                <a:latin typeface="Georgia" pitchFamily="34" charset="0"/>
                <a:ea typeface="Georgia" pitchFamily="34" charset="-122"/>
                <a:cs typeface="Georgia" pitchFamily="34" charset="-120"/>
              </a:rPr>
              <a:t>Salesforce</a:t>
            </a:r>
            <a:endParaRPr lang="en-US" sz="1600" dirty="0"/>
          </a:p>
        </p:txBody>
      </p:sp>
      <p:sp>
        <p:nvSpPr>
          <p:cNvPr id="19" name="Text 17"/>
          <p:cNvSpPr/>
          <p:nvPr/>
        </p:nvSpPr>
        <p:spPr>
          <a:xfrm>
            <a:off x="5029200" y="3383280"/>
            <a:ext cx="3200400" cy="100584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Agentforce プラットフォーム</a:t>
            </a:r>
            <a:endParaRPr lang="en-US" sz="1100" dirty="0"/>
          </a:p>
          <a:p>
            <a:pPr indent="0" marL="0">
              <a:buNone/>
            </a:pPr>
            <a:r>
              <a:rPr lang="en-US" sz="1100" dirty="0">
                <a:solidFill>
                  <a:srgbClr val="475569"/>
                </a:solidFill>
                <a:latin typeface="Calibri" pitchFamily="34" charset="0"/>
                <a:ea typeface="Calibri" pitchFamily="34" charset="-122"/>
                <a:cs typeface="Calibri" pitchFamily="34" charset="-120"/>
              </a:rPr>
              <a:t>A2Aネイティブ対応</a:t>
            </a:r>
            <a:endParaRPr lang="en-US" sz="1100" dirty="0"/>
          </a:p>
          <a:p>
            <a:pPr indent="0" marL="0">
              <a:buNone/>
            </a:pPr>
            <a:r>
              <a:rPr lang="en-US" sz="1100" dirty="0">
                <a:solidFill>
                  <a:srgbClr val="475569"/>
                </a:solidFill>
                <a:latin typeface="Calibri" pitchFamily="34" charset="0"/>
                <a:ea typeface="Calibri" pitchFamily="34" charset="-122"/>
                <a:cs typeface="Calibri" pitchFamily="34" charset="-120"/>
              </a:rPr>
              <a:t>CRM統合エージェント</a:t>
            </a:r>
            <a:endParaRPr lang="en-US" sz="1100" dirty="0"/>
          </a:p>
        </p:txBody>
      </p:sp>
      <p:sp>
        <p:nvSpPr>
          <p:cNvPr id="20" name="Shape 18"/>
          <p:cNvSpPr/>
          <p:nvPr/>
        </p:nvSpPr>
        <p:spPr>
          <a:xfrm>
            <a:off x="0" y="4754880"/>
            <a:ext cx="9144000" cy="388620"/>
          </a:xfrm>
          <a:prstGeom prst="rect">
            <a:avLst/>
          </a:prstGeom>
          <a:solidFill>
            <a:srgbClr val="1E2761"/>
          </a:solidFill>
          <a:ln/>
        </p:spPr>
      </p:sp>
      <p:sp>
        <p:nvSpPr>
          <p:cNvPr id="21" name="Text 19"/>
          <p:cNvSpPr/>
          <p:nvPr/>
        </p:nvSpPr>
        <p:spPr>
          <a:xfrm>
            <a:off x="457200" y="4754880"/>
            <a:ext cx="8229600" cy="38862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出典: 各社公式発表 / Linux Foundation Agentic AI Foundation (2025)</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96"/>
          </a:solidFill>
          <a:ln/>
        </p:spPr>
      </p:sp>
      <p:sp>
        <p:nvSpPr>
          <p:cNvPr id="3" name="Text 1"/>
          <p:cNvSpPr/>
          <p:nvPr/>
        </p:nvSpPr>
        <p:spPr>
          <a:xfrm>
            <a:off x="640080" y="274320"/>
            <a:ext cx="7315200" cy="640080"/>
          </a:xfrm>
          <a:prstGeom prst="rect">
            <a:avLst/>
          </a:prstGeom>
          <a:noFill/>
          <a:ln/>
        </p:spPr>
        <p:txBody>
          <a:bodyPr wrap="square" lIns="0" tIns="0" rIns="0" bIns="0" rtlCol="0" anchor="ctr"/>
          <a:lstStyle/>
          <a:p>
            <a:pPr indent="0" marL="0">
              <a:buNone/>
            </a:pPr>
            <a:r>
              <a:rPr lang="en-US" sz="2800" b="1" dirty="0">
                <a:solidFill>
                  <a:srgbClr val="1E2761"/>
                </a:solidFill>
                <a:latin typeface="Georgia" pitchFamily="34" charset="0"/>
                <a:ea typeface="Georgia" pitchFamily="34" charset="-122"/>
                <a:cs typeface="Georgia" pitchFamily="34" charset="-120"/>
              </a:rPr>
              <a:t>AIエージェント市場の爆発的成長</a:t>
            </a:r>
            <a:endParaRPr lang="en-US" sz="2800" dirty="0"/>
          </a:p>
        </p:txBody>
      </p:sp>
      <p:sp>
        <p:nvSpPr>
          <p:cNvPr id="4" name="Shape 2"/>
          <p:cNvSpPr/>
          <p:nvPr/>
        </p:nvSpPr>
        <p:spPr>
          <a:xfrm>
            <a:off x="457200" y="1097280"/>
            <a:ext cx="1920240" cy="14630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5" name="Text 3"/>
          <p:cNvSpPr/>
          <p:nvPr/>
        </p:nvSpPr>
        <p:spPr>
          <a:xfrm>
            <a:off x="457200" y="1188720"/>
            <a:ext cx="1920240" cy="731520"/>
          </a:xfrm>
          <a:prstGeom prst="rect">
            <a:avLst/>
          </a:prstGeom>
          <a:noFill/>
          <a:ln/>
        </p:spPr>
        <p:txBody>
          <a:bodyPr wrap="square" lIns="0" tIns="0" rIns="0" bIns="0" rtlCol="0" anchor="ctr"/>
          <a:lstStyle/>
          <a:p>
            <a:pPr algn="ctr" indent="0" marL="0">
              <a:buNone/>
            </a:pPr>
            <a:r>
              <a:rPr lang="en-US" sz="3000" b="1" dirty="0">
                <a:solidFill>
                  <a:srgbClr val="00A896"/>
                </a:solidFill>
                <a:latin typeface="Georgia" pitchFamily="34" charset="0"/>
                <a:ea typeface="Georgia" pitchFamily="34" charset="-122"/>
                <a:cs typeface="Georgia" pitchFamily="34" charset="-120"/>
              </a:rPr>
              <a:t>$7.6B</a:t>
            </a:r>
            <a:endParaRPr lang="en-US" sz="3000" dirty="0"/>
          </a:p>
        </p:txBody>
      </p:sp>
      <p:sp>
        <p:nvSpPr>
          <p:cNvPr id="6" name="Text 4"/>
          <p:cNvSpPr/>
          <p:nvPr/>
        </p:nvSpPr>
        <p:spPr>
          <a:xfrm>
            <a:off x="457200" y="1920240"/>
            <a:ext cx="1920240" cy="548640"/>
          </a:xfrm>
          <a:prstGeom prst="rect">
            <a:avLst/>
          </a:prstGeom>
          <a:noFill/>
          <a:ln/>
        </p:spPr>
        <p:txBody>
          <a:bodyPr wrap="square" lIns="0" tIns="0" rIns="0" bIns="0" rtlCol="0" anchor="t"/>
          <a:lstStyle/>
          <a:p>
            <a:pPr algn="ctr" indent="0" marL="0">
              <a:buNone/>
            </a:pPr>
            <a:r>
              <a:rPr lang="en-US" sz="1100" dirty="0">
                <a:solidFill>
                  <a:srgbClr val="475569"/>
                </a:solidFill>
                <a:latin typeface="Calibri" pitchFamily="34" charset="0"/>
                <a:ea typeface="Calibri" pitchFamily="34" charset="-122"/>
                <a:cs typeface="Calibri" pitchFamily="34" charset="-120"/>
              </a:rPr>
              <a:t>2025年</a:t>
            </a:r>
            <a:endParaRPr lang="en-US" sz="1100" dirty="0"/>
          </a:p>
          <a:p>
            <a:pPr algn="ctr" indent="0" marL="0">
              <a:buNone/>
            </a:pPr>
            <a:r>
              <a:rPr lang="en-US" sz="1100" dirty="0">
                <a:solidFill>
                  <a:srgbClr val="475569"/>
                </a:solidFill>
                <a:latin typeface="Calibri" pitchFamily="34" charset="0"/>
                <a:ea typeface="Calibri" pitchFamily="34" charset="-122"/>
                <a:cs typeface="Calibri" pitchFamily="34" charset="-120"/>
              </a:rPr>
              <a:t>市場規模</a:t>
            </a:r>
            <a:endParaRPr lang="en-US" sz="1100" dirty="0"/>
          </a:p>
        </p:txBody>
      </p:sp>
      <p:sp>
        <p:nvSpPr>
          <p:cNvPr id="7" name="Shape 5"/>
          <p:cNvSpPr/>
          <p:nvPr/>
        </p:nvSpPr>
        <p:spPr>
          <a:xfrm>
            <a:off x="2651760" y="1097280"/>
            <a:ext cx="1920240" cy="14630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8" name="Text 6"/>
          <p:cNvSpPr/>
          <p:nvPr/>
        </p:nvSpPr>
        <p:spPr>
          <a:xfrm>
            <a:off x="2651760" y="1188720"/>
            <a:ext cx="1920240" cy="731520"/>
          </a:xfrm>
          <a:prstGeom prst="rect">
            <a:avLst/>
          </a:prstGeom>
          <a:noFill/>
          <a:ln/>
        </p:spPr>
        <p:txBody>
          <a:bodyPr wrap="square" lIns="0" tIns="0" rIns="0" bIns="0" rtlCol="0" anchor="ctr"/>
          <a:lstStyle/>
          <a:p>
            <a:pPr algn="ctr" indent="0" marL="0">
              <a:buNone/>
            </a:pPr>
            <a:r>
              <a:rPr lang="en-US" sz="3000" b="1" dirty="0">
                <a:solidFill>
                  <a:srgbClr val="00A896"/>
                </a:solidFill>
                <a:latin typeface="Georgia" pitchFamily="34" charset="0"/>
                <a:ea typeface="Georgia" pitchFamily="34" charset="-122"/>
                <a:cs typeface="Georgia" pitchFamily="34" charset="-120"/>
              </a:rPr>
              <a:t>$10.9B</a:t>
            </a:r>
            <a:endParaRPr lang="en-US" sz="3000" dirty="0"/>
          </a:p>
        </p:txBody>
      </p:sp>
      <p:sp>
        <p:nvSpPr>
          <p:cNvPr id="9" name="Text 7"/>
          <p:cNvSpPr/>
          <p:nvPr/>
        </p:nvSpPr>
        <p:spPr>
          <a:xfrm>
            <a:off x="2651760" y="1920240"/>
            <a:ext cx="1920240" cy="548640"/>
          </a:xfrm>
          <a:prstGeom prst="rect">
            <a:avLst/>
          </a:prstGeom>
          <a:noFill/>
          <a:ln/>
        </p:spPr>
        <p:txBody>
          <a:bodyPr wrap="square" lIns="0" tIns="0" rIns="0" bIns="0" rtlCol="0" anchor="t"/>
          <a:lstStyle/>
          <a:p>
            <a:pPr algn="ctr" indent="0" marL="0">
              <a:buNone/>
            </a:pPr>
            <a:r>
              <a:rPr lang="en-US" sz="1100" dirty="0">
                <a:solidFill>
                  <a:srgbClr val="475569"/>
                </a:solidFill>
                <a:latin typeface="Calibri" pitchFamily="34" charset="0"/>
                <a:ea typeface="Calibri" pitchFamily="34" charset="-122"/>
                <a:cs typeface="Calibri" pitchFamily="34" charset="-120"/>
              </a:rPr>
              <a:t>2026年</a:t>
            </a:r>
            <a:endParaRPr lang="en-US" sz="1100" dirty="0"/>
          </a:p>
          <a:p>
            <a:pPr algn="ctr" indent="0" marL="0">
              <a:buNone/>
            </a:pPr>
            <a:r>
              <a:rPr lang="en-US" sz="1100" dirty="0">
                <a:solidFill>
                  <a:srgbClr val="475569"/>
                </a:solidFill>
                <a:latin typeface="Calibri" pitchFamily="34" charset="0"/>
                <a:ea typeface="Calibri" pitchFamily="34" charset="-122"/>
                <a:cs typeface="Calibri" pitchFamily="34" charset="-120"/>
              </a:rPr>
              <a:t>予測</a:t>
            </a:r>
            <a:endParaRPr lang="en-US" sz="1100" dirty="0"/>
          </a:p>
        </p:txBody>
      </p:sp>
      <p:sp>
        <p:nvSpPr>
          <p:cNvPr id="10" name="Shape 8"/>
          <p:cNvSpPr/>
          <p:nvPr/>
        </p:nvSpPr>
        <p:spPr>
          <a:xfrm>
            <a:off x="4846320" y="1097280"/>
            <a:ext cx="1920240" cy="14630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1" name="Text 9"/>
          <p:cNvSpPr/>
          <p:nvPr/>
        </p:nvSpPr>
        <p:spPr>
          <a:xfrm>
            <a:off x="4846320" y="1188720"/>
            <a:ext cx="1920240" cy="731520"/>
          </a:xfrm>
          <a:prstGeom prst="rect">
            <a:avLst/>
          </a:prstGeom>
          <a:noFill/>
          <a:ln/>
        </p:spPr>
        <p:txBody>
          <a:bodyPr wrap="square" lIns="0" tIns="0" rIns="0" bIns="0" rtlCol="0" anchor="ctr"/>
          <a:lstStyle/>
          <a:p>
            <a:pPr algn="ctr" indent="0" marL="0">
              <a:buNone/>
            </a:pPr>
            <a:r>
              <a:rPr lang="en-US" sz="3000" b="1" dirty="0">
                <a:solidFill>
                  <a:srgbClr val="00A896"/>
                </a:solidFill>
                <a:latin typeface="Georgia" pitchFamily="34" charset="0"/>
                <a:ea typeface="Georgia" pitchFamily="34" charset="-122"/>
                <a:cs typeface="Georgia" pitchFamily="34" charset="-120"/>
              </a:rPr>
              <a:t>49.6%</a:t>
            </a:r>
            <a:endParaRPr lang="en-US" sz="3000" dirty="0"/>
          </a:p>
        </p:txBody>
      </p:sp>
      <p:sp>
        <p:nvSpPr>
          <p:cNvPr id="12" name="Text 10"/>
          <p:cNvSpPr/>
          <p:nvPr/>
        </p:nvSpPr>
        <p:spPr>
          <a:xfrm>
            <a:off x="4846320" y="1920240"/>
            <a:ext cx="1920240" cy="548640"/>
          </a:xfrm>
          <a:prstGeom prst="rect">
            <a:avLst/>
          </a:prstGeom>
          <a:noFill/>
          <a:ln/>
        </p:spPr>
        <p:txBody>
          <a:bodyPr wrap="square" lIns="0" tIns="0" rIns="0" bIns="0" rtlCol="0" anchor="t"/>
          <a:lstStyle/>
          <a:p>
            <a:pPr algn="ctr" indent="0" marL="0">
              <a:buNone/>
            </a:pPr>
            <a:r>
              <a:rPr lang="en-US" sz="1100" dirty="0">
                <a:solidFill>
                  <a:srgbClr val="475569"/>
                </a:solidFill>
                <a:latin typeface="Calibri" pitchFamily="34" charset="0"/>
                <a:ea typeface="Calibri" pitchFamily="34" charset="-122"/>
                <a:cs typeface="Calibri" pitchFamily="34" charset="-120"/>
              </a:rPr>
              <a:t>年間成長率</a:t>
            </a:r>
            <a:endParaRPr lang="en-US" sz="1100" dirty="0"/>
          </a:p>
          <a:p>
            <a:pPr algn="ctr" indent="0" marL="0">
              <a:buNone/>
            </a:pPr>
            <a:r>
              <a:rPr lang="en-US" sz="1100" dirty="0">
                <a:solidFill>
                  <a:srgbClr val="475569"/>
                </a:solidFill>
                <a:latin typeface="Calibri" pitchFamily="34" charset="0"/>
                <a:ea typeface="Calibri" pitchFamily="34" charset="-122"/>
                <a:cs typeface="Calibri" pitchFamily="34" charset="-120"/>
              </a:rPr>
              <a:t>(CAGR)</a:t>
            </a:r>
            <a:endParaRPr lang="en-US" sz="1100" dirty="0"/>
          </a:p>
        </p:txBody>
      </p:sp>
      <p:sp>
        <p:nvSpPr>
          <p:cNvPr id="13" name="Shape 11"/>
          <p:cNvSpPr/>
          <p:nvPr/>
        </p:nvSpPr>
        <p:spPr>
          <a:xfrm>
            <a:off x="7040880" y="1097280"/>
            <a:ext cx="1920240" cy="14630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4" name="Text 12"/>
          <p:cNvSpPr/>
          <p:nvPr/>
        </p:nvSpPr>
        <p:spPr>
          <a:xfrm>
            <a:off x="7040880" y="1188720"/>
            <a:ext cx="1920240" cy="731520"/>
          </a:xfrm>
          <a:prstGeom prst="rect">
            <a:avLst/>
          </a:prstGeom>
          <a:noFill/>
          <a:ln/>
        </p:spPr>
        <p:txBody>
          <a:bodyPr wrap="square" lIns="0" tIns="0" rIns="0" bIns="0" rtlCol="0" anchor="ctr"/>
          <a:lstStyle/>
          <a:p>
            <a:pPr algn="ctr" indent="0" marL="0">
              <a:buNone/>
            </a:pPr>
            <a:r>
              <a:rPr lang="en-US" sz="3000" b="1" dirty="0">
                <a:solidFill>
                  <a:srgbClr val="00A896"/>
                </a:solidFill>
                <a:latin typeface="Georgia" pitchFamily="34" charset="0"/>
                <a:ea typeface="Georgia" pitchFamily="34" charset="-122"/>
                <a:cs typeface="Georgia" pitchFamily="34" charset="-120"/>
              </a:rPr>
              <a:t>$216B</a:t>
            </a:r>
            <a:endParaRPr lang="en-US" sz="3000" dirty="0"/>
          </a:p>
        </p:txBody>
      </p:sp>
      <p:sp>
        <p:nvSpPr>
          <p:cNvPr id="15" name="Text 13"/>
          <p:cNvSpPr/>
          <p:nvPr/>
        </p:nvSpPr>
        <p:spPr>
          <a:xfrm>
            <a:off x="7040880" y="1920240"/>
            <a:ext cx="1920240" cy="548640"/>
          </a:xfrm>
          <a:prstGeom prst="rect">
            <a:avLst/>
          </a:prstGeom>
          <a:noFill/>
          <a:ln/>
        </p:spPr>
        <p:txBody>
          <a:bodyPr wrap="square" lIns="0" tIns="0" rIns="0" bIns="0" rtlCol="0" anchor="t"/>
          <a:lstStyle/>
          <a:p>
            <a:pPr algn="ctr" indent="0" marL="0">
              <a:buNone/>
            </a:pPr>
            <a:r>
              <a:rPr lang="en-US" sz="1100" dirty="0">
                <a:solidFill>
                  <a:srgbClr val="475569"/>
                </a:solidFill>
                <a:latin typeface="Calibri" pitchFamily="34" charset="0"/>
                <a:ea typeface="Calibri" pitchFamily="34" charset="-122"/>
                <a:cs typeface="Calibri" pitchFamily="34" charset="-120"/>
              </a:rPr>
              <a:t>2030年</a:t>
            </a:r>
            <a:endParaRPr lang="en-US" sz="1100" dirty="0"/>
          </a:p>
          <a:p>
            <a:pPr algn="ctr" indent="0" marL="0">
              <a:buNone/>
            </a:pPr>
            <a:r>
              <a:rPr lang="en-US" sz="1100" dirty="0">
                <a:solidFill>
                  <a:srgbClr val="475569"/>
                </a:solidFill>
                <a:latin typeface="Calibri" pitchFamily="34" charset="0"/>
                <a:ea typeface="Calibri" pitchFamily="34" charset="-122"/>
                <a:cs typeface="Calibri" pitchFamily="34" charset="-120"/>
              </a:rPr>
              <a:t>予測</a:t>
            </a:r>
            <a:endParaRPr lang="en-US" sz="1100" dirty="0"/>
          </a:p>
        </p:txBody>
      </p:sp>
      <p:sp>
        <p:nvSpPr>
          <p:cNvPr id="17" name="Shape 14"/>
          <p:cNvSpPr/>
          <p:nvPr/>
        </p:nvSpPr>
        <p:spPr>
          <a:xfrm>
            <a:off x="0" y="4754880"/>
            <a:ext cx="9144000" cy="388620"/>
          </a:xfrm>
          <a:prstGeom prst="rect">
            <a:avLst/>
          </a:prstGeom>
          <a:solidFill>
            <a:srgbClr val="1E2761"/>
          </a:solidFill>
          <a:ln/>
        </p:spPr>
      </p:sp>
      <p:sp>
        <p:nvSpPr>
          <p:cNvPr id="18" name="Text 15"/>
          <p:cNvSpPr/>
          <p:nvPr/>
        </p:nvSpPr>
        <p:spPr>
          <a:xfrm>
            <a:off x="457200" y="4754880"/>
            <a:ext cx="8229600" cy="38862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出典: MarketsandMarkets / Grand View Research / Gartner (2025)</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96"/>
          </a:solidFill>
          <a:ln/>
        </p:spPr>
      </p:sp>
      <p:sp>
        <p:nvSpPr>
          <p:cNvPr id="3" name="Text 1"/>
          <p:cNvSpPr/>
          <p:nvPr/>
        </p:nvSpPr>
        <p:spPr>
          <a:xfrm>
            <a:off x="640080" y="274320"/>
            <a:ext cx="7315200" cy="640080"/>
          </a:xfrm>
          <a:prstGeom prst="rect">
            <a:avLst/>
          </a:prstGeom>
          <a:noFill/>
          <a:ln/>
        </p:spPr>
        <p:txBody>
          <a:bodyPr wrap="square" lIns="0" tIns="0" rIns="0" bIns="0" rtlCol="0" anchor="ctr"/>
          <a:lstStyle/>
          <a:p>
            <a:pPr indent="0" marL="0">
              <a:buNone/>
            </a:pPr>
            <a:r>
              <a:rPr lang="en-US" sz="2800" b="1" dirty="0">
                <a:solidFill>
                  <a:srgbClr val="1E2761"/>
                </a:solidFill>
                <a:latin typeface="Georgia" pitchFamily="34" charset="0"/>
                <a:ea typeface="Georgia" pitchFamily="34" charset="-122"/>
                <a:cs typeface="Georgia" pitchFamily="34" charset="-120"/>
              </a:rPr>
              <a:t>エンタープライズでの導入加速</a:t>
            </a:r>
            <a:endParaRPr lang="en-US" sz="2800" dirty="0"/>
          </a:p>
        </p:txBody>
      </p:sp>
      <p:sp>
        <p:nvSpPr>
          <p:cNvPr id="4" name="Shape 2"/>
          <p:cNvSpPr/>
          <p:nvPr/>
        </p:nvSpPr>
        <p:spPr>
          <a:xfrm>
            <a:off x="640080" y="1097280"/>
            <a:ext cx="2560320" cy="13716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5" name="Text 3"/>
          <p:cNvSpPr/>
          <p:nvPr/>
        </p:nvSpPr>
        <p:spPr>
          <a:xfrm>
            <a:off x="640080" y="1143000"/>
            <a:ext cx="2560320" cy="640080"/>
          </a:xfrm>
          <a:prstGeom prst="rect">
            <a:avLst/>
          </a:prstGeom>
          <a:noFill/>
          <a:ln/>
        </p:spPr>
        <p:txBody>
          <a:bodyPr wrap="square" lIns="0" tIns="0" rIns="0" bIns="0" rtlCol="0" anchor="ctr"/>
          <a:lstStyle/>
          <a:p>
            <a:pPr algn="ctr" indent="0" marL="0">
              <a:buNone/>
            </a:pPr>
            <a:r>
              <a:rPr lang="en-US" sz="3600" b="1" dirty="0">
                <a:solidFill>
                  <a:srgbClr val="00A896"/>
                </a:solidFill>
                <a:latin typeface="Georgia" pitchFamily="34" charset="0"/>
                <a:ea typeface="Georgia" pitchFamily="34" charset="-122"/>
                <a:cs typeface="Georgia" pitchFamily="34" charset="-120"/>
              </a:rPr>
              <a:t>85%</a:t>
            </a:r>
            <a:endParaRPr lang="en-US" sz="3600" dirty="0"/>
          </a:p>
        </p:txBody>
      </p:sp>
      <p:sp>
        <p:nvSpPr>
          <p:cNvPr id="6" name="Text 4"/>
          <p:cNvSpPr/>
          <p:nvPr/>
        </p:nvSpPr>
        <p:spPr>
          <a:xfrm>
            <a:off x="822960" y="1783080"/>
            <a:ext cx="2194560" cy="640080"/>
          </a:xfrm>
          <a:prstGeom prst="rect">
            <a:avLst/>
          </a:prstGeom>
          <a:noFill/>
          <a:ln/>
        </p:spPr>
        <p:txBody>
          <a:bodyPr wrap="square" lIns="0" tIns="0" rIns="0" bIns="0" rtlCol="0" anchor="t"/>
          <a:lstStyle/>
          <a:p>
            <a:pPr algn="ctr" indent="0" marL="0">
              <a:buNone/>
            </a:pPr>
            <a:r>
              <a:rPr lang="en-US" sz="1000" dirty="0">
                <a:solidFill>
                  <a:srgbClr val="475569"/>
                </a:solidFill>
                <a:latin typeface="Calibri" pitchFamily="34" charset="0"/>
                <a:ea typeface="Calibri" pitchFamily="34" charset="-122"/>
                <a:cs typeface="Calibri" pitchFamily="34" charset="-120"/>
              </a:rPr>
              <a:t>企業がAIエージェント</a:t>
            </a:r>
            <a:endParaRPr lang="en-US" sz="1000" dirty="0"/>
          </a:p>
          <a:p>
            <a:pPr algn="ctr" indent="0" marL="0">
              <a:buNone/>
            </a:pPr>
            <a:r>
              <a:rPr lang="en-US" sz="1000" dirty="0">
                <a:solidFill>
                  <a:srgbClr val="475569"/>
                </a:solidFill>
                <a:latin typeface="Calibri" pitchFamily="34" charset="0"/>
                <a:ea typeface="Calibri" pitchFamily="34" charset="-122"/>
                <a:cs typeface="Calibri" pitchFamily="34" charset="-120"/>
              </a:rPr>
              <a:t>を試験導入（2025年末）</a:t>
            </a:r>
            <a:endParaRPr lang="en-US" sz="1000" dirty="0"/>
          </a:p>
        </p:txBody>
      </p:sp>
      <p:sp>
        <p:nvSpPr>
          <p:cNvPr id="7" name="Shape 5"/>
          <p:cNvSpPr/>
          <p:nvPr/>
        </p:nvSpPr>
        <p:spPr>
          <a:xfrm>
            <a:off x="3474720" y="1097280"/>
            <a:ext cx="2560320" cy="13716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8" name="Text 6"/>
          <p:cNvSpPr/>
          <p:nvPr/>
        </p:nvSpPr>
        <p:spPr>
          <a:xfrm>
            <a:off x="3474720" y="1143000"/>
            <a:ext cx="2560320" cy="640080"/>
          </a:xfrm>
          <a:prstGeom prst="rect">
            <a:avLst/>
          </a:prstGeom>
          <a:noFill/>
          <a:ln/>
        </p:spPr>
        <p:txBody>
          <a:bodyPr wrap="square" lIns="0" tIns="0" rIns="0" bIns="0" rtlCol="0" anchor="ctr"/>
          <a:lstStyle/>
          <a:p>
            <a:pPr algn="ctr" indent="0" marL="0">
              <a:buNone/>
            </a:pPr>
            <a:r>
              <a:rPr lang="en-US" sz="3600" b="1" dirty="0">
                <a:solidFill>
                  <a:srgbClr val="00A896"/>
                </a:solidFill>
                <a:latin typeface="Georgia" pitchFamily="34" charset="0"/>
                <a:ea typeface="Georgia" pitchFamily="34" charset="-122"/>
                <a:cs typeface="Georgia" pitchFamily="34" charset="-120"/>
              </a:rPr>
              <a:t>40%</a:t>
            </a:r>
            <a:endParaRPr lang="en-US" sz="3600" dirty="0"/>
          </a:p>
        </p:txBody>
      </p:sp>
      <p:sp>
        <p:nvSpPr>
          <p:cNvPr id="9" name="Text 7"/>
          <p:cNvSpPr/>
          <p:nvPr/>
        </p:nvSpPr>
        <p:spPr>
          <a:xfrm>
            <a:off x="3657600" y="1783080"/>
            <a:ext cx="2194560" cy="640080"/>
          </a:xfrm>
          <a:prstGeom prst="rect">
            <a:avLst/>
          </a:prstGeom>
          <a:noFill/>
          <a:ln/>
        </p:spPr>
        <p:txBody>
          <a:bodyPr wrap="square" lIns="0" tIns="0" rIns="0" bIns="0" rtlCol="0" anchor="t"/>
          <a:lstStyle/>
          <a:p>
            <a:pPr algn="ctr" indent="0" marL="0">
              <a:buNone/>
            </a:pPr>
            <a:r>
              <a:rPr lang="en-US" sz="1000" dirty="0">
                <a:solidFill>
                  <a:srgbClr val="475569"/>
                </a:solidFill>
                <a:latin typeface="Calibri" pitchFamily="34" charset="0"/>
                <a:ea typeface="Calibri" pitchFamily="34" charset="-122"/>
                <a:cs typeface="Calibri" pitchFamily="34" charset="-120"/>
              </a:rPr>
              <a:t>2026年までに</a:t>
            </a:r>
            <a:endParaRPr lang="en-US" sz="1000" dirty="0"/>
          </a:p>
          <a:p>
            <a:pPr algn="ctr" indent="0" marL="0">
              <a:buNone/>
            </a:pPr>
            <a:r>
              <a:rPr lang="en-US" sz="1000" dirty="0">
                <a:solidFill>
                  <a:srgbClr val="475569"/>
                </a:solidFill>
                <a:latin typeface="Calibri" pitchFamily="34" charset="0"/>
                <a:ea typeface="Calibri" pitchFamily="34" charset="-122"/>
                <a:cs typeface="Calibri" pitchFamily="34" charset="-120"/>
              </a:rPr>
              <a:t>エージェント組込予定</a:t>
            </a:r>
            <a:endParaRPr lang="en-US" sz="1000" dirty="0"/>
          </a:p>
          <a:p>
            <a:pPr algn="ctr" indent="0" marL="0">
              <a:buNone/>
            </a:pPr>
            <a:r>
              <a:rPr lang="en-US" sz="1000" dirty="0">
                <a:solidFill>
                  <a:srgbClr val="475569"/>
                </a:solidFill>
                <a:latin typeface="Calibri" pitchFamily="34" charset="0"/>
                <a:ea typeface="Calibri" pitchFamily="34" charset="-122"/>
                <a:cs typeface="Calibri" pitchFamily="34" charset="-120"/>
              </a:rPr>
              <a:t>（Gartner予測）</a:t>
            </a:r>
            <a:endParaRPr lang="en-US" sz="1000" dirty="0"/>
          </a:p>
        </p:txBody>
      </p:sp>
      <p:sp>
        <p:nvSpPr>
          <p:cNvPr id="10" name="Shape 8"/>
          <p:cNvSpPr/>
          <p:nvPr/>
        </p:nvSpPr>
        <p:spPr>
          <a:xfrm>
            <a:off x="6309360" y="1097280"/>
            <a:ext cx="2560320" cy="13716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1" name="Text 9"/>
          <p:cNvSpPr/>
          <p:nvPr/>
        </p:nvSpPr>
        <p:spPr>
          <a:xfrm>
            <a:off x="6309360" y="1143000"/>
            <a:ext cx="2560320" cy="640080"/>
          </a:xfrm>
          <a:prstGeom prst="rect">
            <a:avLst/>
          </a:prstGeom>
          <a:noFill/>
          <a:ln/>
        </p:spPr>
        <p:txBody>
          <a:bodyPr wrap="square" lIns="0" tIns="0" rIns="0" bIns="0" rtlCol="0" anchor="ctr"/>
          <a:lstStyle/>
          <a:p>
            <a:pPr algn="ctr" indent="0" marL="0">
              <a:buNone/>
            </a:pPr>
            <a:r>
              <a:rPr lang="en-US" sz="3600" b="1" dirty="0">
                <a:solidFill>
                  <a:srgbClr val="00A896"/>
                </a:solidFill>
                <a:latin typeface="Georgia" pitchFamily="34" charset="0"/>
                <a:ea typeface="Georgia" pitchFamily="34" charset="-122"/>
                <a:cs typeface="Georgia" pitchFamily="34" charset="-120"/>
              </a:rPr>
              <a:t>150+</a:t>
            </a:r>
            <a:endParaRPr lang="en-US" sz="3600" dirty="0"/>
          </a:p>
        </p:txBody>
      </p:sp>
      <p:sp>
        <p:nvSpPr>
          <p:cNvPr id="12" name="Text 10"/>
          <p:cNvSpPr/>
          <p:nvPr/>
        </p:nvSpPr>
        <p:spPr>
          <a:xfrm>
            <a:off x="6492240" y="1783080"/>
            <a:ext cx="2194560" cy="640080"/>
          </a:xfrm>
          <a:prstGeom prst="rect">
            <a:avLst/>
          </a:prstGeom>
          <a:noFill/>
          <a:ln/>
        </p:spPr>
        <p:txBody>
          <a:bodyPr wrap="square" lIns="0" tIns="0" rIns="0" bIns="0" rtlCol="0" anchor="t"/>
          <a:lstStyle/>
          <a:p>
            <a:pPr algn="ctr" indent="0" marL="0">
              <a:buNone/>
            </a:pPr>
            <a:r>
              <a:rPr lang="en-US" sz="1000" dirty="0">
                <a:solidFill>
                  <a:srgbClr val="475569"/>
                </a:solidFill>
                <a:latin typeface="Calibri" pitchFamily="34" charset="0"/>
                <a:ea typeface="Calibri" pitchFamily="34" charset="-122"/>
                <a:cs typeface="Calibri" pitchFamily="34" charset="-120"/>
              </a:rPr>
              <a:t>A2Aサポート組織</a:t>
            </a:r>
            <a:endParaRPr lang="en-US" sz="1000" dirty="0"/>
          </a:p>
          <a:p>
            <a:pPr algn="ctr" indent="0" marL="0">
              <a:buNone/>
            </a:pPr>
            <a:r>
              <a:rPr lang="en-US" sz="1000" dirty="0">
                <a:solidFill>
                  <a:srgbClr val="475569"/>
                </a:solidFill>
                <a:latin typeface="Calibri" pitchFamily="34" charset="0"/>
                <a:ea typeface="Calibri" pitchFamily="34" charset="-122"/>
                <a:cs typeface="Calibri" pitchFamily="34" charset="-120"/>
              </a:rPr>
              <a:t>（Linux Foundation登録）</a:t>
            </a:r>
            <a:endParaRPr lang="en-US" sz="1000" dirty="0"/>
          </a:p>
        </p:txBody>
      </p:sp>
      <p:sp>
        <p:nvSpPr>
          <p:cNvPr id="13" name="Text 11"/>
          <p:cNvSpPr/>
          <p:nvPr/>
        </p:nvSpPr>
        <p:spPr>
          <a:xfrm>
            <a:off x="640080" y="2743200"/>
            <a:ext cx="4572000" cy="365760"/>
          </a:xfrm>
          <a:prstGeom prst="rect">
            <a:avLst/>
          </a:prstGeom>
          <a:noFill/>
          <a:ln/>
        </p:spPr>
        <p:txBody>
          <a:bodyPr wrap="square" lIns="0" tIns="0" rIns="0" bIns="0" rtlCol="0" anchor="ctr"/>
          <a:lstStyle/>
          <a:p>
            <a:pPr indent="0" marL="0">
              <a:buNone/>
            </a:pPr>
            <a:r>
              <a:rPr lang="en-US" sz="1600" b="1" dirty="0">
                <a:solidFill>
                  <a:srgbClr val="1E2761"/>
                </a:solidFill>
                <a:latin typeface="Georgia" pitchFamily="34" charset="0"/>
                <a:ea typeface="Georgia" pitchFamily="34" charset="-122"/>
                <a:cs typeface="Georgia" pitchFamily="34" charset="-120"/>
              </a:rPr>
              <a:t>主要な導入ユースケース</a:t>
            </a:r>
            <a:endParaRPr lang="en-US" sz="1600" dirty="0"/>
          </a:p>
        </p:txBody>
      </p:sp>
      <p:pic>
        <p:nvPicPr>
          <p:cNvPr id="14" name="Image 0" descr="preencoded.png"/>
          <p:cNvPicPr>
            <a:picLocks noChangeAspect="1"/>
          </p:cNvPicPr>
          <p:nvPr/>
        </p:nvPicPr>
        <p:blipFill>
          <a:blip r:embed="rId1"/>
          <a:stretch>
            <a:fillRect/>
          </a:stretch>
        </p:blipFill>
        <p:spPr>
          <a:xfrm>
            <a:off x="822960" y="3246120"/>
            <a:ext cx="320040" cy="320040"/>
          </a:xfrm>
          <a:prstGeom prst="rect">
            <a:avLst/>
          </a:prstGeom>
        </p:spPr>
      </p:pic>
      <p:sp>
        <p:nvSpPr>
          <p:cNvPr id="15" name="Text 12"/>
          <p:cNvSpPr/>
          <p:nvPr/>
        </p:nvSpPr>
        <p:spPr>
          <a:xfrm>
            <a:off x="1280160" y="3200400"/>
            <a:ext cx="7315200" cy="411480"/>
          </a:xfrm>
          <a:prstGeom prst="rect">
            <a:avLst/>
          </a:prstGeom>
          <a:noFill/>
          <a:ln/>
        </p:spPr>
        <p:txBody>
          <a:bodyPr wrap="square" lIns="0" tIns="0" rIns="0" bIns="0" rtlCol="0" anchor="ctr"/>
          <a:lstStyle/>
          <a:p>
            <a:pPr indent="0" marL="0">
              <a:buNone/>
            </a:pPr>
            <a:r>
              <a:rPr lang="en-US" sz="1100" b="1" dirty="0">
                <a:solidFill>
                  <a:srgbClr val="065A82"/>
                </a:solidFill>
              </a:rPr>
              <a:t xml:space="preserve">カスタマーサポート自動化 — </a:t>
            </a:r>
            <a:pPr indent="0" marL="0">
              <a:buNone/>
            </a:pPr>
            <a:r>
              <a:rPr lang="en-US" sz="1100" dirty="0">
                <a:solidFill>
                  <a:srgbClr val="475569"/>
                </a:solidFill>
              </a:rPr>
              <a:t>複数エージェントが連携し、問合せ対応を自動化</a:t>
            </a:r>
            <a:endParaRPr lang="en-US" sz="1100" dirty="0"/>
          </a:p>
        </p:txBody>
      </p:sp>
      <p:pic>
        <p:nvPicPr>
          <p:cNvPr id="16" name="Image 1" descr="preencoded.png"/>
          <p:cNvPicPr>
            <a:picLocks noChangeAspect="1"/>
          </p:cNvPicPr>
          <p:nvPr/>
        </p:nvPicPr>
        <p:blipFill>
          <a:blip r:embed="rId2"/>
          <a:stretch>
            <a:fillRect/>
          </a:stretch>
        </p:blipFill>
        <p:spPr>
          <a:xfrm>
            <a:off x="822960" y="3749040"/>
            <a:ext cx="320040" cy="320040"/>
          </a:xfrm>
          <a:prstGeom prst="rect">
            <a:avLst/>
          </a:prstGeom>
        </p:spPr>
      </p:pic>
      <p:sp>
        <p:nvSpPr>
          <p:cNvPr id="17" name="Text 13"/>
          <p:cNvSpPr/>
          <p:nvPr/>
        </p:nvSpPr>
        <p:spPr>
          <a:xfrm>
            <a:off x="1280160" y="3703320"/>
            <a:ext cx="7315200" cy="411480"/>
          </a:xfrm>
          <a:prstGeom prst="rect">
            <a:avLst/>
          </a:prstGeom>
          <a:noFill/>
          <a:ln/>
        </p:spPr>
        <p:txBody>
          <a:bodyPr wrap="square" lIns="0" tIns="0" rIns="0" bIns="0" rtlCol="0" anchor="ctr"/>
          <a:lstStyle/>
          <a:p>
            <a:pPr indent="0" marL="0">
              <a:buNone/>
            </a:pPr>
            <a:r>
              <a:rPr lang="en-US" sz="1100" b="1" dirty="0">
                <a:solidFill>
                  <a:srgbClr val="065A82"/>
                </a:solidFill>
              </a:rPr>
              <a:t xml:space="preserve">サプライチェーン最適化 — </a:t>
            </a:r>
            <a:pPr indent="0" marL="0">
              <a:buNone/>
            </a:pPr>
            <a:r>
              <a:rPr lang="en-US" sz="1100" dirty="0">
                <a:solidFill>
                  <a:srgbClr val="475569"/>
                </a:solidFill>
              </a:rPr>
              <a:t>在庫管理・物流・発注を統合的にエージェントが制御</a:t>
            </a:r>
            <a:endParaRPr lang="en-US" sz="1100" dirty="0"/>
          </a:p>
        </p:txBody>
      </p:sp>
      <p:pic>
        <p:nvPicPr>
          <p:cNvPr id="18" name="Image 2" descr="preencoded.png"/>
          <p:cNvPicPr>
            <a:picLocks noChangeAspect="1"/>
          </p:cNvPicPr>
          <p:nvPr/>
        </p:nvPicPr>
        <p:blipFill>
          <a:blip r:embed="rId3"/>
          <a:stretch>
            <a:fillRect/>
          </a:stretch>
        </p:blipFill>
        <p:spPr>
          <a:xfrm>
            <a:off x="822960" y="4251960"/>
            <a:ext cx="320040" cy="320040"/>
          </a:xfrm>
          <a:prstGeom prst="rect">
            <a:avLst/>
          </a:prstGeom>
        </p:spPr>
      </p:pic>
      <p:sp>
        <p:nvSpPr>
          <p:cNvPr id="19" name="Text 14"/>
          <p:cNvSpPr/>
          <p:nvPr/>
        </p:nvSpPr>
        <p:spPr>
          <a:xfrm>
            <a:off x="1280160" y="4206240"/>
            <a:ext cx="7315200" cy="411480"/>
          </a:xfrm>
          <a:prstGeom prst="rect">
            <a:avLst/>
          </a:prstGeom>
          <a:noFill/>
          <a:ln/>
        </p:spPr>
        <p:txBody>
          <a:bodyPr wrap="square" lIns="0" tIns="0" rIns="0" bIns="0" rtlCol="0" anchor="ctr"/>
          <a:lstStyle/>
          <a:p>
            <a:pPr indent="0" marL="0">
              <a:buNone/>
            </a:pPr>
            <a:r>
              <a:rPr lang="en-US" sz="1100" b="1" dirty="0">
                <a:solidFill>
                  <a:srgbClr val="065A82"/>
                </a:solidFill>
              </a:rPr>
              <a:t xml:space="preserve">金融リスク分析 — </a:t>
            </a:r>
            <a:pPr indent="0" marL="0">
              <a:buNone/>
            </a:pPr>
            <a:r>
              <a:rPr lang="en-US" sz="1100" dirty="0">
                <a:solidFill>
                  <a:srgbClr val="475569"/>
                </a:solidFill>
              </a:rPr>
              <a:t>リアルタイムデータ収集→分析→レポート生成を自動化</a:t>
            </a:r>
            <a:endParaRPr lang="en-US" sz="1100" dirty="0"/>
          </a:p>
        </p:txBody>
      </p:sp>
      <p:sp>
        <p:nvSpPr>
          <p:cNvPr id="20" name="Shape 15"/>
          <p:cNvSpPr/>
          <p:nvPr/>
        </p:nvSpPr>
        <p:spPr>
          <a:xfrm>
            <a:off x="0" y="4754880"/>
            <a:ext cx="9144000" cy="388620"/>
          </a:xfrm>
          <a:prstGeom prst="rect">
            <a:avLst/>
          </a:prstGeom>
          <a:solidFill>
            <a:srgbClr val="1E2761"/>
          </a:solidFill>
          <a:ln/>
        </p:spPr>
      </p:sp>
      <p:sp>
        <p:nvSpPr>
          <p:cNvPr id="21" name="Text 16"/>
          <p:cNvSpPr/>
          <p:nvPr/>
        </p:nvSpPr>
        <p:spPr>
          <a:xfrm>
            <a:off x="457200" y="4754880"/>
            <a:ext cx="8229600" cy="38862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出典: Gartner / McKinsey / Deloitte AIエージェントレポート (2025)</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96"/>
          </a:solidFill>
          <a:ln/>
        </p:spPr>
      </p:sp>
      <p:sp>
        <p:nvSpPr>
          <p:cNvPr id="3" name="Text 1"/>
          <p:cNvSpPr/>
          <p:nvPr/>
        </p:nvSpPr>
        <p:spPr>
          <a:xfrm>
            <a:off x="640080" y="274320"/>
            <a:ext cx="7315200" cy="640080"/>
          </a:xfrm>
          <a:prstGeom prst="rect">
            <a:avLst/>
          </a:prstGeom>
          <a:noFill/>
          <a:ln/>
        </p:spPr>
        <p:txBody>
          <a:bodyPr wrap="square" lIns="0" tIns="0" rIns="0" bIns="0" rtlCol="0" anchor="ctr"/>
          <a:lstStyle/>
          <a:p>
            <a:pPr indent="0" marL="0">
              <a:buNone/>
            </a:pPr>
            <a:r>
              <a:rPr lang="en-US" sz="2800" b="1" dirty="0">
                <a:solidFill>
                  <a:srgbClr val="1E2761"/>
                </a:solidFill>
                <a:latin typeface="Georgia" pitchFamily="34" charset="0"/>
                <a:ea typeface="Georgia" pitchFamily="34" charset="-122"/>
                <a:cs typeface="Georgia" pitchFamily="34" charset="-120"/>
              </a:rPr>
              <a:t>今後の展望と課題</a:t>
            </a:r>
            <a:endParaRPr lang="en-US" sz="2800" dirty="0"/>
          </a:p>
        </p:txBody>
      </p:sp>
      <p:sp>
        <p:nvSpPr>
          <p:cNvPr id="4" name="Shape 2"/>
          <p:cNvSpPr/>
          <p:nvPr/>
        </p:nvSpPr>
        <p:spPr>
          <a:xfrm>
            <a:off x="640080" y="1097280"/>
            <a:ext cx="3749040" cy="160020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5" name="Image 0" descr="preencoded.png"/>
          <p:cNvPicPr>
            <a:picLocks noChangeAspect="1"/>
          </p:cNvPicPr>
          <p:nvPr/>
        </p:nvPicPr>
        <p:blipFill>
          <a:blip r:embed="rId1"/>
          <a:stretch>
            <a:fillRect/>
          </a:stretch>
        </p:blipFill>
        <p:spPr>
          <a:xfrm>
            <a:off x="822960" y="1600200"/>
            <a:ext cx="457200" cy="457200"/>
          </a:xfrm>
          <a:prstGeom prst="rect">
            <a:avLst/>
          </a:prstGeom>
        </p:spPr>
      </p:pic>
      <p:sp>
        <p:nvSpPr>
          <p:cNvPr id="6" name="Text 3"/>
          <p:cNvSpPr/>
          <p:nvPr/>
        </p:nvSpPr>
        <p:spPr>
          <a:xfrm>
            <a:off x="1463040" y="1234440"/>
            <a:ext cx="2743200" cy="1371600"/>
          </a:xfrm>
          <a:prstGeom prst="rect">
            <a:avLst/>
          </a:prstGeom>
          <a:noFill/>
          <a:ln/>
        </p:spPr>
        <p:txBody>
          <a:bodyPr wrap="square" lIns="0" tIns="0" rIns="0" bIns="0" rtlCol="0" anchor="ctr"/>
          <a:lstStyle/>
          <a:p>
            <a:pPr indent="0" marL="0">
              <a:buNone/>
            </a:pPr>
            <a:r>
              <a:rPr lang="en-US" sz="1400" b="1" dirty="0">
                <a:solidFill>
                  <a:srgbClr val="065A82"/>
                </a:solidFill>
              </a:rPr>
              <a:t>v1.0 GA リリース</a:t>
            </a:r>
            <a:endParaRPr lang="en-US" sz="1400" dirty="0"/>
          </a:p>
          <a:p>
            <a:pPr indent="0" marL="0">
              <a:buNone/>
            </a:pPr>
            <a:endParaRPr lang="en-US" sz="1400" dirty="0"/>
          </a:p>
          <a:p>
            <a:pPr indent="0" marL="0">
              <a:buNone/>
            </a:pPr>
            <a:r>
              <a:rPr lang="en-US" sz="1100" dirty="0">
                <a:solidFill>
                  <a:srgbClr val="475569"/>
                </a:solidFill>
              </a:rPr>
              <a:t>2026年中にA2A v1.0の正式版リリースが見込まれ、エンタープライズ本番環境での採用が加速。</a:t>
            </a:r>
            <a:endParaRPr lang="en-US" sz="1400" dirty="0"/>
          </a:p>
        </p:txBody>
      </p:sp>
      <p:sp>
        <p:nvSpPr>
          <p:cNvPr id="7" name="Shape 4"/>
          <p:cNvSpPr/>
          <p:nvPr/>
        </p:nvSpPr>
        <p:spPr>
          <a:xfrm>
            <a:off x="4754880" y="1097280"/>
            <a:ext cx="3749040" cy="160020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8" name="Image 1" descr="preencoded.png"/>
          <p:cNvPicPr>
            <a:picLocks noChangeAspect="1"/>
          </p:cNvPicPr>
          <p:nvPr/>
        </p:nvPicPr>
        <p:blipFill>
          <a:blip r:embed="rId2"/>
          <a:stretch>
            <a:fillRect/>
          </a:stretch>
        </p:blipFill>
        <p:spPr>
          <a:xfrm>
            <a:off x="4937760" y="1600200"/>
            <a:ext cx="457200" cy="457200"/>
          </a:xfrm>
          <a:prstGeom prst="rect">
            <a:avLst/>
          </a:prstGeom>
        </p:spPr>
      </p:pic>
      <p:sp>
        <p:nvSpPr>
          <p:cNvPr id="9" name="Text 5"/>
          <p:cNvSpPr/>
          <p:nvPr/>
        </p:nvSpPr>
        <p:spPr>
          <a:xfrm>
            <a:off x="5577840" y="1234440"/>
            <a:ext cx="2743200" cy="1371600"/>
          </a:xfrm>
          <a:prstGeom prst="rect">
            <a:avLst/>
          </a:prstGeom>
          <a:noFill/>
          <a:ln/>
        </p:spPr>
        <p:txBody>
          <a:bodyPr wrap="square" lIns="0" tIns="0" rIns="0" bIns="0" rtlCol="0" anchor="ctr"/>
          <a:lstStyle/>
          <a:p>
            <a:pPr indent="0" marL="0">
              <a:buNone/>
            </a:pPr>
            <a:r>
              <a:rPr lang="en-US" sz="1400" b="1" dirty="0">
                <a:solidFill>
                  <a:srgbClr val="065A82"/>
                </a:solidFill>
              </a:rPr>
              <a:t>セキュリティ標準化</a:t>
            </a:r>
            <a:endParaRPr lang="en-US" sz="1400" dirty="0"/>
          </a:p>
          <a:p>
            <a:pPr indent="0" marL="0">
              <a:buNone/>
            </a:pPr>
            <a:endParaRPr lang="en-US" sz="1400" dirty="0"/>
          </a:p>
          <a:p>
            <a:pPr indent="0" marL="0">
              <a:buNone/>
            </a:pPr>
            <a:r>
              <a:rPr lang="en-US" sz="1100" dirty="0">
                <a:solidFill>
                  <a:srgbClr val="475569"/>
                </a:solidFill>
              </a:rPr>
              <a:t>Agent Card署名の義務化、相互認証、監査ログ標準化など、企業レベルのセキュリティ要件への対応。</a:t>
            </a:r>
            <a:endParaRPr lang="en-US" sz="1400" dirty="0"/>
          </a:p>
        </p:txBody>
      </p:sp>
      <p:sp>
        <p:nvSpPr>
          <p:cNvPr id="10" name="Shape 6"/>
          <p:cNvSpPr/>
          <p:nvPr/>
        </p:nvSpPr>
        <p:spPr>
          <a:xfrm>
            <a:off x="640080" y="2880360"/>
            <a:ext cx="3749040" cy="160020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11" name="Image 2" descr="preencoded.png"/>
          <p:cNvPicPr>
            <a:picLocks noChangeAspect="1"/>
          </p:cNvPicPr>
          <p:nvPr/>
        </p:nvPicPr>
        <p:blipFill>
          <a:blip r:embed="rId3"/>
          <a:stretch>
            <a:fillRect/>
          </a:stretch>
        </p:blipFill>
        <p:spPr>
          <a:xfrm>
            <a:off x="822960" y="3383280"/>
            <a:ext cx="457200" cy="457200"/>
          </a:xfrm>
          <a:prstGeom prst="rect">
            <a:avLst/>
          </a:prstGeom>
        </p:spPr>
      </p:pic>
      <p:sp>
        <p:nvSpPr>
          <p:cNvPr id="12" name="Text 7"/>
          <p:cNvSpPr/>
          <p:nvPr/>
        </p:nvSpPr>
        <p:spPr>
          <a:xfrm>
            <a:off x="1463040" y="3017520"/>
            <a:ext cx="2743200" cy="1371600"/>
          </a:xfrm>
          <a:prstGeom prst="rect">
            <a:avLst/>
          </a:prstGeom>
          <a:noFill/>
          <a:ln/>
        </p:spPr>
        <p:txBody>
          <a:bodyPr wrap="square" lIns="0" tIns="0" rIns="0" bIns="0" rtlCol="0" anchor="ctr"/>
          <a:lstStyle/>
          <a:p>
            <a:pPr indent="0" marL="0">
              <a:buNone/>
            </a:pPr>
            <a:r>
              <a:rPr lang="en-US" sz="1400" b="1" dirty="0">
                <a:solidFill>
                  <a:srgbClr val="065A82"/>
                </a:solidFill>
              </a:rPr>
              <a:t>MCP + A2A 統合パターン</a:t>
            </a:r>
            <a:endParaRPr lang="en-US" sz="1400" dirty="0"/>
          </a:p>
          <a:p>
            <a:pPr indent="0" marL="0">
              <a:buNone/>
            </a:pPr>
            <a:endParaRPr lang="en-US" sz="1400" dirty="0"/>
          </a:p>
          <a:p>
            <a:pPr indent="0" marL="0">
              <a:buNone/>
            </a:pPr>
            <a:r>
              <a:rPr lang="en-US" sz="1100" dirty="0">
                <a:solidFill>
                  <a:srgbClr val="475569"/>
                </a:solidFill>
              </a:rPr>
              <a:t>ツール接続（MCP）とエージェント間通信（A2A）のシームレスな統合アーキテクチャが確立。</a:t>
            </a:r>
            <a:endParaRPr lang="en-US" sz="1400" dirty="0"/>
          </a:p>
        </p:txBody>
      </p:sp>
      <p:sp>
        <p:nvSpPr>
          <p:cNvPr id="13" name="Shape 8"/>
          <p:cNvSpPr/>
          <p:nvPr/>
        </p:nvSpPr>
        <p:spPr>
          <a:xfrm>
            <a:off x="4754880" y="2880360"/>
            <a:ext cx="3749040" cy="160020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14" name="Image 3" descr="preencoded.png"/>
          <p:cNvPicPr>
            <a:picLocks noChangeAspect="1"/>
          </p:cNvPicPr>
          <p:nvPr/>
        </p:nvPicPr>
        <p:blipFill>
          <a:blip r:embed="rId4"/>
          <a:stretch>
            <a:fillRect/>
          </a:stretch>
        </p:blipFill>
        <p:spPr>
          <a:xfrm>
            <a:off x="4937760" y="3383280"/>
            <a:ext cx="457200" cy="457200"/>
          </a:xfrm>
          <a:prstGeom prst="rect">
            <a:avLst/>
          </a:prstGeom>
        </p:spPr>
      </p:pic>
      <p:sp>
        <p:nvSpPr>
          <p:cNvPr id="15" name="Text 9"/>
          <p:cNvSpPr/>
          <p:nvPr/>
        </p:nvSpPr>
        <p:spPr>
          <a:xfrm>
            <a:off x="5577840" y="3017520"/>
            <a:ext cx="2743200" cy="1371600"/>
          </a:xfrm>
          <a:prstGeom prst="rect">
            <a:avLst/>
          </a:prstGeom>
          <a:noFill/>
          <a:ln/>
        </p:spPr>
        <p:txBody>
          <a:bodyPr wrap="square" lIns="0" tIns="0" rIns="0" bIns="0" rtlCol="0" anchor="ctr"/>
          <a:lstStyle/>
          <a:p>
            <a:pPr indent="0" marL="0">
              <a:buNone/>
            </a:pPr>
            <a:r>
              <a:rPr lang="en-US" sz="1400" b="1" dirty="0">
                <a:solidFill>
                  <a:srgbClr val="065A82"/>
                </a:solidFill>
              </a:rPr>
              <a:t>規制・ガバナンス</a:t>
            </a:r>
            <a:endParaRPr lang="en-US" sz="1400" dirty="0"/>
          </a:p>
          <a:p>
            <a:pPr indent="0" marL="0">
              <a:buNone/>
            </a:pPr>
            <a:endParaRPr lang="en-US" sz="1400" dirty="0"/>
          </a:p>
          <a:p>
            <a:pPr indent="0" marL="0">
              <a:buNone/>
            </a:pPr>
            <a:r>
              <a:rPr lang="en-US" sz="1100" dirty="0">
                <a:solidFill>
                  <a:srgbClr val="475569"/>
                </a:solidFill>
              </a:rPr>
              <a:t>EU AI Act等の規制に準拠したエージェント運用フレームワークの策定。AI Safety評価の標準化。</a:t>
            </a:r>
            <a:endParaRPr lang="en-US" sz="1400" dirty="0"/>
          </a:p>
        </p:txBody>
      </p:sp>
      <p:sp>
        <p:nvSpPr>
          <p:cNvPr id="16" name="Shape 10"/>
          <p:cNvSpPr/>
          <p:nvPr/>
        </p:nvSpPr>
        <p:spPr>
          <a:xfrm>
            <a:off x="0" y="4754880"/>
            <a:ext cx="9144000" cy="388620"/>
          </a:xfrm>
          <a:prstGeom prst="rect">
            <a:avLst/>
          </a:prstGeom>
          <a:solidFill>
            <a:srgbClr val="1E2761"/>
          </a:solidFill>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A896"/>
          </a:solidFill>
          <a:ln/>
        </p:spPr>
      </p:sp>
      <p:sp>
        <p:nvSpPr>
          <p:cNvPr id="3" name="Text 1"/>
          <p:cNvSpPr/>
          <p:nvPr/>
        </p:nvSpPr>
        <p:spPr>
          <a:xfrm>
            <a:off x="640080" y="457200"/>
            <a:ext cx="7315200" cy="640080"/>
          </a:xfrm>
          <a:prstGeom prst="rect">
            <a:avLst/>
          </a:prstGeom>
          <a:noFill/>
          <a:ln/>
        </p:spPr>
        <p:txBody>
          <a:bodyPr wrap="square" lIns="0" tIns="0" rIns="0" bIns="0"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まとめ</a:t>
            </a:r>
            <a:endParaRPr lang="en-US" sz="3400" dirty="0"/>
          </a:p>
        </p:txBody>
      </p:sp>
      <p:pic>
        <p:nvPicPr>
          <p:cNvPr id="4" name="Image 0" descr="preencoded.png"/>
          <p:cNvPicPr>
            <a:picLocks noChangeAspect="1"/>
          </p:cNvPicPr>
          <p:nvPr/>
        </p:nvPicPr>
        <p:blipFill>
          <a:blip r:embed="rId1"/>
          <a:stretch>
            <a:fillRect/>
          </a:stretch>
        </p:blipFill>
        <p:spPr>
          <a:xfrm>
            <a:off x="822960" y="1417320"/>
            <a:ext cx="320040" cy="320040"/>
          </a:xfrm>
          <a:prstGeom prst="rect">
            <a:avLst/>
          </a:prstGeom>
        </p:spPr>
      </p:pic>
      <p:sp>
        <p:nvSpPr>
          <p:cNvPr id="5" name="Text 2"/>
          <p:cNvSpPr/>
          <p:nvPr/>
        </p:nvSpPr>
        <p:spPr>
          <a:xfrm>
            <a:off x="1371600" y="1371600"/>
            <a:ext cx="7132320" cy="50292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A2Aプロトコルはv0.3で gRPC・署名付きAgent Card を追加し、エンタープライズ対応が加速</a:t>
            </a:r>
            <a:endParaRPr lang="en-US" sz="1400" dirty="0"/>
          </a:p>
        </p:txBody>
      </p:sp>
      <p:pic>
        <p:nvPicPr>
          <p:cNvPr id="6" name="Image 1" descr="preencoded.png"/>
          <p:cNvPicPr>
            <a:picLocks noChangeAspect="1"/>
          </p:cNvPicPr>
          <p:nvPr/>
        </p:nvPicPr>
        <p:blipFill>
          <a:blip r:embed="rId2"/>
          <a:stretch>
            <a:fillRect/>
          </a:stretch>
        </p:blipFill>
        <p:spPr>
          <a:xfrm>
            <a:off x="822960" y="2057400"/>
            <a:ext cx="320040" cy="320040"/>
          </a:xfrm>
          <a:prstGeom prst="rect">
            <a:avLst/>
          </a:prstGeom>
        </p:spPr>
      </p:pic>
      <p:sp>
        <p:nvSpPr>
          <p:cNvPr id="7" name="Text 3"/>
          <p:cNvSpPr/>
          <p:nvPr/>
        </p:nvSpPr>
        <p:spPr>
          <a:xfrm>
            <a:off x="1371600" y="2011680"/>
            <a:ext cx="7132320" cy="50292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Google Agent Space が A2A ネイティブの開発・公開プラットフォームとして台頭</a:t>
            </a:r>
            <a:endParaRPr lang="en-US" sz="1400" dirty="0"/>
          </a:p>
        </p:txBody>
      </p:sp>
      <p:pic>
        <p:nvPicPr>
          <p:cNvPr id="8" name="Image 2" descr="preencoded.png"/>
          <p:cNvPicPr>
            <a:picLocks noChangeAspect="1"/>
          </p:cNvPicPr>
          <p:nvPr/>
        </p:nvPicPr>
        <p:blipFill>
          <a:blip r:embed="rId3"/>
          <a:stretch>
            <a:fillRect/>
          </a:stretch>
        </p:blipFill>
        <p:spPr>
          <a:xfrm>
            <a:off x="822960" y="2697480"/>
            <a:ext cx="320040" cy="320040"/>
          </a:xfrm>
          <a:prstGeom prst="rect">
            <a:avLst/>
          </a:prstGeom>
        </p:spPr>
      </p:pic>
      <p:sp>
        <p:nvSpPr>
          <p:cNvPr id="9" name="Text 4"/>
          <p:cNvSpPr/>
          <p:nvPr/>
        </p:nvSpPr>
        <p:spPr>
          <a:xfrm>
            <a:off x="1371600" y="2651760"/>
            <a:ext cx="7132320" cy="50292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A2A + MCP が Linux Foundation 下で統合的エコシステムを形成（150+ 組織）</a:t>
            </a:r>
            <a:endParaRPr lang="en-US" sz="1400" dirty="0"/>
          </a:p>
        </p:txBody>
      </p:sp>
      <p:pic>
        <p:nvPicPr>
          <p:cNvPr id="10" name="Image 3" descr="preencoded.png"/>
          <p:cNvPicPr>
            <a:picLocks noChangeAspect="1"/>
          </p:cNvPicPr>
          <p:nvPr/>
        </p:nvPicPr>
        <p:blipFill>
          <a:blip r:embed="rId4"/>
          <a:stretch>
            <a:fillRect/>
          </a:stretch>
        </p:blipFill>
        <p:spPr>
          <a:xfrm>
            <a:off x="822960" y="3337560"/>
            <a:ext cx="320040" cy="320040"/>
          </a:xfrm>
          <a:prstGeom prst="rect">
            <a:avLst/>
          </a:prstGeom>
        </p:spPr>
      </p:pic>
      <p:sp>
        <p:nvSpPr>
          <p:cNvPr id="11" name="Text 5"/>
          <p:cNvSpPr/>
          <p:nvPr/>
        </p:nvSpPr>
        <p:spPr>
          <a:xfrm>
            <a:off x="1371600" y="3291840"/>
            <a:ext cx="7132320" cy="50292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AIエージェント市場は CAGR 49.6% で 2030年に $216B 規模へ成長予測</a:t>
            </a:r>
            <a:endParaRPr lang="en-US" sz="1400" dirty="0"/>
          </a:p>
        </p:txBody>
      </p:sp>
      <p:pic>
        <p:nvPicPr>
          <p:cNvPr id="12" name="Image 4" descr="preencoded.png"/>
          <p:cNvPicPr>
            <a:picLocks noChangeAspect="1"/>
          </p:cNvPicPr>
          <p:nvPr/>
        </p:nvPicPr>
        <p:blipFill>
          <a:blip r:embed="rId5"/>
          <a:stretch>
            <a:fillRect/>
          </a:stretch>
        </p:blipFill>
        <p:spPr>
          <a:xfrm>
            <a:off x="822960" y="3977640"/>
            <a:ext cx="320040" cy="320040"/>
          </a:xfrm>
          <a:prstGeom prst="rect">
            <a:avLst/>
          </a:prstGeom>
        </p:spPr>
      </p:pic>
      <p:sp>
        <p:nvSpPr>
          <p:cNvPr id="13" name="Text 6"/>
          <p:cNvSpPr/>
          <p:nvPr/>
        </p:nvSpPr>
        <p:spPr>
          <a:xfrm>
            <a:off x="1371600" y="3931920"/>
            <a:ext cx="7132320" cy="50292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企業の 85% がAIエージェント試験導入済み、本格展開フェーズへ移行中</a:t>
            </a:r>
            <a:endParaRPr lang="en-US" sz="1400" dirty="0"/>
          </a:p>
        </p:txBody>
      </p:sp>
      <p:sp>
        <p:nvSpPr>
          <p:cNvPr id="14" name="Shape 7"/>
          <p:cNvSpPr/>
          <p:nvPr/>
        </p:nvSpPr>
        <p:spPr>
          <a:xfrm>
            <a:off x="640080" y="4572000"/>
            <a:ext cx="1828800" cy="36576"/>
          </a:xfrm>
          <a:prstGeom prst="rect">
            <a:avLst/>
          </a:prstGeom>
          <a:solidFill>
            <a:srgbClr val="00A896"/>
          </a:solidFill>
          <a:ln/>
        </p:spPr>
      </p:sp>
      <p:sp>
        <p:nvSpPr>
          <p:cNvPr id="15" name="Shape 8"/>
          <p:cNvSpPr/>
          <p:nvPr/>
        </p:nvSpPr>
        <p:spPr>
          <a:xfrm>
            <a:off x="0" y="5070348"/>
            <a:ext cx="9144000" cy="73152"/>
          </a:xfrm>
          <a:prstGeom prst="rect">
            <a:avLst/>
          </a:prstGeom>
          <a:solidFill>
            <a:srgbClr val="00A896"/>
          </a:solidFill>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8 - Gemini Enterprise x Cloud Marketplace">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96"/>
          </a:solidFill>
          <a:ln/>
        </p:spPr>
      </p:sp>
      <p:sp>
        <p:nvSpPr>
          <p:cNvPr id="3" name="Text 1"/>
          <p:cNvSpPr/>
          <p:nvPr/>
        </p:nvSpPr>
        <p:spPr>
          <a:xfrm>
            <a:off x="640080" y="274320"/>
            <a:ext cx="8229600" cy="640080"/>
          </a:xfrm>
          <a:prstGeom prst="rect">
            <a:avLst/>
          </a:prstGeom>
          <a:noFill/>
          <a:ln/>
        </p:spPr>
        <p:txBody>
          <a:bodyPr wrap="square" lIns="0" tIns="0" rIns="0" bIns="0" rtlCol="0" anchor="ctr"/>
          <a:lstStyle/>
          <a:p>
            <a:pPr indent="0" marL="0">
              <a:buNone/>
            </a:pPr>
            <a:r>
              <a:rPr lang="en-US" sz="2200" b="1" dirty="0">
                <a:solidFill>
                  <a:srgbClr val="1E2761"/>
                </a:solidFill>
                <a:latin typeface="Georgia" pitchFamily="34" charset="0"/>
                <a:ea typeface="Georgia" pitchFamily="34" charset="-122"/>
                <a:cs typeface="Georgia" pitchFamily="34" charset="-120"/>
              </a:rPr>
              <a:t>Gemini Enterprise × Cloud Marketplace の関係</a:t>
            </a:r>
            <a:endParaRPr lang="en-US" sz="2600" dirty="0"/>
          </a:p>
        </p:txBody>
      </p:sp>
      <p:sp>
        <p:nvSpPr>
          <p:cNvPr id="4" name="Shape 2"/>
          <p:cNvSpPr/>
          <p:nvPr/>
        </p:nvSpPr>
        <p:spPr>
          <a:xfrm>
            <a:off x="640080" y="1051560"/>
            <a:ext cx="7863840" cy="731520"/>
          </a:xfrm>
          <a:prstGeom prst="rect">
            <a:avLst/>
          </a:prstGeom>
          <a:solidFill>
            <a:srgbClr val="065A82"/>
          </a:solidFill>
          <a:ln/>
          <a:effectLst>
            <a:outerShdw sx="100000" sy="100000" kx="0" ky="0" algn="bl" rotWithShape="0" blurRad="76200" dist="25400" dir="8100000">
              <a:srgbClr val="000000">
                <a:alpha val="12000"/>
              </a:srgbClr>
            </a:outerShdw>
          </a:effectLst>
        </p:spPr>
      </p:sp>
      <p:sp>
        <p:nvSpPr>
          <p:cNvPr id="5" name="Text 3"/>
          <p:cNvSpPr/>
          <p:nvPr/>
        </p:nvSpPr>
        <p:spPr>
          <a:xfrm>
            <a:off x="914400" y="1051560"/>
            <a:ext cx="7315200" cy="73152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Cloud MarketplaceのAIエージェントはA2Aプロトコルで通信し、Gemini Enterpriseに統合されてGoogleから一元課金される</a:t>
            </a:r>
            <a:endParaRPr lang="en-US" sz="1300" dirty="0"/>
          </a:p>
        </p:txBody>
      </p:sp>
      <p:sp>
        <p:nvSpPr>
          <p:cNvPr id="6" name="Shape 4"/>
          <p:cNvSpPr/>
          <p:nvPr/>
        </p:nvSpPr>
        <p:spPr>
          <a:xfrm>
            <a:off x="457200" y="1965960"/>
            <a:ext cx="1965960" cy="228600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7" name="Image 0" descr="preencoded.png"/>
          <p:cNvPicPr>
            <a:picLocks noChangeAspect="1"/>
          </p:cNvPicPr>
          <p:nvPr/>
        </p:nvPicPr>
        <p:blipFill>
          <a:blip r:embed="rId1"/>
          <a:stretch>
            <a:fillRect/>
          </a:stretch>
        </p:blipFill>
        <p:spPr>
          <a:xfrm>
            <a:off x="1143000" y="2103120"/>
            <a:ext cx="457200" cy="457200"/>
          </a:xfrm>
          <a:prstGeom prst="rect">
            <a:avLst/>
          </a:prstGeom>
        </p:spPr>
      </p:pic>
      <p:sp>
        <p:nvSpPr>
          <p:cNvPr id="8" name="Text 5"/>
          <p:cNvSpPr/>
          <p:nvPr/>
        </p:nvSpPr>
        <p:spPr>
          <a:xfrm>
            <a:off x="548640" y="2606040"/>
            <a:ext cx="1783080" cy="1554480"/>
          </a:xfrm>
          <a:prstGeom prst="rect">
            <a:avLst/>
          </a:prstGeom>
          <a:noFill/>
          <a:ln/>
        </p:spPr>
        <p:txBody>
          <a:bodyPr wrap="square" lIns="0" tIns="0" rIns="0" bIns="0" rtlCol="0" anchor="t"/>
          <a:lstStyle/>
          <a:p>
            <a:pPr algn="ctr" indent="0" marL="0">
              <a:buNone/>
            </a:pPr>
            <a:r>
              <a:rPr lang="en-US" sz="1200" b="1" dirty="0">
                <a:solidFill>
                  <a:srgbClr val="065A82"/>
                </a:solidFill>
              </a:rPr>
              <a:t>Agent Card</a:t>
            </a:r>
            <a:endParaRPr lang="en-US" sz="1200" dirty="0"/>
          </a:p>
          <a:p>
            <a:pPr algn="ctr" indent="0" marL="0">
              <a:buNone/>
            </a:pPr>
            <a:r>
              <a:rPr lang="en-US" sz="1000" b="1" dirty="0">
                <a:solidFill>
                  <a:srgbClr val="00A896"/>
                </a:solidFill>
              </a:rPr>
              <a:t>(A2A仕様準拠)</a:t>
            </a:r>
            <a:endParaRPr lang="en-US" sz="1200" dirty="0"/>
          </a:p>
          <a:p>
            <a:pPr algn="ctr" indent="0" marL="0">
              <a:buNone/>
            </a:pPr>
            <a:endParaRPr lang="en-US" sz="600" dirty="0"/>
          </a:p>
          <a:p>
            <a:pPr algn="ctr" indent="0" marL="0">
              <a:buNone/>
            </a:pPr>
            <a:r>
              <a:rPr lang="en-US" sz="1000" dirty="0">
                <a:solidFill>
                  <a:srgbClr val="475569"/>
                </a:solidFill>
              </a:rPr>
              <a:t>JSON形式でエージェントの</a:t>
            </a:r>
            <a:endParaRPr lang="en-US" sz="1200" dirty="0"/>
          </a:p>
          <a:p>
            <a:pPr algn="ctr" indent="0" marL="0">
              <a:buNone/>
            </a:pPr>
            <a:r>
              <a:rPr lang="en-US" sz="1000" dirty="0">
                <a:solidFill>
                  <a:srgbClr val="475569"/>
                </a:solidFill>
              </a:rPr>
              <a:t>能力を定義・宣言</a:t>
            </a:r>
            <a:endParaRPr lang="en-US" sz="1200" dirty="0"/>
          </a:p>
          <a:p>
            <a:pPr algn="ctr" indent="0" marL="0">
              <a:buNone/>
            </a:pPr>
            <a:r>
              <a:rPr lang="en-US" sz="1000" dirty="0">
                <a:solidFill>
                  <a:srgbClr val="475569"/>
                </a:solidFill>
              </a:rPr>
              <a:t>自社ホスト+GCS登録</a:t>
            </a:r>
            <a:endParaRPr lang="en-US" sz="1200" dirty="0"/>
          </a:p>
          <a:p>
            <a:pPr algn="ctr" indent="0" marL="0">
              <a:buNone/>
            </a:pPr>
            <a:r>
              <a:rPr lang="en-US" sz="1000" dirty="0">
                <a:solidFill>
                  <a:srgbClr val="475569"/>
                </a:solidFill>
              </a:rPr>
              <a:t>他エージェントとの連携基盤</a:t>
            </a:r>
            <a:endParaRPr lang="en-US" sz="1200" dirty="0"/>
          </a:p>
        </p:txBody>
      </p:sp>
      <p:sp>
        <p:nvSpPr>
          <p:cNvPr id="9" name="Shape 6"/>
          <p:cNvSpPr/>
          <p:nvPr/>
        </p:nvSpPr>
        <p:spPr>
          <a:xfrm>
            <a:off x="2606040" y="1965960"/>
            <a:ext cx="1965960" cy="228600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10" name="Image 1" descr="preencoded.png"/>
          <p:cNvPicPr>
            <a:picLocks noChangeAspect="1"/>
          </p:cNvPicPr>
          <p:nvPr/>
        </p:nvPicPr>
        <p:blipFill>
          <a:blip r:embed="rId2"/>
          <a:stretch>
            <a:fillRect/>
          </a:stretch>
        </p:blipFill>
        <p:spPr>
          <a:xfrm>
            <a:off x="3291840" y="2103120"/>
            <a:ext cx="457200" cy="457200"/>
          </a:xfrm>
          <a:prstGeom prst="rect">
            <a:avLst/>
          </a:prstGeom>
        </p:spPr>
      </p:pic>
      <p:sp>
        <p:nvSpPr>
          <p:cNvPr id="11" name="Text 7"/>
          <p:cNvSpPr/>
          <p:nvPr/>
        </p:nvSpPr>
        <p:spPr>
          <a:xfrm>
            <a:off x="2697480" y="2606040"/>
            <a:ext cx="1783080" cy="1554480"/>
          </a:xfrm>
          <a:prstGeom prst="rect">
            <a:avLst/>
          </a:prstGeom>
          <a:noFill/>
          <a:ln/>
        </p:spPr>
        <p:txBody>
          <a:bodyPr wrap="square" lIns="0" tIns="0" rIns="0" bIns="0" rtlCol="0" anchor="t"/>
          <a:lstStyle/>
          <a:p>
            <a:pPr algn="ctr" indent="0" marL="0">
              <a:buNone/>
            </a:pPr>
            <a:r>
              <a:rPr lang="en-US" sz="1200" b="1" dirty="0">
                <a:solidFill>
                  <a:srgbClr val="065A82"/>
                </a:solidFill>
              </a:rPr>
              <a:t>Gemini Enterprise</a:t>
            </a:r>
            <a:endParaRPr lang="en-US" sz="1200" dirty="0"/>
          </a:p>
          <a:p>
            <a:pPr algn="ctr" indent="0" marL="0">
              <a:buNone/>
            </a:pPr>
            <a:r>
              <a:rPr lang="en-US" sz="1000" b="1" dirty="0">
                <a:solidFill>
                  <a:srgbClr val="00A896"/>
                </a:solidFill>
              </a:rPr>
              <a:t>(統合先)</a:t>
            </a:r>
            <a:endParaRPr lang="en-US" sz="1200" dirty="0"/>
          </a:p>
          <a:p>
            <a:pPr algn="ctr" indent="0" marL="0">
              <a:buNone/>
            </a:pPr>
            <a:endParaRPr lang="en-US" sz="600" dirty="0"/>
          </a:p>
          <a:p>
            <a:pPr algn="ctr" indent="0" marL="0">
              <a:buNone/>
            </a:pPr>
            <a:r>
              <a:rPr lang="en-US" sz="1000" dirty="0">
                <a:solidFill>
                  <a:srgbClr val="475569"/>
                </a:solidFill>
              </a:rPr>
              <a:t>Cloud Console UIから</a:t>
            </a:r>
            <a:endParaRPr lang="en-US" sz="1200" dirty="0"/>
          </a:p>
          <a:p>
            <a:pPr algn="ctr" indent="0" marL="0">
              <a:buNone/>
            </a:pPr>
            <a:r>
              <a:rPr lang="en-US" sz="1000" dirty="0">
                <a:solidFill>
                  <a:srgbClr val="475569"/>
                </a:solidFill>
              </a:rPr>
              <a:t>検索・追加（8ステップ）</a:t>
            </a:r>
            <a:endParaRPr lang="en-US" sz="1200" dirty="0"/>
          </a:p>
          <a:p>
            <a:pPr algn="ctr" indent="0" marL="0">
              <a:buNone/>
            </a:pPr>
            <a:r>
              <a:rPr lang="en-US" sz="1000" dirty="0">
                <a:solidFill>
                  <a:srgbClr val="475569"/>
                </a:solidFill>
              </a:rPr>
              <a:t>Google Cloud上で実行</a:t>
            </a:r>
            <a:endParaRPr lang="en-US" sz="1200" dirty="0"/>
          </a:p>
          <a:p>
            <a:pPr algn="ctr" indent="0" marL="0">
              <a:buNone/>
            </a:pPr>
            <a:r>
              <a:rPr lang="en-US" sz="1000" dirty="0">
                <a:solidFill>
                  <a:srgbClr val="475569"/>
                </a:solidFill>
              </a:rPr>
              <a:t>Googleから一元課金</a:t>
            </a:r>
            <a:endParaRPr lang="en-US" sz="1200" dirty="0"/>
          </a:p>
        </p:txBody>
      </p:sp>
      <p:sp>
        <p:nvSpPr>
          <p:cNvPr id="12" name="Shape 8"/>
          <p:cNvSpPr/>
          <p:nvPr/>
        </p:nvSpPr>
        <p:spPr>
          <a:xfrm>
            <a:off x="4754880" y="1965960"/>
            <a:ext cx="1965960" cy="228600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13" name="Image 2" descr="preencoded.png"/>
          <p:cNvPicPr>
            <a:picLocks noChangeAspect="1"/>
          </p:cNvPicPr>
          <p:nvPr/>
        </p:nvPicPr>
        <p:blipFill>
          <a:blip r:embed="rId3"/>
          <a:stretch>
            <a:fillRect/>
          </a:stretch>
        </p:blipFill>
        <p:spPr>
          <a:xfrm>
            <a:off x="5440680" y="2103120"/>
            <a:ext cx="457200" cy="457200"/>
          </a:xfrm>
          <a:prstGeom prst="rect">
            <a:avLst/>
          </a:prstGeom>
        </p:spPr>
      </p:pic>
      <p:sp>
        <p:nvSpPr>
          <p:cNvPr id="14" name="Text 9"/>
          <p:cNvSpPr/>
          <p:nvPr/>
        </p:nvSpPr>
        <p:spPr>
          <a:xfrm>
            <a:off x="4846320" y="2606040"/>
            <a:ext cx="1783080" cy="1554480"/>
          </a:xfrm>
          <a:prstGeom prst="rect">
            <a:avLst/>
          </a:prstGeom>
          <a:noFill/>
          <a:ln/>
        </p:spPr>
        <p:txBody>
          <a:bodyPr wrap="square" lIns="0" tIns="0" rIns="0" bIns="0" rtlCol="0" anchor="t"/>
          <a:lstStyle/>
          <a:p>
            <a:pPr algn="ctr" indent="0" marL="0">
              <a:buNone/>
            </a:pPr>
            <a:r>
              <a:rPr lang="en-US" sz="1200" b="1" dirty="0">
                <a:solidFill>
                  <a:srgbClr val="065A82"/>
                </a:solidFill>
              </a:rPr>
              <a:t>Marketplace</a:t>
            </a:r>
            <a:endParaRPr lang="en-US" sz="1200" dirty="0"/>
          </a:p>
          <a:p>
            <a:pPr algn="ctr" indent="0" marL="0">
              <a:buNone/>
            </a:pPr>
            <a:r>
              <a:rPr lang="en-US" sz="1000" b="1" dirty="0">
                <a:solidFill>
                  <a:srgbClr val="00A896"/>
                </a:solidFill>
              </a:rPr>
              <a:t>(パートナー登録・公開)</a:t>
            </a:r>
            <a:endParaRPr lang="en-US" sz="1200" dirty="0"/>
          </a:p>
          <a:p>
            <a:pPr algn="ctr" indent="0" marL="0">
              <a:buNone/>
            </a:pPr>
            <a:endParaRPr lang="en-US" sz="600" dirty="0"/>
          </a:p>
          <a:p>
            <a:pPr algn="ctr" indent="0" marL="0">
              <a:buNone/>
            </a:pPr>
            <a:r>
              <a:rPr lang="en-US" sz="1000" dirty="0">
                <a:solidFill>
                  <a:srgbClr val="475569"/>
                </a:solidFill>
              </a:rPr>
              <a:t>Producer Portalで登録</a:t>
            </a:r>
            <a:endParaRPr lang="en-US" sz="1200" dirty="0"/>
          </a:p>
          <a:p>
            <a:pPr algn="ctr" indent="0" marL="0">
              <a:buNone/>
            </a:pPr>
            <a:r>
              <a:rPr lang="en-US" sz="1000" dirty="0">
                <a:solidFill>
                  <a:srgbClr val="475569"/>
                </a:solidFill>
              </a:rPr>
              <a:t>無料/サブスク/従量制</a:t>
            </a:r>
            <a:endParaRPr lang="en-US" sz="1200" dirty="0"/>
          </a:p>
          <a:p>
            <a:pPr algn="ctr" indent="0" marL="0">
              <a:buNone/>
            </a:pPr>
            <a:r>
              <a:rPr lang="en-US" sz="1000" dirty="0">
                <a:solidFill>
                  <a:srgbClr val="475569"/>
                </a:solidFill>
              </a:rPr>
              <a:t>Google認証+審査後に公開</a:t>
            </a:r>
            <a:endParaRPr lang="en-US" sz="1200" dirty="0"/>
          </a:p>
          <a:p>
            <a:pPr algn="ctr" indent="0" marL="0">
              <a:buNone/>
            </a:pPr>
            <a:r>
              <a:rPr lang="en-US" sz="1000" dirty="0">
                <a:solidFill>
                  <a:srgbClr val="475569"/>
                </a:solidFill>
              </a:rPr>
              <a:t>Agent Card登録が必須</a:t>
            </a:r>
            <a:endParaRPr lang="en-US" sz="1200" dirty="0"/>
          </a:p>
        </p:txBody>
      </p:sp>
      <p:sp>
        <p:nvSpPr>
          <p:cNvPr id="15" name="Shape 10"/>
          <p:cNvSpPr/>
          <p:nvPr/>
        </p:nvSpPr>
        <p:spPr>
          <a:xfrm>
            <a:off x="6903720" y="1965960"/>
            <a:ext cx="1965960" cy="228600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16" name="Image 3" descr="preencoded.png"/>
          <p:cNvPicPr>
            <a:picLocks noChangeAspect="1"/>
          </p:cNvPicPr>
          <p:nvPr/>
        </p:nvPicPr>
        <p:blipFill>
          <a:blip r:embed="rId4"/>
          <a:stretch>
            <a:fillRect/>
          </a:stretch>
        </p:blipFill>
        <p:spPr>
          <a:xfrm>
            <a:off x="7589520" y="2103120"/>
            <a:ext cx="457200" cy="457200"/>
          </a:xfrm>
          <a:prstGeom prst="rect">
            <a:avLst/>
          </a:prstGeom>
        </p:spPr>
      </p:pic>
      <p:sp>
        <p:nvSpPr>
          <p:cNvPr id="17" name="Text 11"/>
          <p:cNvSpPr/>
          <p:nvPr/>
        </p:nvSpPr>
        <p:spPr>
          <a:xfrm>
            <a:off x="6995160" y="2606040"/>
            <a:ext cx="1783080" cy="1554480"/>
          </a:xfrm>
          <a:prstGeom prst="rect">
            <a:avLst/>
          </a:prstGeom>
          <a:noFill/>
          <a:ln/>
        </p:spPr>
        <p:txBody>
          <a:bodyPr wrap="square" lIns="0" tIns="0" rIns="0" bIns="0" rtlCol="0" anchor="t"/>
          <a:lstStyle/>
          <a:p>
            <a:pPr algn="ctr" indent="0" marL="0">
              <a:buNone/>
            </a:pPr>
            <a:r>
              <a:rPr lang="en-US" sz="1200" b="1" dirty="0">
                <a:solidFill>
                  <a:srgbClr val="065A82"/>
                </a:solidFill>
              </a:rPr>
              <a:t>A2A通信</a:t>
            </a:r>
            <a:endParaRPr lang="en-US" sz="1200" dirty="0"/>
          </a:p>
          <a:p>
            <a:pPr algn="ctr" indent="0" marL="0">
              <a:buNone/>
            </a:pPr>
            <a:r>
              <a:rPr lang="en-US" sz="1000" b="1" dirty="0">
                <a:solidFill>
                  <a:srgbClr val="00A896"/>
                </a:solidFill>
              </a:rPr>
              <a:t>(エージェント間連携)</a:t>
            </a:r>
            <a:endParaRPr lang="en-US" sz="1200" dirty="0"/>
          </a:p>
          <a:p>
            <a:pPr algn="ctr" indent="0" marL="0">
              <a:buNone/>
            </a:pPr>
            <a:endParaRPr lang="en-US" sz="600" dirty="0"/>
          </a:p>
          <a:p>
            <a:pPr algn="ctr" indent="0" marL="0">
              <a:buNone/>
            </a:pPr>
            <a:r>
              <a:rPr lang="en-US" sz="1000" dirty="0">
                <a:solidFill>
                  <a:srgbClr val="475569"/>
                </a:solidFill>
              </a:rPr>
              <a:t>Agent Cardで能力発見</a:t>
            </a:r>
            <a:endParaRPr lang="en-US" sz="1200" dirty="0"/>
          </a:p>
          <a:p>
            <a:pPr algn="ctr" indent="0" marL="0">
              <a:buNone/>
            </a:pPr>
            <a:r>
              <a:rPr lang="en-US" sz="1000" dirty="0">
                <a:solidFill>
                  <a:srgbClr val="475569"/>
                </a:solidFill>
              </a:rPr>
              <a:t>タスク委譲・協調処理</a:t>
            </a:r>
            <a:endParaRPr lang="en-US" sz="1200" dirty="0"/>
          </a:p>
          <a:p>
            <a:pPr algn="ctr" indent="0" marL="0">
              <a:buNone/>
            </a:pPr>
            <a:r>
              <a:rPr lang="en-US" sz="1000" dirty="0">
                <a:solidFill>
                  <a:srgbClr val="475569"/>
                </a:solidFill>
              </a:rPr>
              <a:t>HTTP/JSON-RPC + gRPC</a:t>
            </a:r>
            <a:endParaRPr lang="en-US" sz="1200" dirty="0"/>
          </a:p>
          <a:p>
            <a:pPr algn="ctr" indent="0" marL="0">
              <a:buNone/>
            </a:pPr>
            <a:r>
              <a:rPr lang="en-US" sz="1000" dirty="0">
                <a:solidFill>
                  <a:srgbClr val="475569"/>
                </a:solidFill>
              </a:rPr>
              <a:t>マルチベンダー相互運用</a:t>
            </a:r>
            <a:endParaRPr lang="en-US" sz="1200" dirty="0"/>
          </a:p>
        </p:txBody>
      </p:sp>
      <p:sp>
        <p:nvSpPr>
          <p:cNvPr id="18" name="Shape 12"/>
          <p:cNvSpPr/>
          <p:nvPr/>
        </p:nvSpPr>
        <p:spPr>
          <a:xfrm>
            <a:off x="640080" y="4389120"/>
            <a:ext cx="7863840" cy="3200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9" name="Text 13"/>
          <p:cNvSpPr/>
          <p:nvPr/>
        </p:nvSpPr>
        <p:spPr>
          <a:xfrm>
            <a:off x="822960" y="4389120"/>
            <a:ext cx="7498080" cy="320040"/>
          </a:xfrm>
          <a:prstGeom prst="rect">
            <a:avLst/>
          </a:prstGeom>
          <a:noFill/>
          <a:ln/>
        </p:spPr>
        <p:txBody>
          <a:bodyPr wrap="square" lIns="0" tIns="0" rIns="0" bIns="0" rtlCol="0" anchor="ctr"/>
          <a:lstStyle/>
          <a:p>
            <a:pPr indent="0" marL="0">
              <a:buNone/>
            </a:pPr>
            <a:r>
              <a:rPr lang="en-US" sz="1100" b="1" dirty="0">
                <a:solidFill>
                  <a:srgbClr val="065A82"/>
                </a:solidFill>
                <a:latin typeface="Calibri" pitchFamily="34" charset="0"/>
                <a:ea typeface="Calibri" pitchFamily="34" charset="-122"/>
                <a:cs typeface="Calibri" pitchFamily="34" charset="-120"/>
              </a:rPr>
              <a:t>Agent CardがA2Aの「名刺」として機能 → Marketplace経由でGemini Enterpriseユーザーにエージェントを公開・課金</a:t>
            </a:r>
            <a:endParaRPr lang="en-US" sz="1100" dirty="0"/>
          </a:p>
        </p:txBody>
      </p:sp>
      <p:sp>
        <p:nvSpPr>
          <p:cNvPr id="20" name="Shape 14"/>
          <p:cNvSpPr/>
          <p:nvPr/>
        </p:nvSpPr>
        <p:spPr>
          <a:xfrm>
            <a:off x="0" y="4754880"/>
            <a:ext cx="9144000" cy="388620"/>
          </a:xfrm>
          <a:prstGeom prst="rect">
            <a:avLst/>
          </a:prstGeom>
          <a:solidFill>
            <a:srgbClr val="1E2761"/>
          </a:solidFill>
          <a:ln/>
        </p:spPr>
      </p:sp>
      <p:sp>
        <p:nvSpPr>
          <p:cNvPr id="21" name="Text 15"/>
          <p:cNvSpPr/>
          <p:nvPr/>
        </p:nvSpPr>
        <p:spPr>
          <a:xfrm>
            <a:off x="457200" y="4754880"/>
            <a:ext cx="8229600" cy="38862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出典: Google Cloud Marketplace Partners Documentation (cloud.google.com/marketplace/docs/partners/ai-agents)</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96"/>
          </a:solidFill>
          <a:ln/>
        </p:spPr>
      </p:sp>
      <p:sp>
        <p:nvSpPr>
          <p:cNvPr id="3" name="Text 1"/>
          <p:cNvSpPr/>
          <p:nvPr/>
        </p:nvSpPr>
        <p:spPr>
          <a:xfrm>
            <a:off x="640080" y="274320"/>
            <a:ext cx="7315200" cy="640080"/>
          </a:xfrm>
          <a:prstGeom prst="rect">
            <a:avLst/>
          </a:prstGeom>
          <a:noFill/>
          <a:ln/>
        </p:spPr>
        <p:txBody>
          <a:bodyPr wrap="square" lIns="0" tIns="0" rIns="0" bIns="0" rtlCol="0" anchor="ctr"/>
          <a:lstStyle/>
          <a:p>
            <a:pPr indent="0" marL="0">
              <a:buNone/>
            </a:pPr>
            <a:r>
              <a:rPr lang="en-US" sz="2200" b="1" dirty="0">
                <a:solidFill>
                  <a:srgbClr val="1E2761"/>
                </a:solidFill>
                <a:latin typeface="Georgia" pitchFamily="34" charset="0"/>
                <a:ea typeface="Georgia" pitchFamily="34" charset="-122"/>
                <a:cs typeface="Georgia" pitchFamily="34" charset="-120"/>
              </a:rPr>
              <a:t>パートナー公開フロー（Producer Portal）</a:t>
            </a:r>
            <a:endParaRPr lang="en-US" sz="2200" dirty="0"/>
          </a:p>
        </p:txBody>
      </p:sp>
      <p:sp>
        <p:nvSpPr>
          <p:cNvPr id="4" name="Shape 2"/>
          <p:cNvSpPr/>
          <p:nvPr/>
        </p:nvSpPr>
        <p:spPr>
          <a:xfrm>
            <a:off x="640080" y="1097280"/>
            <a:ext cx="4754880" cy="35661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5" name="Text 3"/>
          <p:cNvSpPr/>
          <p:nvPr/>
        </p:nvSpPr>
        <p:spPr>
          <a:xfrm>
            <a:off x="914400" y="1188720"/>
            <a:ext cx="4206240" cy="3383280"/>
          </a:xfrm>
          <a:prstGeom prst="rect">
            <a:avLst/>
          </a:prstGeom>
          <a:noFill/>
          <a:ln/>
        </p:spPr>
        <p:txBody>
          <a:bodyPr wrap="square" lIns="0" tIns="0" rIns="0" bIns="0" rtlCol="0" anchor="t"/>
          <a:lstStyle/>
          <a:p>
            <a:pPr indent="0" marL="0">
              <a:buNone/>
            </a:pPr>
            <a:r>
              <a:rPr lang="en-US" sz="1300" b="1" dirty="0">
                <a:solidFill>
                  <a:srgbClr val="065A82"/>
                </a:solidFill>
              </a:rPr>
              <a:t>AIエージェントをMarketplaceに公開するまでの7フェーズ</a:t>
            </a:r>
            <a:endParaRPr lang="en-US" sz="1300" dirty="0"/>
          </a:p>
          <a:p>
            <a:pPr indent="0" marL="0">
              <a:buNone/>
            </a:pPr>
            <a:endParaRPr lang="en-US" sz="1300" dirty="0"/>
          </a:p>
          <a:p>
            <a:pPr indent="0" marL="0">
              <a:buNone/>
            </a:pPr>
            <a:r>
              <a:rPr lang="en-US" sz="1200" b="1" dirty="0">
                <a:solidFill>
                  <a:srgbClr val="065A82"/>
                </a:solidFill>
              </a:rPr>
              <a:t>Phase 1-2: 準備・登録</a:t>
            </a:r>
            <a:endParaRPr lang="en-US" sz="1300" dirty="0"/>
          </a:p>
          <a:p>
            <a:pPr indent="0" marL="0">
              <a:buNone/>
            </a:pPr>
            <a:r>
              <a:rPr lang="en-US" sz="1300" dirty="0">
                <a:solidFill>
                  <a:srgbClr val="1E293B"/>
                </a:solidFill>
              </a:rPr>
              <a:t>ベンダー登録 → Producer Portalアクセス取得 → AIエージェント（サービス）としてプロダクト作成</a:t>
            </a:r>
            <a:endParaRPr lang="en-US" sz="1300" dirty="0"/>
          </a:p>
          <a:p>
            <a:pPr indent="0" marL="0">
              <a:buNone/>
            </a:pPr>
            <a:endParaRPr lang="en-US" sz="1300" dirty="0"/>
          </a:p>
          <a:p>
            <a:pPr indent="0" marL="0">
              <a:buNone/>
            </a:pPr>
            <a:r>
              <a:rPr lang="en-US" sz="1200" b="1" dirty="0">
                <a:solidFill>
                  <a:srgbClr val="065A82"/>
                </a:solidFill>
              </a:rPr>
              <a:t>Phase 3-4: 詳細・料金</a:t>
            </a:r>
            <a:endParaRPr lang="en-US" sz="1300" dirty="0"/>
          </a:p>
          <a:p>
            <a:pPr indent="0" marL="0">
              <a:buNone/>
            </a:pPr>
            <a:r>
              <a:rPr lang="en-US" sz="1300" dirty="0">
                <a:solidFill>
                  <a:srgbClr val="1E293B"/>
                </a:solidFill>
              </a:rPr>
              <a:t>プロダクト詳細を入力 → 料金モデル選択（無料/サブスク/従量制/併用） → 審査（最大4営業日）</a:t>
            </a:r>
            <a:endParaRPr lang="en-US" sz="1300" dirty="0"/>
          </a:p>
          <a:p>
            <a:pPr indent="0" marL="0">
              <a:buNone/>
            </a:pPr>
            <a:endParaRPr lang="en-US" sz="1300" dirty="0"/>
          </a:p>
          <a:p>
            <a:pPr indent="0" marL="0">
              <a:buNone/>
            </a:pPr>
            <a:r>
              <a:rPr lang="en-US" sz="1200" b="1" dirty="0">
                <a:solidFill>
                  <a:srgbClr val="065A82"/>
                </a:solidFill>
              </a:rPr>
              <a:t>Phase 5-6: Agent Card・技術統合</a:t>
            </a:r>
            <a:endParaRPr lang="en-US" sz="1300" dirty="0"/>
          </a:p>
          <a:p>
            <a:pPr indent="0" marL="0">
              <a:buNone/>
            </a:pPr>
            <a:r>
              <a:rPr lang="en-US" sz="1300" dirty="0">
                <a:solidFill>
                  <a:srgbClr val="1E293B"/>
                </a:solidFill>
              </a:rPr>
              <a:t>Agent CardをGCSに登録 → Pub/Sub（契約イベント通知）・Procurement API（課金連携）統合</a:t>
            </a:r>
            <a:endParaRPr lang="en-US" sz="1300" dirty="0"/>
          </a:p>
          <a:p>
            <a:pPr indent="0" marL="0">
              <a:buNone/>
            </a:pPr>
            <a:endParaRPr lang="en-US" sz="1300" dirty="0"/>
          </a:p>
          <a:p>
            <a:pPr indent="0" marL="0">
              <a:buNone/>
            </a:pPr>
            <a:r>
              <a:rPr lang="en-US" sz="1200" b="1" dirty="0">
                <a:solidFill>
                  <a:srgbClr val="065A82"/>
                </a:solidFill>
              </a:rPr>
              <a:t>Phase 7: 公開</a:t>
            </a:r>
            <a:endParaRPr lang="en-US" sz="1300" dirty="0"/>
          </a:p>
          <a:p>
            <a:pPr indent="0" marL="0">
              <a:buNone/>
            </a:pPr>
            <a:r>
              <a:rPr lang="en-US" sz="1300" dirty="0">
                <a:solidFill>
                  <a:srgbClr val="1E293B"/>
                </a:solidFill>
              </a:rPr>
              <a:t>審査送付 → 承認後に公開（最大2日） → Marketplaceで一般公開</a:t>
            </a:r>
            <a:endParaRPr lang="en-US" sz="1300" dirty="0"/>
          </a:p>
        </p:txBody>
      </p:sp>
      <p:sp>
        <p:nvSpPr>
          <p:cNvPr id="6" name="Shape 4"/>
          <p:cNvSpPr/>
          <p:nvPr/>
        </p:nvSpPr>
        <p:spPr>
          <a:xfrm>
            <a:off x="5760720" y="1188720"/>
            <a:ext cx="2926080" cy="96012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7" name="Image 0" descr="preencoded.png"/>
          <p:cNvPicPr>
            <a:picLocks noChangeAspect="1"/>
          </p:cNvPicPr>
          <p:nvPr/>
        </p:nvPicPr>
        <p:blipFill>
          <a:blip r:embed="rId1"/>
          <a:stretch>
            <a:fillRect/>
          </a:stretch>
        </p:blipFill>
        <p:spPr>
          <a:xfrm>
            <a:off x="5989320" y="1371600"/>
            <a:ext cx="502920" cy="502920"/>
          </a:xfrm>
          <a:prstGeom prst="rect">
            <a:avLst/>
          </a:prstGeom>
        </p:spPr>
      </p:pic>
      <p:sp>
        <p:nvSpPr>
          <p:cNvPr id="8" name="Text 5"/>
          <p:cNvSpPr/>
          <p:nvPr/>
        </p:nvSpPr>
        <p:spPr>
          <a:xfrm>
            <a:off x="6675120" y="1188720"/>
            <a:ext cx="1828800" cy="96012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Producer Portal</a:t>
            </a:r>
            <a:endParaRPr lang="en-US" sz="1300" dirty="0"/>
          </a:p>
        </p:txBody>
      </p:sp>
      <p:sp>
        <p:nvSpPr>
          <p:cNvPr id="9" name="Shape 6"/>
          <p:cNvSpPr/>
          <p:nvPr/>
        </p:nvSpPr>
        <p:spPr>
          <a:xfrm>
            <a:off x="5760720" y="2331720"/>
            <a:ext cx="2926080" cy="96012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10" name="Image 1" descr="preencoded.png"/>
          <p:cNvPicPr>
            <a:picLocks noChangeAspect="1"/>
          </p:cNvPicPr>
          <p:nvPr/>
        </p:nvPicPr>
        <p:blipFill>
          <a:blip r:embed="rId2"/>
          <a:stretch>
            <a:fillRect/>
          </a:stretch>
        </p:blipFill>
        <p:spPr>
          <a:xfrm>
            <a:off x="5989320" y="2514600"/>
            <a:ext cx="502920" cy="502920"/>
          </a:xfrm>
          <a:prstGeom prst="rect">
            <a:avLst/>
          </a:prstGeom>
        </p:spPr>
      </p:pic>
      <p:sp>
        <p:nvSpPr>
          <p:cNvPr id="11" name="Text 7"/>
          <p:cNvSpPr/>
          <p:nvPr/>
        </p:nvSpPr>
        <p:spPr>
          <a:xfrm>
            <a:off x="6675120" y="2331720"/>
            <a:ext cx="1828800" cy="96012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4つの料金モデル</a:t>
            </a:r>
            <a:endParaRPr lang="en-US" sz="1300" dirty="0"/>
          </a:p>
        </p:txBody>
      </p:sp>
      <p:sp>
        <p:nvSpPr>
          <p:cNvPr id="12" name="Shape 8"/>
          <p:cNvSpPr/>
          <p:nvPr/>
        </p:nvSpPr>
        <p:spPr>
          <a:xfrm>
            <a:off x="5760720" y="3474720"/>
            <a:ext cx="2926080" cy="96012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13" name="Image 2" descr="preencoded.png"/>
          <p:cNvPicPr>
            <a:picLocks noChangeAspect="1"/>
          </p:cNvPicPr>
          <p:nvPr/>
        </p:nvPicPr>
        <p:blipFill>
          <a:blip r:embed="rId3"/>
          <a:stretch>
            <a:fillRect/>
          </a:stretch>
        </p:blipFill>
        <p:spPr>
          <a:xfrm>
            <a:off x="5989320" y="3657600"/>
            <a:ext cx="502920" cy="502920"/>
          </a:xfrm>
          <a:prstGeom prst="rect">
            <a:avLst/>
          </a:prstGeom>
        </p:spPr>
      </p:pic>
      <p:sp>
        <p:nvSpPr>
          <p:cNvPr id="14" name="Text 9"/>
          <p:cNvSpPr/>
          <p:nvPr/>
        </p:nvSpPr>
        <p:spPr>
          <a:xfrm>
            <a:off x="6675120" y="3474720"/>
            <a:ext cx="1828800" cy="96012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Agent Card (JSON)</a:t>
            </a:r>
            <a:endParaRPr lang="en-US" sz="1300" dirty="0"/>
          </a:p>
        </p:txBody>
      </p:sp>
      <p:sp>
        <p:nvSpPr>
          <p:cNvPr id="15" name="Shape 10"/>
          <p:cNvSpPr/>
          <p:nvPr/>
        </p:nvSpPr>
        <p:spPr>
          <a:xfrm>
            <a:off x="0" y="4754880"/>
            <a:ext cx="9144000" cy="388620"/>
          </a:xfrm>
          <a:prstGeom prst="rect">
            <a:avLst/>
          </a:prstGeom>
          <a:solidFill>
            <a:srgbClr val="1E2761"/>
          </a:solidFill>
          <a:ln/>
        </p:spPr>
      </p:sp>
      <p:sp>
        <p:nvSpPr>
          <p:cNvPr id="16" name="Text 11"/>
          <p:cNvSpPr/>
          <p:nvPr/>
        </p:nvSpPr>
        <p:spPr>
          <a:xfrm>
            <a:off x="457200" y="4754880"/>
            <a:ext cx="8229600" cy="38862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出典: docs.cloud.google.com/marketplace/docs/partners/ai-agents</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96"/>
          </a:solidFill>
          <a:ln/>
        </p:spPr>
      </p:sp>
      <p:sp>
        <p:nvSpPr>
          <p:cNvPr id="3" name="Text 1"/>
          <p:cNvSpPr/>
          <p:nvPr/>
        </p:nvSpPr>
        <p:spPr>
          <a:xfrm>
            <a:off x="640080" y="274320"/>
            <a:ext cx="7315200" cy="640080"/>
          </a:xfrm>
          <a:prstGeom prst="rect">
            <a:avLst/>
          </a:prstGeom>
          <a:noFill/>
          <a:ln/>
        </p:spPr>
        <p:txBody>
          <a:bodyPr wrap="square" lIns="0" tIns="0" rIns="0" bIns="0"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顧客のエージェント利用フロー</a:t>
            </a:r>
            <a:endParaRPr lang="en-US" sz="3000" dirty="0"/>
          </a:p>
        </p:txBody>
      </p:sp>
      <p:sp>
        <p:nvSpPr>
          <p:cNvPr id="4" name="Shape 2"/>
          <p:cNvSpPr/>
          <p:nvPr/>
        </p:nvSpPr>
        <p:spPr>
          <a:xfrm>
            <a:off x="640080" y="1188720"/>
            <a:ext cx="4754880" cy="32918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5" name="Text 3"/>
          <p:cNvSpPr/>
          <p:nvPr/>
        </p:nvSpPr>
        <p:spPr>
          <a:xfrm>
            <a:off x="914400" y="1371600"/>
            <a:ext cx="4206240" cy="2926080"/>
          </a:xfrm>
          <a:prstGeom prst="rect">
            <a:avLst/>
          </a:prstGeom>
          <a:noFill/>
          <a:ln/>
        </p:spPr>
        <p:txBody>
          <a:bodyPr wrap="square" lIns="0" tIns="0" rIns="0" bIns="0" rtlCol="0" anchor="t"/>
          <a:lstStyle/>
          <a:p>
            <a:pPr indent="0" marL="0">
              <a:buNone/>
            </a:pPr>
            <a:r>
              <a:rPr lang="en-US" sz="1600" b="1" dirty="0">
                <a:solidFill>
                  <a:srgbClr val="065A82"/>
                </a:solidFill>
              </a:rPr>
              <a:t>Gemini Enterpriseへの追加から利用開始までの流れ</a:t>
            </a:r>
            <a:endParaRPr lang="en-US" sz="1600" dirty="0"/>
          </a:p>
          <a:p>
            <a:pPr indent="0" marL="0">
              <a:buNone/>
            </a:pPr>
            <a:endParaRPr lang="en-US" sz="1600" dirty="0"/>
          </a:p>
          <a:p>
            <a:pPr indent="0" marL="0">
              <a:buNone/>
            </a:pPr>
            <a:r>
              <a:rPr lang="en-US" sz="1400" b="1" dirty="0">
                <a:solidFill>
                  <a:srgbClr val="065A82"/>
                </a:solidFill>
              </a:rPr>
              <a:t>Step 1: 検索・発見</a:t>
            </a:r>
            <a:endParaRPr lang="en-US" sz="1600" dirty="0"/>
          </a:p>
          <a:p>
            <a:pPr indent="0" marL="0">
              <a:buNone/>
            </a:pPr>
            <a:r>
              <a:rPr lang="en-US" sz="1300" dirty="0">
                <a:solidFill>
                  <a:srgbClr val="1E293B"/>
                </a:solidFill>
              </a:rPr>
              <a:t>Cloud Marketplaceの「AIエージェント」カテゴリからエージェントを検索。Agent Cardで能力を確認</a:t>
            </a:r>
            <a:endParaRPr lang="en-US" sz="1600" dirty="0"/>
          </a:p>
          <a:p>
            <a:pPr indent="0" marL="0">
              <a:buNone/>
            </a:pPr>
            <a:endParaRPr lang="en-US" sz="1600" dirty="0"/>
          </a:p>
          <a:p>
            <a:pPr indent="0" marL="0">
              <a:buNone/>
            </a:pPr>
            <a:r>
              <a:rPr lang="en-US" sz="1400" b="1" dirty="0">
                <a:solidFill>
                  <a:srgbClr val="065A82"/>
                </a:solidFill>
              </a:rPr>
              <a:t>Step 2: 追加（8ステップUI）</a:t>
            </a:r>
            <a:endParaRPr lang="en-US" sz="1600" dirty="0"/>
          </a:p>
          <a:p>
            <a:pPr indent="0" marL="0">
              <a:buNone/>
            </a:pPr>
            <a:r>
              <a:rPr lang="en-US" sz="1300" dirty="0">
                <a:solidFill>
                  <a:srgbClr val="1E293B"/>
                </a:solidFill>
              </a:rPr>
              <a:t>Cloud Console内で「Agents via Marketplace」→ 検索・選択 → ベンダー側の認証情報（APIキー等）を入力 → 完了</a:t>
            </a:r>
            <a:endParaRPr lang="en-US" sz="1600" dirty="0"/>
          </a:p>
          <a:p>
            <a:pPr indent="0" marL="0">
              <a:buNone/>
            </a:pPr>
            <a:endParaRPr lang="en-US" sz="1600" dirty="0"/>
          </a:p>
          <a:p>
            <a:pPr indent="0" marL="0">
              <a:buNone/>
            </a:pPr>
            <a:r>
              <a:rPr lang="en-US" sz="1400" b="1" dirty="0">
                <a:solidFill>
                  <a:srgbClr val="065A82"/>
                </a:solidFill>
              </a:rPr>
              <a:t>Step 3: 利用開始</a:t>
            </a:r>
            <a:endParaRPr lang="en-US" sz="1600" dirty="0"/>
          </a:p>
          <a:p>
            <a:pPr indent="0" marL="0">
              <a:buNone/>
            </a:pPr>
            <a:r>
              <a:rPr lang="en-US" sz="1300" dirty="0">
                <a:solidFill>
                  <a:srgbClr val="1E293B"/>
                </a:solidFill>
              </a:rPr>
              <a:t>Gemini Enterprise上でエージェントと対話。A2Aプロトコルで他エージェントとも連携</a:t>
            </a:r>
            <a:endParaRPr lang="en-US" sz="1600" dirty="0"/>
          </a:p>
          <a:p>
            <a:pPr indent="0" marL="0">
              <a:buNone/>
            </a:pPr>
            <a:endParaRPr lang="en-US" sz="1600" dirty="0"/>
          </a:p>
          <a:p>
            <a:pPr indent="0" marL="0">
              <a:buNone/>
            </a:pPr>
            <a:r>
              <a:rPr lang="en-US" sz="1400" b="1" dirty="0">
                <a:solidFill>
                  <a:srgbClr val="065A82"/>
                </a:solidFill>
              </a:rPr>
              <a:t>課金</a:t>
            </a:r>
            <a:endParaRPr lang="en-US" sz="1600" dirty="0"/>
          </a:p>
          <a:p>
            <a:pPr indent="0" marL="0">
              <a:buNone/>
            </a:pPr>
            <a:r>
              <a:rPr lang="en-US" sz="1300" dirty="0">
                <a:solidFill>
                  <a:srgbClr val="1E293B"/>
                </a:solidFill>
              </a:rPr>
              <a:t>Googleから一元請求。パートナー料金（サブスク/従量制）+ Google Cloudリソース料金</a:t>
            </a:r>
            <a:endParaRPr lang="en-US" sz="1600" dirty="0"/>
          </a:p>
        </p:txBody>
      </p:sp>
      <p:sp>
        <p:nvSpPr>
          <p:cNvPr id="6" name="Shape 4"/>
          <p:cNvSpPr/>
          <p:nvPr/>
        </p:nvSpPr>
        <p:spPr>
          <a:xfrm>
            <a:off x="5760720" y="1188720"/>
            <a:ext cx="2926080" cy="96012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7" name="Image 0" descr="preencoded.png"/>
          <p:cNvPicPr>
            <a:picLocks noChangeAspect="1"/>
          </p:cNvPicPr>
          <p:nvPr/>
        </p:nvPicPr>
        <p:blipFill>
          <a:blip r:embed="rId1"/>
          <a:stretch>
            <a:fillRect/>
          </a:stretch>
        </p:blipFill>
        <p:spPr>
          <a:xfrm>
            <a:off x="5989320" y="1371600"/>
            <a:ext cx="502920" cy="502920"/>
          </a:xfrm>
          <a:prstGeom prst="rect">
            <a:avLst/>
          </a:prstGeom>
        </p:spPr>
      </p:pic>
      <p:sp>
        <p:nvSpPr>
          <p:cNvPr id="8" name="Text 5"/>
          <p:cNvSpPr/>
          <p:nvPr/>
        </p:nvSpPr>
        <p:spPr>
          <a:xfrm>
            <a:off x="6675120" y="1188720"/>
            <a:ext cx="1828800" cy="96012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Cloud Console UI</a:t>
            </a:r>
            <a:endParaRPr lang="en-US" sz="1300" dirty="0"/>
          </a:p>
        </p:txBody>
      </p:sp>
      <p:sp>
        <p:nvSpPr>
          <p:cNvPr id="9" name="Shape 6"/>
          <p:cNvSpPr/>
          <p:nvPr/>
        </p:nvSpPr>
        <p:spPr>
          <a:xfrm>
            <a:off x="5760720" y="2331720"/>
            <a:ext cx="2926080" cy="96012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10" name="Image 1" descr="preencoded.png"/>
          <p:cNvPicPr>
            <a:picLocks noChangeAspect="1"/>
          </p:cNvPicPr>
          <p:nvPr/>
        </p:nvPicPr>
        <p:blipFill>
          <a:blip r:embed="rId2"/>
          <a:stretch>
            <a:fillRect/>
          </a:stretch>
        </p:blipFill>
        <p:spPr>
          <a:xfrm>
            <a:off x="5989320" y="2514600"/>
            <a:ext cx="502920" cy="502920"/>
          </a:xfrm>
          <a:prstGeom prst="rect">
            <a:avLst/>
          </a:prstGeom>
        </p:spPr>
      </p:pic>
      <p:sp>
        <p:nvSpPr>
          <p:cNvPr id="11" name="Text 7"/>
          <p:cNvSpPr/>
          <p:nvPr/>
        </p:nvSpPr>
        <p:spPr>
          <a:xfrm>
            <a:off x="6675120" y="2331720"/>
            <a:ext cx="1828800" cy="96012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A2Aで相互連携</a:t>
            </a:r>
            <a:endParaRPr lang="en-US" sz="1300" dirty="0"/>
          </a:p>
        </p:txBody>
      </p:sp>
      <p:sp>
        <p:nvSpPr>
          <p:cNvPr id="12" name="Shape 8"/>
          <p:cNvSpPr/>
          <p:nvPr/>
        </p:nvSpPr>
        <p:spPr>
          <a:xfrm>
            <a:off x="5760720" y="3474720"/>
            <a:ext cx="2926080" cy="96012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13" name="Image 2" descr="preencoded.png"/>
          <p:cNvPicPr>
            <a:picLocks noChangeAspect="1"/>
          </p:cNvPicPr>
          <p:nvPr/>
        </p:nvPicPr>
        <p:blipFill>
          <a:blip r:embed="rId3"/>
          <a:stretch>
            <a:fillRect/>
          </a:stretch>
        </p:blipFill>
        <p:spPr>
          <a:xfrm>
            <a:off x="5989320" y="3657600"/>
            <a:ext cx="502920" cy="502920"/>
          </a:xfrm>
          <a:prstGeom prst="rect">
            <a:avLst/>
          </a:prstGeom>
        </p:spPr>
      </p:pic>
      <p:sp>
        <p:nvSpPr>
          <p:cNvPr id="14" name="Text 9"/>
          <p:cNvSpPr/>
          <p:nvPr/>
        </p:nvSpPr>
        <p:spPr>
          <a:xfrm>
            <a:off x="6675120" y="3474720"/>
            <a:ext cx="1828800" cy="96012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Google一元課金</a:t>
            </a:r>
            <a:endParaRPr lang="en-US" sz="1300" dirty="0"/>
          </a:p>
        </p:txBody>
      </p:sp>
      <p:sp>
        <p:nvSpPr>
          <p:cNvPr id="15" name="Shape 10"/>
          <p:cNvSpPr/>
          <p:nvPr/>
        </p:nvSpPr>
        <p:spPr>
          <a:xfrm>
            <a:off x="0" y="4754880"/>
            <a:ext cx="9144000" cy="388620"/>
          </a:xfrm>
          <a:prstGeom prst="rect">
            <a:avLst/>
          </a:prstGeom>
          <a:solidFill>
            <a:srgbClr val="1E2761"/>
          </a:solidFill>
          <a:ln/>
        </p:spPr>
      </p:sp>
      <p:sp>
        <p:nvSpPr>
          <p:cNvPr id="16" name="Text 11"/>
          <p:cNvSpPr/>
          <p:nvPr/>
        </p:nvSpPr>
        <p:spPr>
          <a:xfrm>
            <a:off x="457200" y="4754880"/>
            <a:ext cx="8229600" cy="38862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出典: docs.cloud.google.com/gemini/enterprise/docs/register-and-manage-marketplace-agents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A2Aプロトコル最新動向 2025-2026</dc:title>
  <dc:subject>PptxGenJS Presentation</dc:subject>
  <dc:creator>Naoya Yasuda</dc:creator>
  <cp:lastModifiedBy>Naoya Yasuda</cp:lastModifiedBy>
  <cp:revision>1</cp:revision>
  <dcterms:created xsi:type="dcterms:W3CDTF">2026-02-28T11:47:15Z</dcterms:created>
  <dcterms:modified xsi:type="dcterms:W3CDTF">2026-02-28T11:47:15Z</dcterms:modified>
</cp:coreProperties>
</file>